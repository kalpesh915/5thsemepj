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262" r:id="rId13"/>
    <p:sldId id="26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664" y="-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Chapter-2: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annotation..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…………….………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Example…………....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……………………….….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	8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200"/>
            </a:pPr>
            <a:r>
              <a:rPr lang="en-US" sz="2400" dirty="0" smtClean="0"/>
              <a:t>Whenever an </a:t>
            </a:r>
            <a:r>
              <a:rPr lang="en-US" sz="2400" dirty="0" err="1" smtClean="0"/>
              <a:t>HttpRequest</a:t>
            </a:r>
            <a:r>
              <a:rPr lang="en-US" sz="2400" dirty="0" smtClean="0"/>
              <a:t> comes from the client browser,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container will map the request to the corresponding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based on the URL mappings provided in the deployment descriptor file – web.xml. 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200"/>
            </a:pPr>
            <a:r>
              <a:rPr lang="en-US" sz="2400" b="1" dirty="0" smtClean="0"/>
              <a:t>For example:</a:t>
            </a:r>
            <a:r>
              <a:rPr lang="en-US" sz="2400" dirty="0" smtClean="0"/>
              <a:t> Consider the below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mappings in the web.xml file.</a:t>
            </a:r>
          </a:p>
          <a:p>
            <a:pPr lvl="0" algn="just">
              <a:buSzPts val="2200"/>
            </a:pPr>
            <a:endParaRPr lang="en-US" sz="24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-name&gt;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HelloServlet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-name&gt;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-class&gt;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HelloServlet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</a:p>
          <a:p>
            <a:pPr lvl="0" algn="just">
              <a:buSzPts val="2200"/>
            </a:pPr>
            <a:endParaRPr lang="en-US" sz="1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-mapping&gt;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-name&gt;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HelloServlet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-name&gt;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-pattern&gt;/hello&lt;/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-pattern&gt; </a:t>
            </a:r>
          </a:p>
          <a:p>
            <a:pPr lvl="0" algn="just">
              <a:buSzPts val="2200"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US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-mapping&gt;</a:t>
            </a:r>
          </a:p>
          <a:p>
            <a:pPr lvl="0" algn="just">
              <a:buSzPts val="22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200"/>
            </a:pPr>
            <a:r>
              <a:rPr lang="en-US" sz="2400" dirty="0" smtClean="0"/>
              <a:t>Here, whenever there is a “</a:t>
            </a:r>
            <a:r>
              <a:rPr lang="en-US" sz="2400" b="1" dirty="0" smtClean="0"/>
              <a:t>/hello</a:t>
            </a:r>
            <a:r>
              <a:rPr lang="en-US" sz="2400" dirty="0" smtClean="0"/>
              <a:t>” URL coming from the client request, we are mapping it to the “</a:t>
            </a:r>
            <a:r>
              <a:rPr lang="en-US" sz="2400" b="1" dirty="0" err="1" smtClean="0"/>
              <a:t>HelloServlet</a:t>
            </a:r>
            <a:r>
              <a:rPr lang="en-US" sz="2400" dirty="0" smtClean="0"/>
              <a:t>” class. </a:t>
            </a:r>
          </a:p>
          <a:p>
            <a:pPr lvl="0" algn="just">
              <a:buSzPts val="2200"/>
            </a:pPr>
            <a:endParaRPr lang="en-US" sz="2400" dirty="0" smtClean="0"/>
          </a:p>
          <a:p>
            <a:pPr lvl="0" algn="just">
              <a:buSzPts val="2200"/>
            </a:pPr>
            <a:r>
              <a:rPr lang="en-US" sz="2400" dirty="0" smtClean="0"/>
              <a:t>Instead of providing these mappings in the </a:t>
            </a:r>
            <a:r>
              <a:rPr lang="en-US" sz="2400" b="1" dirty="0" smtClean="0"/>
              <a:t>web.xml</a:t>
            </a:r>
            <a:r>
              <a:rPr lang="en-US" sz="2400" dirty="0" smtClean="0"/>
              <a:t> file, we can simply provide an annotation in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as below,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200"/>
            </a:pPr>
            <a:r>
              <a:rPr lang="en-US" sz="2400" dirty="0" smtClean="0"/>
              <a:t>@</a:t>
            </a:r>
            <a:r>
              <a:rPr lang="en-US" sz="2400" dirty="0" err="1" smtClean="0"/>
              <a:t>WebServlet</a:t>
            </a:r>
            <a:r>
              <a:rPr lang="en-US" sz="2400" dirty="0" smtClean="0"/>
              <a:t>("/hello") </a:t>
            </a:r>
          </a:p>
          <a:p>
            <a:pPr lvl="0" algn="just">
              <a:buSzPts val="2200"/>
            </a:pPr>
            <a:r>
              <a:rPr lang="en-US" sz="2400" dirty="0" smtClean="0"/>
              <a:t>public class </a:t>
            </a:r>
            <a:r>
              <a:rPr lang="en-US" sz="2400" dirty="0" err="1" smtClean="0"/>
              <a:t>HelloServlet</a:t>
            </a:r>
            <a:r>
              <a:rPr lang="en-US" sz="2400" dirty="0" smtClean="0"/>
              <a:t> extends </a:t>
            </a:r>
            <a:r>
              <a:rPr lang="en-US" sz="2400" dirty="0" err="1" smtClean="0"/>
              <a:t>HttpServlet</a:t>
            </a:r>
            <a:r>
              <a:rPr lang="en-US" sz="2400" dirty="0" smtClean="0"/>
              <a:t> { </a:t>
            </a:r>
          </a:p>
          <a:p>
            <a:pPr lvl="0" algn="just">
              <a:buSzPts val="2200"/>
            </a:pPr>
            <a:r>
              <a:rPr lang="en-US" sz="2400" dirty="0" smtClean="0"/>
              <a:t>	// Code to be executed... </a:t>
            </a:r>
          </a:p>
          <a:p>
            <a:pPr lvl="0" algn="just">
              <a:buSzPts val="2200"/>
            </a:pPr>
            <a:r>
              <a:rPr lang="en-US" sz="2400" dirty="0" smtClean="0"/>
              <a:t>}</a:t>
            </a:r>
          </a:p>
          <a:p>
            <a:pPr lvl="0" algn="just">
              <a:buSzPts val="2200"/>
            </a:pPr>
            <a:endParaRPr lang="en-US" sz="2400" dirty="0" smtClean="0"/>
          </a:p>
          <a:p>
            <a:pPr lvl="0" algn="just">
              <a:buSzPts val="2200"/>
            </a:pPr>
            <a:r>
              <a:rPr lang="en-US" sz="2400" dirty="0" smtClean="0"/>
              <a:t>Java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 provides a number of annotations to allow users to declare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, filters, listeners in the </a:t>
            </a:r>
            <a:r>
              <a:rPr lang="en-US" sz="2400" b="1" dirty="0" err="1" smtClean="0"/>
              <a:t>javax.servlet.annotation</a:t>
            </a:r>
            <a:r>
              <a:rPr lang="en-US" sz="2400" dirty="0" smtClean="0"/>
              <a:t> package. </a:t>
            </a:r>
          </a:p>
          <a:p>
            <a:pPr lvl="0" algn="just">
              <a:buSzPts val="2200"/>
            </a:pPr>
            <a:r>
              <a:rPr lang="en-US" sz="2400" dirty="0" smtClean="0"/>
              <a:t>It also provides annotations to specify metadata for the components that are declared.</a:t>
            </a:r>
          </a:p>
          <a:p>
            <a:pPr lvl="0" algn="just">
              <a:buSzPts val="2200"/>
            </a:pPr>
            <a:endParaRPr lang="en-US" sz="2400" dirty="0" smtClean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Annotation Type </a:t>
            </a:r>
            <a:r>
              <a:rPr lang="en-US" sz="2400" b="1" dirty="0" err="1" smtClean="0"/>
              <a:t>WebServlet</a:t>
            </a:r>
            <a:r>
              <a:rPr lang="en-US" sz="2400" b="1" dirty="0" smtClean="0"/>
              <a:t>:</a:t>
            </a:r>
            <a:endParaRPr lang="en-US" sz="2400" dirty="0" smtClean="0"/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public @interface </a:t>
            </a:r>
            <a:r>
              <a:rPr lang="en-US" sz="2400" dirty="0" err="1" smtClean="0"/>
              <a:t>WebServlet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marL="355600" indent="-355600" fontAlgn="base">
              <a:buFont typeface="Arial" pitchFamily="34" charset="0"/>
              <a:buChar char="•"/>
            </a:pPr>
            <a:r>
              <a:rPr lang="en-US" sz="2400" dirty="0" smtClean="0"/>
              <a:t>Available in </a:t>
            </a:r>
            <a:r>
              <a:rPr lang="en-US" sz="2400" dirty="0" err="1" smtClean="0"/>
              <a:t>javax.servlet.annotation</a:t>
            </a:r>
            <a:r>
              <a:rPr lang="en-US" sz="2400" dirty="0" smtClean="0"/>
              <a:t> package.</a:t>
            </a:r>
          </a:p>
          <a:p>
            <a:pPr marL="355600" indent="-355600" fontAlgn="base">
              <a:buFont typeface="Arial" pitchFamily="34" charset="0"/>
              <a:buChar char="•"/>
            </a:pPr>
            <a:r>
              <a:rPr lang="en-US" sz="2400" dirty="0" smtClean="0"/>
              <a:t>Used to declare a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.</a:t>
            </a:r>
          </a:p>
          <a:p>
            <a:pPr marL="355600" indent="-355600" fontAlgn="base">
              <a:buFont typeface="Arial" pitchFamily="34" charset="0"/>
              <a:buChar char="•"/>
            </a:pPr>
            <a:r>
              <a:rPr lang="en-US" sz="2400" dirty="0" smtClean="0"/>
              <a:t>At the time of deployment,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container will identify and process the annotation and makes the corresponding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available at the specified URL patterns.</a:t>
            </a:r>
          </a:p>
          <a:p>
            <a:endParaRPr lang="en-US" sz="2400" dirty="0" smtClean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err="1" smtClean="0"/>
              <a:t>Servlet</a:t>
            </a:r>
            <a:r>
              <a:rPr lang="en-US" sz="2400" b="1" dirty="0" smtClean="0"/>
              <a:t> with Annotation Examples</a:t>
            </a:r>
          </a:p>
          <a:p>
            <a:pPr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we will create a simple HTML page to map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with the URL.</a:t>
            </a:r>
          </a:p>
          <a:p>
            <a:pPr algn="just" fontAlgn="base"/>
            <a:r>
              <a:rPr lang="en-US" sz="2400" b="1" dirty="0" smtClean="0"/>
              <a:t>Example 1:</a:t>
            </a:r>
            <a:endParaRPr lang="en-US" sz="2400" dirty="0" smtClean="0"/>
          </a:p>
          <a:p>
            <a:pPr algn="just" fontAlgn="base"/>
            <a:r>
              <a:rPr lang="en-US" sz="2400" b="1" dirty="0" err="1" smtClean="0"/>
              <a:t>Servlet</a:t>
            </a:r>
            <a:r>
              <a:rPr lang="en-US" sz="2400" b="1" dirty="0" smtClean="0"/>
              <a:t> annotated with only URL pattern:</a:t>
            </a:r>
            <a:endParaRPr lang="en-US" sz="2400" dirty="0" smtClean="0"/>
          </a:p>
          <a:p>
            <a:pPr algn="just" fontAlgn="base"/>
            <a:r>
              <a:rPr lang="en-US" sz="2400" b="1" dirty="0" smtClean="0"/>
              <a:t>index.html</a:t>
            </a:r>
            <a:endParaRPr lang="en-US" sz="2400" dirty="0" smtClean="0"/>
          </a:p>
          <a:p>
            <a:pPr algn="just"/>
            <a:endParaRPr lang="en-US" sz="2400" dirty="0" smtClean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err="1" smtClean="0"/>
              <a:t>Servlet</a:t>
            </a:r>
            <a:r>
              <a:rPr lang="en-US" sz="2400" b="1" dirty="0" smtClean="0"/>
              <a:t> with Annotation Examples</a:t>
            </a:r>
          </a:p>
          <a:p>
            <a:pPr algn="just" fontAlgn="base"/>
            <a:r>
              <a:rPr lang="en-US" sz="2000" dirty="0" smtClean="0"/>
              <a:t>&lt;!DOCTYPE html&gt; </a:t>
            </a:r>
          </a:p>
          <a:p>
            <a:pPr algn="just" fontAlgn="base"/>
            <a:r>
              <a:rPr lang="en-US" sz="2000" dirty="0" smtClean="0"/>
              <a:t>&lt;html&gt; </a:t>
            </a:r>
          </a:p>
          <a:p>
            <a:pPr algn="just" fontAlgn="base"/>
            <a:r>
              <a:rPr lang="en-US" sz="2000" dirty="0" smtClean="0"/>
              <a:t>&lt;head&gt; </a:t>
            </a:r>
          </a:p>
          <a:p>
            <a:pPr algn="just" fontAlgn="base"/>
            <a:r>
              <a:rPr lang="en-US" sz="2000" dirty="0" smtClean="0"/>
              <a:t>&lt;meta </a:t>
            </a:r>
            <a:r>
              <a:rPr lang="en-US" sz="2000" dirty="0" err="1" smtClean="0"/>
              <a:t>charset</a:t>
            </a:r>
            <a:r>
              <a:rPr lang="en-US" sz="2000" dirty="0" smtClean="0"/>
              <a:t>="ISO-8859-1"&gt; </a:t>
            </a:r>
          </a:p>
          <a:p>
            <a:pPr algn="just" fontAlgn="base"/>
            <a:r>
              <a:rPr lang="en-US" sz="2000" dirty="0" smtClean="0"/>
              <a:t>&lt;title&gt;Home&lt;/title&gt; </a:t>
            </a:r>
          </a:p>
          <a:p>
            <a:pPr algn="just" fontAlgn="base"/>
            <a:r>
              <a:rPr lang="en-US" sz="2000" dirty="0" smtClean="0"/>
              <a:t>&lt;/head&gt; </a:t>
            </a:r>
          </a:p>
          <a:p>
            <a:pPr algn="just" fontAlgn="base"/>
            <a:r>
              <a:rPr lang="en-US" sz="2000" dirty="0" smtClean="0"/>
              <a:t>&lt;body&gt; </a:t>
            </a:r>
          </a:p>
          <a:p>
            <a:pPr algn="just" fontAlgn="base"/>
            <a:r>
              <a:rPr lang="en-US" sz="2000" dirty="0" smtClean="0"/>
              <a:t>	&lt;form action="hello" method="post"&gt; </a:t>
            </a:r>
          </a:p>
          <a:p>
            <a:pPr algn="just" fontAlgn="base"/>
            <a:endParaRPr lang="en-US" sz="2000" dirty="0" smtClean="0"/>
          </a:p>
          <a:p>
            <a:pPr algn="just" fontAlgn="base"/>
            <a:r>
              <a:rPr lang="en-US" sz="2000" dirty="0" smtClean="0"/>
              <a:t>		Welcome Page: &lt;input type="submit" /&gt; </a:t>
            </a:r>
          </a:p>
          <a:p>
            <a:pPr algn="just" fontAlgn="base"/>
            <a:endParaRPr lang="en-US" sz="2000" dirty="0" smtClean="0"/>
          </a:p>
          <a:p>
            <a:pPr algn="just" fontAlgn="base"/>
            <a:r>
              <a:rPr lang="en-US" sz="2000" dirty="0" smtClean="0"/>
              <a:t>	&lt;/form&gt; </a:t>
            </a:r>
          </a:p>
          <a:p>
            <a:pPr algn="just" fontAlgn="base"/>
            <a:r>
              <a:rPr lang="en-US" sz="2000" dirty="0" smtClean="0"/>
              <a:t>&lt;/body&gt; </a:t>
            </a:r>
          </a:p>
          <a:p>
            <a:pPr algn="just" fontAlgn="base"/>
            <a:r>
              <a:rPr lang="en-US" sz="2000" dirty="0" smtClean="0"/>
              <a:t>&lt;/html&gt;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err="1" smtClean="0"/>
              <a:t>Servlet</a:t>
            </a:r>
            <a:r>
              <a:rPr lang="en-US" sz="2400" b="1" dirty="0" smtClean="0"/>
              <a:t> with Annotation Examples: HelloServlet.java</a:t>
            </a:r>
            <a:endParaRPr lang="en-US" sz="2400" dirty="0" smtClean="0"/>
          </a:p>
          <a:p>
            <a:pPr fontAlgn="base"/>
            <a:r>
              <a:rPr lang="en-US" sz="2400" dirty="0" smtClean="0"/>
              <a:t>@</a:t>
            </a:r>
            <a:r>
              <a:rPr lang="en-US" sz="2400" dirty="0" err="1" smtClean="0"/>
              <a:t>WebServlet</a:t>
            </a:r>
            <a:r>
              <a:rPr lang="en-US" sz="2400" dirty="0" smtClean="0"/>
              <a:t>("/hello") </a:t>
            </a:r>
          </a:p>
          <a:p>
            <a:pPr fontAlgn="base"/>
            <a:r>
              <a:rPr lang="en-US" sz="2400" dirty="0" smtClean="0"/>
              <a:t>public class </a:t>
            </a:r>
            <a:r>
              <a:rPr lang="en-US" sz="2400" dirty="0" err="1" smtClean="0"/>
              <a:t>HelloServlet</a:t>
            </a:r>
            <a:r>
              <a:rPr lang="en-US" sz="2400" dirty="0" smtClean="0"/>
              <a:t> extends </a:t>
            </a:r>
            <a:r>
              <a:rPr lang="en-US" sz="2400" dirty="0" err="1" smtClean="0"/>
              <a:t>HttpServlet</a:t>
            </a:r>
            <a:r>
              <a:rPr lang="en-US" sz="2400" dirty="0" smtClean="0"/>
              <a:t> { </a:t>
            </a:r>
          </a:p>
          <a:p>
            <a:pPr fontAlgn="base"/>
            <a:r>
              <a:rPr lang="en-US" sz="2400" dirty="0" smtClean="0"/>
              <a:t>	private static final long </a:t>
            </a:r>
            <a:r>
              <a:rPr lang="en-US" sz="2400" dirty="0" err="1" smtClean="0"/>
              <a:t>serialVersionUID</a:t>
            </a:r>
            <a:r>
              <a:rPr lang="en-US" sz="2400" dirty="0" smtClean="0"/>
              <a:t> = 1L; </a:t>
            </a:r>
          </a:p>
          <a:p>
            <a:pPr fontAlgn="base"/>
            <a:r>
              <a:rPr lang="en-US" sz="2400" dirty="0" smtClean="0"/>
              <a:t>	protected void </a:t>
            </a:r>
            <a:r>
              <a:rPr lang="en-US" sz="2400" dirty="0" err="1" smtClean="0"/>
              <a:t>doPost</a:t>
            </a:r>
            <a:r>
              <a:rPr lang="en-US" sz="2400" dirty="0" smtClean="0"/>
              <a:t>(</a:t>
            </a:r>
            <a:r>
              <a:rPr lang="en-US" sz="2400" dirty="0" err="1" smtClean="0"/>
              <a:t>HttpServletRequest</a:t>
            </a:r>
            <a:r>
              <a:rPr lang="en-US" sz="2400" dirty="0" smtClean="0"/>
              <a:t> request, </a:t>
            </a:r>
          </a:p>
          <a:p>
            <a:pPr fontAlgn="base"/>
            <a:r>
              <a:rPr lang="en-US" sz="2400" dirty="0" smtClean="0"/>
              <a:t>	</a:t>
            </a:r>
            <a:r>
              <a:rPr lang="en-US" sz="2400" dirty="0" err="1" smtClean="0"/>
              <a:t>HttpServletResponse</a:t>
            </a:r>
            <a:r>
              <a:rPr lang="en-US" sz="2400" dirty="0" smtClean="0"/>
              <a:t> response)	throws 	</a:t>
            </a:r>
            <a:r>
              <a:rPr lang="en-US" sz="2400" dirty="0" err="1" smtClean="0"/>
              <a:t>ServletException</a:t>
            </a:r>
            <a:r>
              <a:rPr lang="en-US" sz="2400" dirty="0" smtClean="0"/>
              <a:t>, </a:t>
            </a:r>
            <a:r>
              <a:rPr lang="en-US" sz="2400" dirty="0" err="1" smtClean="0"/>
              <a:t>IOException</a:t>
            </a:r>
            <a:r>
              <a:rPr lang="en-US" sz="2400" dirty="0" smtClean="0"/>
              <a:t> </a:t>
            </a:r>
          </a:p>
          <a:p>
            <a:pPr fontAlgn="base"/>
            <a:r>
              <a:rPr lang="en-US" sz="2400" dirty="0" smtClean="0"/>
              <a:t>	{ </a:t>
            </a:r>
          </a:p>
          <a:p>
            <a:pPr fontAlgn="base"/>
            <a:r>
              <a:rPr lang="en-US" sz="2400" dirty="0" smtClean="0"/>
              <a:t>		// set the response content type </a:t>
            </a:r>
          </a:p>
          <a:p>
            <a:pPr fontAlgn="base"/>
            <a:r>
              <a:rPr lang="en-US" sz="2400" dirty="0" smtClean="0"/>
              <a:t>		</a:t>
            </a:r>
            <a:r>
              <a:rPr lang="en-US" sz="2400" dirty="0" err="1" smtClean="0"/>
              <a:t>response.setContentType</a:t>
            </a:r>
            <a:r>
              <a:rPr lang="en-US" sz="2400" dirty="0" smtClean="0"/>
              <a:t>("text/html"); </a:t>
            </a:r>
          </a:p>
          <a:p>
            <a:pPr fontAlgn="base"/>
            <a:r>
              <a:rPr lang="en-US" sz="2400" dirty="0" smtClean="0"/>
              <a:t>		</a:t>
            </a:r>
            <a:r>
              <a:rPr lang="en-US" sz="2400" dirty="0" err="1" smtClean="0"/>
              <a:t>PrintWriter</a:t>
            </a:r>
            <a:r>
              <a:rPr lang="en-US" sz="2400" dirty="0" smtClean="0"/>
              <a:t> out = </a:t>
            </a:r>
            <a:r>
              <a:rPr lang="en-US" sz="2400" dirty="0" err="1" smtClean="0"/>
              <a:t>response.getWriter</a:t>
            </a:r>
            <a:r>
              <a:rPr lang="en-US" sz="2400" dirty="0" smtClean="0"/>
              <a:t>();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9473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with annotation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455361"/>
            <a:ext cx="8533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err="1" smtClean="0"/>
              <a:t>Servlet</a:t>
            </a:r>
            <a:r>
              <a:rPr lang="en-US" sz="2400" b="1" dirty="0" smtClean="0"/>
              <a:t> with Annotation Examples: HelloServlet.java</a:t>
            </a:r>
            <a:endParaRPr lang="en-US" sz="2400" dirty="0" smtClean="0"/>
          </a:p>
          <a:p>
            <a:pPr fontAlgn="base"/>
            <a:r>
              <a:rPr lang="en-US" sz="2400" dirty="0" smtClean="0"/>
              <a:t>		// Print hello message to the client browser in </a:t>
            </a:r>
          </a:p>
          <a:p>
            <a:pPr fontAlgn="base"/>
            <a:r>
              <a:rPr lang="en-US" sz="2400" dirty="0" smtClean="0"/>
              <a:t>		// response object </a:t>
            </a:r>
          </a:p>
          <a:p>
            <a:pPr fontAlgn="base"/>
            <a:r>
              <a:rPr lang="en-US" sz="2400" dirty="0" smtClean="0"/>
              <a:t>		</a:t>
            </a:r>
            <a:r>
              <a:rPr lang="en-US" sz="2400" dirty="0" err="1" smtClean="0"/>
              <a:t>out.println</a:t>
            </a:r>
            <a:r>
              <a:rPr lang="en-US" sz="2400" dirty="0" smtClean="0"/>
              <a:t>( "&lt;h3&gt;Hello, Welcome to </a:t>
            </a:r>
            <a:r>
              <a:rPr lang="en-US" sz="2400" dirty="0" err="1" smtClean="0"/>
              <a:t>parul</a:t>
            </a:r>
            <a:r>
              <a:rPr lang="en-US" sz="2400" dirty="0" smtClean="0"/>
              <a:t> University!!&lt;/h3&gt;"); </a:t>
            </a:r>
          </a:p>
          <a:p>
            <a:pPr fontAlgn="base"/>
            <a:r>
              <a:rPr lang="en-US" sz="2400" dirty="0" smtClean="0"/>
              <a:t>		</a:t>
            </a:r>
            <a:r>
              <a:rPr lang="en-US" sz="2400" dirty="0" err="1" smtClean="0"/>
              <a:t>out.close</a:t>
            </a:r>
            <a:r>
              <a:rPr lang="en-US" sz="2400" dirty="0" smtClean="0"/>
              <a:t>(); </a:t>
            </a:r>
          </a:p>
          <a:p>
            <a:pPr fontAlgn="base"/>
            <a:r>
              <a:rPr lang="en-US" sz="2400" dirty="0" smtClean="0"/>
              <a:t>} }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When user clicks submit for the welcome page, container will process the “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WebServlet</a:t>
            </a:r>
            <a:r>
              <a:rPr lang="en-US" sz="2400" b="1" dirty="0" smtClean="0"/>
              <a:t>(“/hello”)</a:t>
            </a:r>
            <a:r>
              <a:rPr lang="en-US" sz="2400" dirty="0" smtClean="0"/>
              <a:t>” annotation and maps the “</a:t>
            </a:r>
            <a:r>
              <a:rPr lang="en-US" sz="2400" b="1" dirty="0" err="1" smtClean="0"/>
              <a:t>HelloServlet</a:t>
            </a:r>
            <a:r>
              <a:rPr lang="en-US" sz="2400" dirty="0" smtClean="0"/>
              <a:t>” class.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As the method is mentioned as “</a:t>
            </a:r>
            <a:r>
              <a:rPr lang="en-US" sz="2400" b="1" dirty="0" smtClean="0"/>
              <a:t>post</a:t>
            </a:r>
            <a:r>
              <a:rPr lang="en-US" sz="2400" dirty="0" smtClean="0"/>
              <a:t>” in Html page, container will execute “</a:t>
            </a:r>
            <a:r>
              <a:rPr lang="en-US" sz="2400" b="1" dirty="0" err="1" smtClean="0"/>
              <a:t>doPost</a:t>
            </a:r>
            <a:r>
              <a:rPr lang="en-US" sz="2400" b="1" dirty="0" smtClean="0"/>
              <a:t>()</a:t>
            </a:r>
            <a:r>
              <a:rPr lang="en-US" sz="2400" dirty="0" smtClean="0"/>
              <a:t>” method in “</a:t>
            </a:r>
            <a:r>
              <a:rPr lang="en-US" sz="2400" b="1" dirty="0" err="1" smtClean="0"/>
              <a:t>HelloServlet</a:t>
            </a:r>
            <a:r>
              <a:rPr lang="en-US" sz="2400" dirty="0" smtClean="0"/>
              <a:t>” class.</a:t>
            </a:r>
          </a:p>
          <a:p>
            <a:pPr fontAlgn="base"/>
            <a:endParaRPr lang="en-US" sz="2400" dirty="0" smtClean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222</Words>
  <Application>Microsoft Office PowerPoint</Application>
  <PresentationFormat>On-screen Show (4:3)</PresentationFormat>
  <Paragraphs>94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83</cp:revision>
  <dcterms:created xsi:type="dcterms:W3CDTF">2024-12-13T07:18:04Z</dcterms:created>
  <dcterms:modified xsi:type="dcterms:W3CDTF">2025-05-17T05:24:42Z</dcterms:modified>
</cp:coreProperties>
</file>