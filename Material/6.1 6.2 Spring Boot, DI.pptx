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8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262" r:id="rId19"/>
    <p:sldId id="263" r:id="rId2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wGEa46m3SqSJsxoXyCwcLQkea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BA4600-CF29-4966-8986-3B1AA4679568}">
  <a:tblStyle styleId="{D3BA4600-CF29-4966-8986-3B1AA46795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20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a7072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264a7072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/>
          <p:nvPr/>
        </p:nvSpPr>
        <p:spPr>
          <a:xfrm>
            <a:off x="4" y="1955845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603478" y="2256535"/>
            <a:ext cx="7887578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&amp;</a:t>
            </a:r>
            <a:r>
              <a:rPr lang="en-US" sz="4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with </a:t>
            </a:r>
            <a:b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ESP8266</a:t>
            </a:r>
            <a:endParaRPr sz="4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 Layout">
  <p:cSld name="Index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8"/>
          <p:cNvGrpSpPr/>
          <p:nvPr/>
        </p:nvGrpSpPr>
        <p:grpSpPr>
          <a:xfrm>
            <a:off x="445191" y="0"/>
            <a:ext cx="8698811" cy="6857999"/>
            <a:chOff x="-4801433" y="-1782234"/>
            <a:chExt cx="18084927" cy="14257864"/>
          </a:xfrm>
        </p:grpSpPr>
        <p:sp>
          <p:nvSpPr>
            <p:cNvPr id="15" name="Google Shape;15;p8"/>
            <p:cNvSpPr/>
            <p:nvPr/>
          </p:nvSpPr>
          <p:spPr>
            <a:xfrm>
              <a:off x="-4801433" y="1790698"/>
              <a:ext cx="12600815" cy="983099"/>
            </a:xfrm>
            <a:custGeom>
              <a:avLst/>
              <a:gdLst/>
              <a:ahLst/>
              <a:cxnLst/>
              <a:rect l="l" t="t" r="r" b="b"/>
              <a:pathLst>
                <a:path w="4610100" h="660400" extrusionOk="0">
                  <a:moveTo>
                    <a:pt x="0" y="660400"/>
                  </a:moveTo>
                  <a:lnTo>
                    <a:pt x="4610100" y="660400"/>
                  </a:lnTo>
                  <a:lnTo>
                    <a:pt x="4610100" y="0"/>
                  </a:lnTo>
                  <a:lnTo>
                    <a:pt x="0" y="0"/>
                  </a:lnTo>
                  <a:lnTo>
                    <a:pt x="0" y="660400"/>
                  </a:lnTo>
                  <a:close/>
                </a:path>
              </a:pathLst>
            </a:custGeom>
            <a:solidFill>
              <a:srgbClr val="64646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8339276" y="-1782234"/>
              <a:ext cx="4944218" cy="14257864"/>
            </a:xfrm>
            <a:custGeom>
              <a:avLst/>
              <a:gdLst/>
              <a:ahLst/>
              <a:cxnLst/>
              <a:rect l="l" t="t" r="r" b="b"/>
              <a:pathLst>
                <a:path w="2387600" h="10693400" extrusionOk="0">
                  <a:moveTo>
                    <a:pt x="0" y="0"/>
                  </a:moveTo>
                  <a:lnTo>
                    <a:pt x="2387600" y="0"/>
                  </a:lnTo>
                  <a:lnTo>
                    <a:pt x="2387600" y="10693400"/>
                  </a:lnTo>
                  <a:lnTo>
                    <a:pt x="0" y="10693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487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64"/>
                <a:buFont typeface="Arial"/>
                <a:buNone/>
              </a:pPr>
              <a:endParaRPr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26923" y="234877"/>
            <a:ext cx="2063449" cy="61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slide Layout">
  <p:cSld name="End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Layout">
  <p:cSld name="Content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/>
          <p:nvPr/>
        </p:nvSpPr>
        <p:spPr>
          <a:xfrm>
            <a:off x="1" y="6493764"/>
            <a:ext cx="9143999" cy="419100"/>
          </a:xfrm>
          <a:custGeom>
            <a:avLst/>
            <a:gdLst/>
            <a:ahLst/>
            <a:cxnLst/>
            <a:rect l="l" t="t" r="r" b="b"/>
            <a:pathLst>
              <a:path w="7556500" h="393700" extrusionOk="0">
                <a:moveTo>
                  <a:pt x="7556500" y="0"/>
                </a:moveTo>
                <a:lnTo>
                  <a:pt x="0" y="0"/>
                </a:lnTo>
                <a:lnTo>
                  <a:pt x="0" y="393700"/>
                </a:lnTo>
                <a:lnTo>
                  <a:pt x="7556500" y="393700"/>
                </a:lnTo>
                <a:lnTo>
                  <a:pt x="7556500" y="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/>
          <p:nvPr/>
        </p:nvSpPr>
        <p:spPr>
          <a:xfrm>
            <a:off x="344873" y="3245670"/>
            <a:ext cx="2761065" cy="40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4"/>
              <a:buFont typeface="Arial"/>
              <a:buNone/>
            </a:pPr>
            <a:r>
              <a:rPr lang="en-US" sz="11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86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9885" y="344298"/>
            <a:ext cx="1837473" cy="41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381000"/>
            <a:ext cx="2799129" cy="374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28650" y="934578"/>
            <a:ext cx="7886700" cy="117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28650" y="2249992"/>
            <a:ext cx="7886700" cy="4095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4" y="1965470"/>
            <a:ext cx="9143999" cy="1935817"/>
          </a:xfrm>
          <a:custGeom>
            <a:avLst/>
            <a:gdLst/>
            <a:ahLst/>
            <a:cxnLst/>
            <a:rect l="l" t="t" r="r" b="b"/>
            <a:pathLst>
              <a:path w="7556500" h="2628900" extrusionOk="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endParaRPr sz="86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0" y="2366690"/>
            <a:ext cx="9144000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 Programming using JAVA</a:t>
            </a:r>
            <a:endParaRPr sz="3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3000"/>
            </a:pPr>
            <a:r>
              <a:rPr lang="en-US" sz="3000" b="1" i="0" u="none" strike="noStrike" cap="none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Chapter-6: </a:t>
            </a:r>
            <a:r>
              <a:rPr lang="en-US" sz="30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Boot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342741" y="5601409"/>
            <a:ext cx="3832829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</a:t>
            </a:r>
            <a:r>
              <a:rPr lang="en-US" sz="22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ARNIKA PATEL</a:t>
            </a:r>
            <a: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</a:t>
            </a:r>
            <a:r>
              <a:rPr lang="en-US" sz="1800" b="1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461900" y="2370175"/>
            <a:ext cx="60279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Introduction to Spring Boot……………………. 3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Calibri"/>
              <a:buAutoNum type="arabicPeriod"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Dependency Injection..………………………….. 5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461889" y="1734925"/>
            <a:ext cx="3382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Content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6527840" y="5619817"/>
            <a:ext cx="128112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Spring Boot is a Java framework that makes it easier to create and run Java applications. It simplifies the configuration and setup process, allowing developers to focus more on writing code for their applications.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endParaRPr lang="en-US" sz="2400" b="0" i="0" u="none" strike="noStrike" cap="none" dirty="0" smtClean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b="1" dirty="0" smtClean="0"/>
              <a:t>Spring Boot </a:t>
            </a:r>
            <a:r>
              <a:rPr lang="en-US" sz="2400" dirty="0" smtClean="0"/>
              <a:t>is an open-source Java framework used to create a Micro Service.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endParaRPr lang="en-US" sz="2400" dirty="0" smtClean="0"/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Spring boot is developed by Pivotal Team, and it provides a faster way to set up and an easier, configure, and run both simple and web-based applications. </a:t>
            </a:r>
            <a:endParaRPr sz="2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383250" y="1789925"/>
            <a:ext cx="85332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It is a combination of Spring Framework and Embedded Servers. </a:t>
            </a:r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endParaRPr lang="en-US" sz="2400" dirty="0" smtClean="0"/>
          </a:p>
          <a:p>
            <a:pPr marL="355600" lvl="0" indent="-355600" algn="just">
              <a:buSzPts val="2200"/>
              <a:buFont typeface="Arial" pitchFamily="34" charset="0"/>
              <a:buChar char="•"/>
            </a:pPr>
            <a:r>
              <a:rPr lang="en-US" sz="2400" dirty="0" smtClean="0"/>
              <a:t>The main goal of Spring Boot is to reduce development, unit test, and integration test time and in Spring Boot, there is no requirement for XML configuration.</a:t>
            </a:r>
            <a:endParaRPr sz="2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dirty="0" smtClean="0"/>
              <a:t>Dependency injection(DI) is a design pattern that helps eliminate the dependencies within a class, making it independent of the specific objects it relies on. 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Dependency injection promotes loose coupling and easier testing. By implementing dependency injection, we can adhere to the principles of SOLID, particularly dependency inversion.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 the context of software development and the Java programming language, there are several options for implementing dependency injection (DI) utilizing the Spring framework.</a:t>
            </a:r>
          </a:p>
          <a:p>
            <a:pPr algn="just"/>
            <a:r>
              <a:rPr lang="en-US" sz="2400" dirty="0" smtClean="0"/>
              <a:t/>
            </a:r>
            <a:br>
              <a:rPr lang="en-US" sz="2400" dirty="0" smtClean="0"/>
            </a:br>
            <a:endParaRPr sz="2400" b="0" i="0" u="none" strike="noStrike" cap="none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Constructor Injection</a:t>
            </a:r>
          </a:p>
          <a:p>
            <a:pPr algn="just"/>
            <a:r>
              <a:rPr lang="en-US" sz="2400" dirty="0" smtClean="0"/>
              <a:t>In constructor injection, dependencies are provided through a class constructor.</a:t>
            </a:r>
          </a:p>
          <a:p>
            <a:pPr algn="just"/>
            <a:r>
              <a:rPr lang="en-US" sz="2400" dirty="0" smtClean="0"/>
              <a:t>The dependencies are explicitly declared as constructor parameters.</a:t>
            </a:r>
          </a:p>
          <a:p>
            <a:pPr algn="just"/>
            <a:r>
              <a:rPr lang="en-US" sz="2400" dirty="0" smtClean="0"/>
              <a:t>Once instantiated, the class holds references to these dependencies.</a:t>
            </a:r>
          </a:p>
          <a:p>
            <a:pPr algn="just"/>
            <a:r>
              <a:rPr lang="en-US" sz="2400" dirty="0" smtClean="0"/>
              <a:t>Constructor injection ensures that the required dependencies are provided at the time of object creation.</a:t>
            </a:r>
          </a:p>
          <a:p>
            <a:pPr algn="just"/>
            <a:r>
              <a:rPr lang="en-US" sz="2400" dirty="0" smtClean="0"/>
              <a:t>It promotes immutability, as dependencies can be declared as final.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/>
              <a:t>Constructor Injection</a:t>
            </a:r>
          </a:p>
          <a:p>
            <a:r>
              <a:rPr lang="en-US" sz="2400" dirty="0" smtClean="0"/>
              <a:t>@Service</a:t>
            </a:r>
            <a:br>
              <a:rPr lang="en-US" sz="2400" dirty="0" smtClean="0"/>
            </a:br>
            <a:r>
              <a:rPr lang="en-US" sz="2400" dirty="0" smtClean="0"/>
              <a:t>public class </a:t>
            </a:r>
            <a:r>
              <a:rPr lang="en-US" sz="2400" dirty="0" err="1" smtClean="0"/>
              <a:t>RoleService</a:t>
            </a:r>
            <a:r>
              <a:rPr lang="en-US" sz="2400" dirty="0" smtClean="0"/>
              <a:t> {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private final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;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public </a:t>
            </a:r>
            <a:r>
              <a:rPr lang="en-US" sz="2400" dirty="0" err="1" smtClean="0"/>
              <a:t>RoleService</a:t>
            </a:r>
            <a:r>
              <a:rPr lang="en-US" sz="2400" dirty="0" smtClean="0"/>
              <a:t>(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) {</a:t>
            </a:r>
            <a:br>
              <a:rPr lang="en-US" sz="2400" dirty="0" smtClean="0"/>
            </a:br>
            <a:r>
              <a:rPr lang="en-US" sz="2400" dirty="0" err="1" smtClean="0"/>
              <a:t>this.roleRepository</a:t>
            </a:r>
            <a:r>
              <a:rPr lang="en-US" sz="2400" dirty="0" smtClean="0"/>
              <a:t> =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;</a:t>
            </a:r>
            <a:br>
              <a:rPr lang="en-US" sz="2400" dirty="0" smtClean="0"/>
            </a:br>
            <a:r>
              <a:rPr lang="en-US" sz="2400" dirty="0" smtClean="0"/>
              <a:t>}</a:t>
            </a:r>
            <a:br>
              <a:rPr lang="en-US" sz="2400" dirty="0" smtClean="0"/>
            </a:br>
            <a:r>
              <a:rPr lang="en-US" sz="2400" dirty="0" smtClean="0"/>
              <a:t>// ...</a:t>
            </a:r>
            <a:br>
              <a:rPr lang="en-US" sz="2400" dirty="0" smtClean="0"/>
            </a:br>
            <a:r>
              <a:rPr lang="en-US" sz="2400" dirty="0" smtClean="0"/>
              <a:t>}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Constructor Injection</a:t>
            </a:r>
          </a:p>
          <a:p>
            <a:pPr algn="just"/>
            <a:r>
              <a:rPr lang="en-US" sz="2400" dirty="0" smtClean="0"/>
              <a:t>In this example, the class </a:t>
            </a:r>
            <a:r>
              <a:rPr lang="en-US" sz="2400" b="1" dirty="0" err="1" smtClean="0"/>
              <a:t>RoleService</a:t>
            </a:r>
            <a:r>
              <a:rPr lang="en-US" sz="2400" dirty="0" smtClean="0"/>
              <a:t> has a constructor that takes a </a:t>
            </a:r>
            <a:r>
              <a:rPr lang="en-US" sz="2400" b="1" dirty="0" err="1" smtClean="0"/>
              <a:t>RoleRepository</a:t>
            </a:r>
            <a:r>
              <a:rPr lang="en-US" sz="2400" dirty="0" smtClean="0"/>
              <a:t> dependency. The dependency is declared as a constructor parameter, and Spring Boot automatically resolves and injects the </a:t>
            </a:r>
            <a:r>
              <a:rPr lang="en-US" sz="2400" b="1" dirty="0" err="1" smtClean="0"/>
              <a:t>RoleRepository</a:t>
            </a:r>
            <a:r>
              <a:rPr lang="en-US" sz="2400" dirty="0" smtClean="0"/>
              <a:t> bean when creating an instance of </a:t>
            </a:r>
            <a:r>
              <a:rPr lang="en-US" sz="2400" b="1" dirty="0" err="1" smtClean="0"/>
              <a:t>RoleService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 smtClean="0"/>
              <a:t>Constructor-based Dependency Injection (using Lombok):</a:t>
            </a:r>
            <a:r>
              <a:rPr lang="en-US" sz="2400" dirty="0" smtClean="0"/>
              <a:t> Lombok is a library that can help reduce boilerplate code. It provides annotations like </a:t>
            </a:r>
            <a:r>
              <a:rPr lang="en-US" sz="2400" b="1" dirty="0" smtClean="0"/>
              <a:t>@</a:t>
            </a:r>
            <a:r>
              <a:rPr lang="en-US" sz="2400" b="1" dirty="0" err="1" smtClean="0"/>
              <a:t>RequiredArgsConstructor</a:t>
            </a:r>
            <a:r>
              <a:rPr lang="en-US" sz="2400" dirty="0" smtClean="0"/>
              <a:t>, which automatically generates a constructor with the required dependencies.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Constructor Injection</a:t>
            </a:r>
          </a:p>
          <a:p>
            <a:r>
              <a:rPr lang="en-US" sz="2400" dirty="0" smtClean="0"/>
              <a:t>@Service</a:t>
            </a:r>
            <a:br>
              <a:rPr lang="en-US" sz="2400" dirty="0" smtClean="0"/>
            </a:br>
            <a:r>
              <a:rPr lang="en-US" sz="2400" dirty="0" smtClean="0"/>
              <a:t>@</a:t>
            </a:r>
            <a:r>
              <a:rPr lang="en-US" sz="2400" dirty="0" err="1" smtClean="0"/>
              <a:t>RequiredArgsConstructor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public class </a:t>
            </a:r>
            <a:r>
              <a:rPr lang="en-US" sz="2400" dirty="0" err="1" smtClean="0"/>
              <a:t>RoleService</a:t>
            </a:r>
            <a:r>
              <a:rPr lang="en-US" sz="2400" dirty="0" smtClean="0"/>
              <a:t> {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private final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;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// ...</a:t>
            </a:r>
            <a:br>
              <a:rPr lang="en-US" sz="2400" dirty="0" smtClean="0"/>
            </a:br>
            <a:r>
              <a:rPr lang="en-US" sz="2400" dirty="0" smtClean="0"/>
              <a:t>}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Setter Injection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Setter injection involves providing dependencies using setter methods.</a:t>
            </a:r>
          </a:p>
          <a:p>
            <a:pPr algn="just"/>
            <a:r>
              <a:rPr lang="en-US" sz="2400" dirty="0" smtClean="0"/>
              <a:t>Dependencies are declared as private instance variables and corresponding setter methods are defined.</a:t>
            </a:r>
          </a:p>
          <a:p>
            <a:pPr algn="just"/>
            <a:r>
              <a:rPr lang="en-US" sz="2400" dirty="0" smtClean="0"/>
              <a:t>These setters are used to inject the dependencies into the class.</a:t>
            </a:r>
          </a:p>
          <a:p>
            <a:pPr algn="just"/>
            <a:r>
              <a:rPr lang="en-US" sz="2400" dirty="0" smtClean="0"/>
              <a:t>Setter injection allows for optional dependencies and the ability to change dependencies at runtime.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Setter Injection</a:t>
            </a:r>
          </a:p>
          <a:p>
            <a:r>
              <a:rPr lang="en-US" sz="2400" dirty="0" smtClean="0"/>
              <a:t>@Service</a:t>
            </a:r>
            <a:br>
              <a:rPr lang="en-US" sz="2400" dirty="0" smtClean="0"/>
            </a:br>
            <a:r>
              <a:rPr lang="en-US" sz="2400" dirty="0" smtClean="0"/>
              <a:t>public class </a:t>
            </a:r>
            <a:r>
              <a:rPr lang="en-US" sz="2400" dirty="0" err="1" smtClean="0"/>
              <a:t>RoleService</a:t>
            </a:r>
            <a:r>
              <a:rPr lang="en-US" sz="2400" dirty="0" smtClean="0"/>
              <a:t> {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private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; 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@</a:t>
            </a:r>
            <a:r>
              <a:rPr lang="en-US" sz="2400" dirty="0" err="1" smtClean="0"/>
              <a:t>Autowired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public void </a:t>
            </a:r>
            <a:r>
              <a:rPr lang="en-US" sz="2400" dirty="0" err="1" smtClean="0"/>
              <a:t>setRoleRepository</a:t>
            </a:r>
            <a:r>
              <a:rPr lang="en-US" sz="2400" dirty="0" smtClean="0"/>
              <a:t>(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) {</a:t>
            </a:r>
            <a:br>
              <a:rPr lang="en-US" sz="2400" dirty="0" smtClean="0"/>
            </a:br>
            <a:r>
              <a:rPr lang="en-US" sz="2400" dirty="0" err="1" smtClean="0"/>
              <a:t>this.roleRepository</a:t>
            </a:r>
            <a:r>
              <a:rPr lang="en-US" sz="2400" dirty="0" smtClean="0"/>
              <a:t> =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;</a:t>
            </a:r>
            <a:br>
              <a:rPr lang="en-US" sz="2400" dirty="0" smtClean="0"/>
            </a:br>
            <a:r>
              <a:rPr lang="en-US" sz="2400" dirty="0" smtClean="0"/>
              <a:t>}</a:t>
            </a:r>
            <a:br>
              <a:rPr lang="en-US" sz="2400" dirty="0" smtClean="0"/>
            </a:br>
            <a:r>
              <a:rPr lang="en-US" sz="2400" dirty="0" smtClean="0"/>
              <a:t>// ...</a:t>
            </a:r>
            <a:br>
              <a:rPr lang="en-US" sz="2400" dirty="0" smtClean="0"/>
            </a:br>
            <a:r>
              <a:rPr lang="en-US" sz="2400" dirty="0" smtClean="0"/>
              <a:t>}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Setter Injection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I</a:t>
            </a:r>
            <a:r>
              <a:rPr lang="en-US" sz="2400" dirty="0" smtClean="0"/>
              <a:t>n this example, the </a:t>
            </a:r>
            <a:r>
              <a:rPr lang="en-US" sz="2400" b="1" dirty="0" err="1" smtClean="0"/>
              <a:t>RoleService</a:t>
            </a:r>
            <a:r>
              <a:rPr lang="en-US" sz="2400" dirty="0" smtClean="0"/>
              <a:t> class has a setter method annotated with </a:t>
            </a:r>
            <a:r>
              <a:rPr lang="en-US" sz="2400" b="1" dirty="0" smtClean="0"/>
              <a:t>@</a:t>
            </a:r>
            <a:r>
              <a:rPr lang="en-US" sz="2400" b="1" dirty="0" err="1" smtClean="0"/>
              <a:t>Autowired</a:t>
            </a:r>
            <a:r>
              <a:rPr lang="en-US" sz="2400" dirty="0" smtClean="0"/>
              <a:t>. When the Spring Boot application context initializes, it automatically identifies the </a:t>
            </a:r>
            <a:r>
              <a:rPr lang="en-US" sz="2400" b="1" dirty="0" err="1" smtClean="0"/>
              <a:t>RoleRepository</a:t>
            </a:r>
            <a:r>
              <a:rPr lang="en-US" sz="2400" dirty="0" smtClean="0"/>
              <a:t> bean and injects it into the </a:t>
            </a:r>
            <a:r>
              <a:rPr lang="en-US" sz="2400" dirty="0" err="1" smtClean="0"/>
              <a:t>setRoleRepository</a:t>
            </a:r>
            <a:r>
              <a:rPr lang="en-US" sz="2400" dirty="0" smtClean="0"/>
              <a:t> method.</a:t>
            </a:r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Field Injection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Field injection involves injecting dependencies directly into class fields or properties.</a:t>
            </a:r>
          </a:p>
          <a:p>
            <a:pPr algn="just"/>
            <a:r>
              <a:rPr lang="en-US" sz="2400" dirty="0" smtClean="0"/>
              <a:t>Dependencies are declared as private instance variables with the </a:t>
            </a:r>
            <a:r>
              <a:rPr lang="en-US" sz="2400" b="1" dirty="0" smtClean="0"/>
              <a:t>@ </a:t>
            </a:r>
            <a:r>
              <a:rPr lang="en-US" sz="2400" b="1" dirty="0" err="1" smtClean="0"/>
              <a:t>Autowired</a:t>
            </a:r>
            <a:r>
              <a:rPr lang="en-US" sz="2400" dirty="0" smtClean="0"/>
              <a:t> annotation.</a:t>
            </a:r>
          </a:p>
          <a:p>
            <a:pPr algn="just"/>
            <a:r>
              <a:rPr lang="en-US" sz="2400" dirty="0" smtClean="0"/>
              <a:t>The Spring framework uses reflection to directly set the field values.</a:t>
            </a:r>
          </a:p>
          <a:p>
            <a:pPr algn="just"/>
            <a:r>
              <a:rPr lang="en-US" sz="2400" dirty="0" smtClean="0"/>
              <a:t>Field injection can simplify code and reduce verbosity, but it may hinder testability and make it harder to detect missing dependencies.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 smtClean="0"/>
              <a:t>Field Injection</a:t>
            </a:r>
          </a:p>
          <a:p>
            <a:endParaRPr lang="en-US" sz="2400" dirty="0" smtClean="0"/>
          </a:p>
          <a:p>
            <a:r>
              <a:rPr lang="en-US" sz="2400" dirty="0" smtClean="0"/>
              <a:t>@Service</a:t>
            </a:r>
            <a:br>
              <a:rPr lang="en-US" sz="2400" dirty="0" smtClean="0"/>
            </a:br>
            <a:r>
              <a:rPr lang="en-US" sz="2400" dirty="0" smtClean="0"/>
              <a:t>public class </a:t>
            </a:r>
            <a:r>
              <a:rPr lang="en-US" sz="2400" dirty="0" err="1" smtClean="0"/>
              <a:t>RoleService</a:t>
            </a:r>
            <a:r>
              <a:rPr lang="en-US" sz="2400" dirty="0" smtClean="0"/>
              <a:t> {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@</a:t>
            </a:r>
            <a:r>
              <a:rPr lang="en-US" sz="2400" dirty="0" err="1" smtClean="0"/>
              <a:t>Autowired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private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 </a:t>
            </a:r>
            <a:r>
              <a:rPr lang="en-US" sz="2400" dirty="0" err="1" smtClean="0"/>
              <a:t>roleRepository</a:t>
            </a:r>
            <a:r>
              <a:rPr lang="en-US" sz="2400" dirty="0" smtClean="0"/>
              <a:t>;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// ...</a:t>
            </a:r>
            <a:br>
              <a:rPr lang="en-US" sz="2400" dirty="0" smtClean="0"/>
            </a:br>
            <a:r>
              <a:rPr lang="en-US" sz="2400" dirty="0" smtClean="0"/>
              <a:t>}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Field Injection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 this example, the </a:t>
            </a:r>
            <a:r>
              <a:rPr lang="en-US" sz="2400" b="1" dirty="0" err="1" smtClean="0"/>
              <a:t>RoleService</a:t>
            </a:r>
            <a:r>
              <a:rPr lang="en-US" sz="2400" dirty="0" smtClean="0"/>
              <a:t> class has a field annotated with </a:t>
            </a:r>
            <a:r>
              <a:rPr lang="en-US" sz="2400" b="1" dirty="0" smtClean="0"/>
              <a:t>@</a:t>
            </a:r>
            <a:r>
              <a:rPr lang="en-US" sz="2400" b="1" dirty="0" err="1" smtClean="0"/>
              <a:t>Autowired</a:t>
            </a:r>
            <a:r>
              <a:rPr lang="en-US" sz="2400" dirty="0" smtClean="0"/>
              <a:t>. Spring Boot identifies the </a:t>
            </a:r>
            <a:r>
              <a:rPr lang="en-US" sz="2400" b="1" dirty="0" err="1" smtClean="0"/>
              <a:t>RoleRepository</a:t>
            </a:r>
            <a:r>
              <a:rPr lang="en-US" sz="2400" dirty="0" smtClean="0"/>
              <a:t> bean and directly injects it into the </a:t>
            </a:r>
            <a:r>
              <a:rPr lang="en-US" sz="2400" b="1" dirty="0" err="1" smtClean="0"/>
              <a:t>roleRepository</a:t>
            </a:r>
            <a:r>
              <a:rPr lang="en-US" sz="2400" dirty="0" smtClean="0"/>
              <a:t> field when creating an instance of </a:t>
            </a:r>
            <a:r>
              <a:rPr lang="en-US" sz="2400" b="1" dirty="0" err="1" smtClean="0"/>
              <a:t>RoleService</a:t>
            </a:r>
            <a:r>
              <a:rPr lang="en-US" sz="2400" dirty="0" smtClean="0"/>
              <a:t>. However, it’s generally recommended to avoid field injection as it can make testing and mocking more challenging.</a:t>
            </a:r>
          </a:p>
          <a:p>
            <a:pPr algn="just"/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1" dirty="0" smtClean="0"/>
              <a:t>Interface Injection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Interface injection is not directly supported by the Spring framework.</a:t>
            </a:r>
          </a:p>
          <a:p>
            <a:pPr algn="just"/>
            <a:r>
              <a:rPr lang="en-US" sz="2400" dirty="0" smtClean="0"/>
              <a:t>It involves implementing an interface that defines setter methods for the dependencies.</a:t>
            </a:r>
          </a:p>
          <a:p>
            <a:pPr algn="just"/>
            <a:r>
              <a:rPr lang="en-US" sz="2400" dirty="0" smtClean="0"/>
              <a:t>The implementing class is responsible for providing the necessary dependency injection logic.</a:t>
            </a:r>
          </a:p>
          <a:p>
            <a:pPr algn="just"/>
            <a:r>
              <a:rPr lang="en-US" sz="2400" dirty="0" smtClean="0"/>
              <a:t>While it offers flexibility, it can introduce complexity and increase coupling.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/>
          <p:nvPr/>
        </p:nvSpPr>
        <p:spPr>
          <a:xfrm>
            <a:off x="354577" y="1023576"/>
            <a:ext cx="57402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b="1" dirty="0" smtClean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Spring Boot — Dependency Injection</a:t>
            </a:r>
          </a:p>
        </p:txBody>
      </p:sp>
      <p:sp>
        <p:nvSpPr>
          <p:cNvPr id="52" name="Google Shape;52;p3"/>
          <p:cNvSpPr/>
          <p:nvPr/>
        </p:nvSpPr>
        <p:spPr>
          <a:xfrm>
            <a:off x="421751" y="1578170"/>
            <a:ext cx="8533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 a Spring Boot application, we can enable dependency injection by using appropriate annotations such as </a:t>
            </a:r>
            <a:r>
              <a:rPr lang="en-US" sz="2400" b="1" dirty="0" smtClean="0"/>
              <a:t>@</a:t>
            </a:r>
            <a:r>
              <a:rPr lang="en-US" sz="2400" b="1" dirty="0" err="1" smtClean="0"/>
              <a:t>Autowired</a:t>
            </a:r>
            <a:r>
              <a:rPr lang="en-US" sz="2400" b="1" dirty="0" smtClean="0"/>
              <a:t> </a:t>
            </a:r>
            <a:r>
              <a:rPr lang="en-US" sz="2400" dirty="0" smtClean="0"/>
              <a:t>and </a:t>
            </a:r>
            <a:r>
              <a:rPr lang="en-US" sz="2400" b="1" dirty="0" smtClean="0"/>
              <a:t>@Service</a:t>
            </a:r>
            <a:r>
              <a:rPr lang="en-US" sz="2400" dirty="0" smtClean="0"/>
              <a:t> to mark the classes where dependencies need to be injected.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Additionally, we need to configure the application with </a:t>
            </a:r>
            <a:r>
              <a:rPr lang="en-US" sz="2400" dirty="0" err="1" smtClean="0"/>
              <a:t>annotationslike</a:t>
            </a:r>
            <a:r>
              <a:rPr lang="en-US" sz="2400" dirty="0" smtClean="0"/>
              <a:t> </a:t>
            </a:r>
            <a:r>
              <a:rPr lang="en-US" sz="2400" b="1" dirty="0" smtClean="0"/>
              <a:t>@</a:t>
            </a:r>
            <a:r>
              <a:rPr lang="en-US" sz="2400" b="1" dirty="0" err="1" smtClean="0"/>
              <a:t>ComponentScan</a:t>
            </a:r>
            <a:r>
              <a:rPr lang="en-US" sz="2400" dirty="0" smtClean="0"/>
              <a:t> or </a:t>
            </a:r>
            <a:r>
              <a:rPr lang="en-US" sz="2400" b="1" dirty="0" smtClean="0"/>
              <a:t>@</a:t>
            </a:r>
            <a:r>
              <a:rPr lang="en-US" sz="2400" b="1" dirty="0" err="1" smtClean="0"/>
              <a:t>SpringBootApplication</a:t>
            </a:r>
            <a:r>
              <a:rPr lang="en-US" sz="2400" dirty="0" smtClean="0"/>
              <a:t> to allow Spring Boot to scan and discover the beans.</a:t>
            </a:r>
            <a:endParaRPr lang="en-US" sz="2400" dirty="0"/>
          </a:p>
        </p:txBody>
      </p:sp>
      <p:cxnSp>
        <p:nvCxnSpPr>
          <p:cNvPr id="53" name="Google Shape;53;p3"/>
          <p:cNvCxnSpPr/>
          <p:nvPr/>
        </p:nvCxnSpPr>
        <p:spPr>
          <a:xfrm>
            <a:off x="7950" y="868825"/>
            <a:ext cx="9186600" cy="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64a707208_0_9"/>
          <p:cNvSpPr/>
          <p:nvPr/>
        </p:nvSpPr>
        <p:spPr>
          <a:xfrm>
            <a:off x="354577" y="1023576"/>
            <a:ext cx="57402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PPT Content Resources Reference Sample: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g3264a707208_0_9"/>
          <p:cNvCxnSpPr/>
          <p:nvPr/>
        </p:nvCxnSpPr>
        <p:spPr>
          <a:xfrm rot="10800000" flipH="1">
            <a:off x="-8250" y="794900"/>
            <a:ext cx="9160500" cy="47100"/>
          </a:xfrm>
          <a:prstGeom prst="straightConnector1">
            <a:avLst/>
          </a:prstGeom>
          <a:noFill/>
          <a:ln w="38100" cap="flat" cmpd="sng">
            <a:solidFill>
              <a:srgbClr val="1F4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g3264a707208_0_9"/>
          <p:cNvSpPr/>
          <p:nvPr/>
        </p:nvSpPr>
        <p:spPr>
          <a:xfrm>
            <a:off x="383250" y="1789925"/>
            <a:ext cx="8395500" cy="452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  <a:br>
              <a:rPr lang="en-US" sz="1200" b="1" dirty="0" smtClean="0">
                <a:solidFill>
                  <a:srgbClr val="FF0000"/>
                </a:solidFill>
              </a:rPr>
            </a:br>
            <a:r>
              <a:rPr lang="en-US" sz="1200" dirty="0" smtClean="0">
                <a:solidFill>
                  <a:srgbClr val="FF0000"/>
                </a:solidFill>
              </a:rPr>
              <a:t>Jim Farley, William Crawford, David Flanagan. Java Enterprise in a Nutshell, O'Reilly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lang="en-US" sz="1200" b="1" dirty="0" smtClean="0">
                <a:solidFill>
                  <a:srgbClr val="FF0000"/>
                </a:solidFill>
              </a:rPr>
              <a:t>Book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Rocha, R., </a:t>
            </a:r>
            <a:r>
              <a:rPr lang="en-US" sz="1200" dirty="0" err="1" smtClean="0">
                <a:solidFill>
                  <a:srgbClr val="FF0000"/>
                </a:solidFill>
              </a:rPr>
              <a:t>Purificação</a:t>
            </a:r>
            <a:r>
              <a:rPr lang="en-US" sz="1200" dirty="0" smtClean="0">
                <a:solidFill>
                  <a:srgbClr val="FF0000"/>
                </a:solidFill>
              </a:rPr>
              <a:t>, J. (2018). Java EE 8 Design Patterns and Best Practices: Build Enterprise-ready Scalable Applications with Architectural Design Patterns. Germany: </a:t>
            </a:r>
            <a:r>
              <a:rPr lang="en-US" sz="1200" dirty="0" err="1" smtClean="0">
                <a:solidFill>
                  <a:srgbClr val="FF0000"/>
                </a:solidFill>
              </a:rPr>
              <a:t>Packt</a:t>
            </a:r>
            <a:r>
              <a:rPr lang="en-US" sz="1200" dirty="0" smtClean="0">
                <a:solidFill>
                  <a:srgbClr val="FF0000"/>
                </a:solidFill>
              </a:rPr>
              <a:t> Publishing..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+mj-lt"/>
              <a:buAutoNum type="arabicPeriod" startAt="3"/>
            </a:pPr>
            <a:r>
              <a:rPr lang="en-US" sz="1200" b="1" dirty="0" smtClean="0">
                <a:solidFill>
                  <a:srgbClr val="FF0000"/>
                </a:solidFill>
              </a:rPr>
              <a:t>Website Reference</a:t>
            </a:r>
          </a:p>
          <a:p>
            <a:pPr marL="457200" lvl="0">
              <a:lnSpc>
                <a:spcPct val="150000"/>
              </a:lnSpc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https://www.scribd.com/document/268349254/Java-8-Programming-Black-Book .</a:t>
            </a: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Sources</a:t>
            </a:r>
          </a:p>
          <a:p>
            <a:pPr marL="452438" lvl="2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dirty="0" smtClean="0">
                <a:solidFill>
                  <a:srgbClr val="FF0000"/>
                </a:solidFill>
              </a:rPr>
              <a:t>https://developers.redhat.com/topics/enterprise-java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pPr marL="457200" lvl="0" indent="-304800">
              <a:lnSpc>
                <a:spcPct val="150000"/>
              </a:lnSpc>
              <a:buClr>
                <a:schemeClr val="dk1"/>
              </a:buClr>
              <a:buSzPts val="1200"/>
              <a:buFont typeface="Arial"/>
              <a:buAutoNum type="arabicPeriod" startAt="4"/>
            </a:pPr>
            <a:r>
              <a:rPr lang="en-US" sz="1200" b="1" dirty="0" smtClean="0">
                <a:solidFill>
                  <a:srgbClr val="FF0000"/>
                </a:solidFill>
              </a:rPr>
              <a:t>Article</a:t>
            </a:r>
            <a:endParaRPr lang="en-US" sz="1200" dirty="0" smtClean="0">
              <a:solidFill>
                <a:srgbClr val="FF0000"/>
              </a:solidFill>
            </a:endParaRPr>
          </a:p>
          <a:p>
            <a:pPr marL="452438" lvl="0">
              <a:lnSpc>
                <a:spcPct val="150000"/>
              </a:lnSpc>
              <a:buClr>
                <a:schemeClr val="dk1"/>
              </a:buClr>
              <a:buSzPts val="1200"/>
            </a:pPr>
            <a:r>
              <a:rPr lang="en-US" sz="1200" smtClean="0">
                <a:solidFill>
                  <a:srgbClr val="FF0000"/>
                </a:solidFill>
              </a:rPr>
              <a:t>https://www.researchgate.net/publication/276412369_Advanced_Java_Programming</a:t>
            </a:r>
          </a:p>
          <a:p>
            <a:pPr marL="457200" lvl="0">
              <a:lnSpc>
                <a:spcPct val="150000"/>
              </a:lnSpc>
              <a:buSzPts val="1200"/>
            </a:pPr>
            <a:endParaRPr lang="en-US" sz="1200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508</Words>
  <Application>Microsoft Office PowerPoint</Application>
  <PresentationFormat>On-screen Show (4:3)</PresentationFormat>
  <Paragraphs>95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key</cp:lastModifiedBy>
  <cp:revision>142</cp:revision>
  <dcterms:created xsi:type="dcterms:W3CDTF">2024-12-13T07:18:04Z</dcterms:created>
  <dcterms:modified xsi:type="dcterms:W3CDTF">2025-05-17T05:27:13Z</dcterms:modified>
</cp:coreProperties>
</file>