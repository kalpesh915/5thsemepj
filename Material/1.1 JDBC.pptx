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4" r:id="rId6"/>
    <p:sldId id="265" r:id="rId7"/>
    <p:sldId id="266" r:id="rId8"/>
    <p:sldId id="267" r:id="rId9"/>
    <p:sldId id="268" r:id="rId10"/>
    <p:sldId id="269" r:id="rId11"/>
    <p:sldId id="270" r:id="rId12"/>
    <p:sldId id="271" r:id="rId13"/>
    <p:sldId id="272" r:id="rId14"/>
    <p:sldId id="273" r:id="rId15"/>
    <p:sldId id="274" r:id="rId16"/>
    <p:sldId id="276" r:id="rId17"/>
    <p:sldId id="275" r:id="rId18"/>
    <p:sldId id="277" r:id="rId19"/>
    <p:sldId id="278" r:id="rId20"/>
    <p:sldId id="279" r:id="rId21"/>
    <p:sldId id="280" r:id="rId22"/>
    <p:sldId id="281" r:id="rId23"/>
    <p:sldId id="282" r:id="rId24"/>
    <p:sldId id="283" r:id="rId25"/>
    <p:sldId id="284" r:id="rId26"/>
    <p:sldId id="285" r:id="rId27"/>
    <p:sldId id="286" r:id="rId28"/>
    <p:sldId id="287" r:id="rId29"/>
    <p:sldId id="262" r:id="rId30"/>
    <p:sldId id="263" r:id="rId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2" d="100"/>
          <a:sy n="62" d="100"/>
        </p:scale>
        <p:origin x="-1324" y="-6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264a707208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g3264a707208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a:solidFill>
                  <a:srgbClr val="FFFFFF"/>
                </a:solidFill>
                <a:latin typeface="Calibri"/>
                <a:ea typeface="Calibri"/>
                <a:cs typeface="Calibri"/>
                <a:sym typeface="Calibri"/>
              </a:rPr>
              <a:t>Chapter-1: </a:t>
            </a:r>
            <a:r>
              <a:rPr lang="en-US" sz="3000" b="1" dirty="0" smtClean="0">
                <a:solidFill>
                  <a:srgbClr val="FFFFFF"/>
                </a:solidFill>
                <a:latin typeface="Calibri"/>
                <a:ea typeface="Calibri"/>
                <a:cs typeface="Calibri"/>
                <a:sym typeface="Calibri"/>
              </a:rPr>
              <a:t>Foundation of Enterprise Programming</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2492950"/>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solidFill>
                  <a:schemeClr val="dk1"/>
                </a:solidFill>
                <a:latin typeface="Calibri"/>
                <a:ea typeface="Calibri"/>
                <a:cs typeface="Calibri"/>
                <a:sym typeface="Calibri"/>
              </a:rPr>
              <a:t>Introduction</a:t>
            </a:r>
            <a:r>
              <a:rPr lang="en-US" sz="2200" dirty="0" smtClean="0">
                <a:solidFill>
                  <a:schemeClr val="dk1"/>
                </a:solidFill>
                <a:latin typeface="Calibri"/>
                <a:ea typeface="Calibri"/>
                <a:cs typeface="Calibri"/>
                <a:sym typeface="Calibri"/>
              </a:rPr>
              <a:t>…………………………………….………</a:t>
            </a:r>
            <a:r>
              <a:rPr lang="en-US" sz="2200" b="0" i="0" u="none" strike="noStrike" cap="none" dirty="0">
                <a:solidFill>
                  <a:schemeClr val="dk1"/>
                </a:solidFill>
                <a:latin typeface="Calibri"/>
                <a:ea typeface="Calibri"/>
                <a:cs typeface="Calibri"/>
                <a:sym typeface="Calibri"/>
              </a:rPr>
              <a:t>	1</a:t>
            </a:r>
            <a:endParaRPr sz="2200" b="0" i="0" u="none" strike="noStrike" cap="none" dirty="0">
              <a:solidFill>
                <a:schemeClr val="dk1"/>
              </a:solidFill>
              <a:latin typeface="Calibri"/>
              <a:ea typeface="Calibri"/>
              <a:cs typeface="Calibri"/>
              <a:sym typeface="Calibri"/>
            </a:endParaRPr>
          </a:p>
          <a:p>
            <a:pPr marL="457200" marR="0" lvl="0" indent="-368300" algn="l" rtl="0">
              <a:lnSpc>
                <a:spcPct val="100000"/>
              </a:lnSpc>
              <a:spcBef>
                <a:spcPts val="0"/>
              </a:spcBef>
              <a:spcAft>
                <a:spcPts val="0"/>
              </a:spcAft>
              <a:buClr>
                <a:schemeClr val="dk1"/>
              </a:buClr>
              <a:buSzPts val="2200"/>
              <a:buFont typeface="Calibri"/>
              <a:buAutoNum type="arabicPeriod"/>
            </a:pPr>
            <a:r>
              <a:rPr lang="en-US" sz="2200" dirty="0" smtClean="0">
                <a:solidFill>
                  <a:schemeClr val="dk1"/>
                </a:solidFill>
                <a:latin typeface="Calibri"/>
                <a:ea typeface="Calibri"/>
                <a:cs typeface="Calibri"/>
                <a:sym typeface="Calibri"/>
              </a:rPr>
              <a:t>JDBC Architecture</a:t>
            </a:r>
            <a:r>
              <a:rPr lang="en-US" sz="2200" b="0" i="0" u="none" strike="noStrike" cap="none" dirty="0" smtClean="0">
                <a:solidFill>
                  <a:schemeClr val="dk1"/>
                </a:solidFill>
                <a:latin typeface="Calibri"/>
                <a:ea typeface="Calibri"/>
                <a:cs typeface="Calibri"/>
                <a:sym typeface="Calibri"/>
              </a:rPr>
              <a:t>………………………….….</a:t>
            </a:r>
            <a:r>
              <a:rPr lang="en-US" sz="2200" dirty="0" smtClean="0">
                <a:solidFill>
                  <a:schemeClr val="dk1"/>
                </a:solidFill>
                <a:latin typeface="Calibri"/>
                <a:ea typeface="Calibri"/>
                <a:cs typeface="Calibri"/>
                <a:sym typeface="Calibri"/>
              </a:rPr>
              <a:t>.</a:t>
            </a:r>
            <a:r>
              <a:rPr lang="en-US" sz="2200" b="0" i="0" u="none" strike="noStrike" cap="none" dirty="0" smtClean="0">
                <a:solidFill>
                  <a:schemeClr val="dk1"/>
                </a:solidFill>
                <a:latin typeface="Calibri"/>
                <a:ea typeface="Calibri"/>
                <a:cs typeface="Calibri"/>
                <a:sym typeface="Calibri"/>
              </a:rPr>
              <a:t>………	4</a:t>
            </a:r>
            <a:endParaRPr sz="2200" b="0" i="0" u="none" strike="noStrike" cap="none" dirty="0">
              <a:solidFill>
                <a:schemeClr val="dk1"/>
              </a:solidFill>
              <a:latin typeface="Calibri"/>
              <a:ea typeface="Calibri"/>
              <a:cs typeface="Calibri"/>
              <a:sym typeface="Calibri"/>
            </a:endParaRPr>
          </a:p>
          <a:p>
            <a:pPr marL="457200" marR="0" lvl="0" indent="-368300" algn="l" rtl="0">
              <a:lnSpc>
                <a:spcPct val="100000"/>
              </a:lnSpc>
              <a:spcBef>
                <a:spcPts val="0"/>
              </a:spcBef>
              <a:spcAft>
                <a:spcPts val="0"/>
              </a:spcAft>
              <a:buClr>
                <a:schemeClr val="dk1"/>
              </a:buClr>
              <a:buSzPts val="2200"/>
              <a:buFont typeface="Calibri"/>
              <a:buAutoNum type="arabicPeriod"/>
            </a:pPr>
            <a:r>
              <a:rPr lang="en-US" sz="2200" b="0" i="0" u="none" strike="noStrike" cap="none" dirty="0" smtClean="0">
                <a:solidFill>
                  <a:schemeClr val="dk1"/>
                </a:solidFill>
                <a:latin typeface="Calibri"/>
                <a:ea typeface="Calibri"/>
                <a:cs typeface="Calibri"/>
                <a:sym typeface="Calibri"/>
              </a:rPr>
              <a:t>JDBC Components..…………………….……………..</a:t>
            </a:r>
            <a:r>
              <a:rPr lang="en-US" sz="2200" b="0" i="0" u="none" strike="noStrike" cap="none" dirty="0">
                <a:solidFill>
                  <a:schemeClr val="dk1"/>
                </a:solidFill>
                <a:latin typeface="Calibri"/>
                <a:ea typeface="Calibri"/>
                <a:cs typeface="Calibri"/>
                <a:sym typeface="Calibri"/>
              </a:rPr>
              <a:t>	</a:t>
            </a:r>
            <a:r>
              <a:rPr lang="en-US" sz="2200" b="0" i="0" u="none" strike="noStrike" cap="none" dirty="0" smtClean="0">
                <a:solidFill>
                  <a:schemeClr val="dk1"/>
                </a:solidFill>
                <a:latin typeface="Calibri"/>
                <a:ea typeface="Calibri"/>
                <a:cs typeface="Calibri"/>
                <a:sym typeface="Calibri"/>
              </a:rPr>
              <a:t>7</a:t>
            </a:r>
            <a:endParaRPr sz="2200" b="0" i="0" u="none" strike="noStrike" cap="none" dirty="0">
              <a:solidFill>
                <a:schemeClr val="dk1"/>
              </a:solidFill>
              <a:latin typeface="Calibri"/>
              <a:ea typeface="Calibri"/>
              <a:cs typeface="Calibri"/>
              <a:sym typeface="Calibri"/>
            </a:endParaRPr>
          </a:p>
          <a:p>
            <a:pPr marL="457200" marR="0" lvl="0" indent="-368300" algn="l" rtl="0">
              <a:lnSpc>
                <a:spcPct val="100000"/>
              </a:lnSpc>
              <a:spcBef>
                <a:spcPts val="0"/>
              </a:spcBef>
              <a:spcAft>
                <a:spcPts val="0"/>
              </a:spcAft>
              <a:buClr>
                <a:schemeClr val="dk1"/>
              </a:buClr>
              <a:buSzPts val="2200"/>
              <a:buFont typeface="Calibri"/>
              <a:buAutoNum type="arabicPeriod"/>
            </a:pPr>
            <a:r>
              <a:rPr lang="en-US" sz="2200" b="0" i="0" u="none" strike="noStrike" cap="none" dirty="0" smtClean="0">
                <a:solidFill>
                  <a:schemeClr val="dk1"/>
                </a:solidFill>
                <a:latin typeface="Calibri"/>
                <a:ea typeface="Calibri"/>
                <a:cs typeface="Calibri"/>
                <a:sym typeface="Calibri"/>
              </a:rPr>
              <a:t>JDBC Classes and Interface……………….………..	12</a:t>
            </a:r>
            <a:endParaRPr sz="2200" b="0" i="0" u="none" strike="noStrike" cap="none" dirty="0">
              <a:solidFill>
                <a:schemeClr val="dk1"/>
              </a:solidFill>
              <a:latin typeface="Calibri"/>
              <a:ea typeface="Calibri"/>
              <a:cs typeface="Calibri"/>
              <a:sym typeface="Calibri"/>
            </a:endParaRPr>
          </a:p>
          <a:p>
            <a:pPr marL="457200" marR="0" lvl="0" indent="-368300" algn="l" rtl="0">
              <a:lnSpc>
                <a:spcPct val="100000"/>
              </a:lnSpc>
              <a:spcBef>
                <a:spcPts val="0"/>
              </a:spcBef>
              <a:spcAft>
                <a:spcPts val="0"/>
              </a:spcAft>
              <a:buClr>
                <a:schemeClr val="dk1"/>
              </a:buClr>
              <a:buSzPts val="2200"/>
              <a:buFont typeface="Calibri"/>
              <a:buAutoNum type="arabicPeriod"/>
            </a:pPr>
            <a:r>
              <a:rPr lang="en-US" sz="2200" b="0" i="0" u="none" strike="noStrike" cap="none" dirty="0" smtClean="0">
                <a:solidFill>
                  <a:schemeClr val="dk1"/>
                </a:solidFill>
                <a:latin typeface="Calibri"/>
                <a:ea typeface="Calibri"/>
                <a:cs typeface="Calibri"/>
                <a:sym typeface="Calibri"/>
              </a:rPr>
              <a:t>Key Features of JDBC.…………………….............	13</a:t>
            </a:r>
          </a:p>
          <a:p>
            <a:pPr marL="457200" marR="0" lvl="0" indent="-368300" algn="l" rtl="0">
              <a:lnSpc>
                <a:spcPct val="100000"/>
              </a:lnSpc>
              <a:spcBef>
                <a:spcPts val="0"/>
              </a:spcBef>
              <a:spcAft>
                <a:spcPts val="0"/>
              </a:spcAft>
              <a:buClr>
                <a:schemeClr val="dk1"/>
              </a:buClr>
              <a:buSzPts val="2200"/>
              <a:buFont typeface="Calibri"/>
              <a:buAutoNum type="arabicPeriod"/>
            </a:pPr>
            <a:r>
              <a:rPr lang="en-US" sz="2200" dirty="0" smtClean="0">
                <a:solidFill>
                  <a:schemeClr val="dk1"/>
                </a:solidFill>
                <a:latin typeface="Calibri"/>
                <a:ea typeface="Calibri"/>
                <a:cs typeface="Calibri"/>
                <a:sym typeface="Calibri"/>
              </a:rPr>
              <a:t>JDBC  Drivers……………………………………………… 14</a:t>
            </a:r>
            <a:endParaRPr sz="2200" b="0" i="0" u="none" strike="noStrike" cap="none" dirty="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200"/>
              <a:buFont typeface="Arial"/>
              <a:buNone/>
            </a:pPr>
            <a:endParaRPr sz="2200" b="1" i="0" u="none" strike="noStrike" cap="none" dirty="0">
              <a:solidFill>
                <a:schemeClr val="dk1"/>
              </a:solidFill>
              <a:latin typeface="Calibri"/>
              <a:ea typeface="Calibri"/>
              <a:cs typeface="Calibri"/>
              <a:sym typeface="Calibri"/>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JAVA DATABASE CONNECTIVITY (JDBC)</a:t>
            </a:r>
          </a:p>
        </p:txBody>
      </p:sp>
      <p:sp>
        <p:nvSpPr>
          <p:cNvPr id="52" name="Google Shape;52;p3"/>
          <p:cNvSpPr/>
          <p:nvPr/>
        </p:nvSpPr>
        <p:spPr>
          <a:xfrm>
            <a:off x="383250" y="1789925"/>
            <a:ext cx="8533200" cy="1200288"/>
          </a:xfrm>
          <a:prstGeom prst="rect">
            <a:avLst/>
          </a:prstGeom>
          <a:noFill/>
          <a:ln>
            <a:noFill/>
          </a:ln>
        </p:spPr>
        <p:txBody>
          <a:bodyPr spcFirstLastPara="1" wrap="square" lIns="91425" tIns="45700" rIns="91425" bIns="45700" anchor="t" anchorCtr="0">
            <a:spAutoFit/>
          </a:bodyPr>
          <a:lstStyle/>
          <a:p>
            <a:pPr lvl="0">
              <a:buSzPts val="2200"/>
            </a:pPr>
            <a:r>
              <a:rPr lang="en-US" sz="2400" b="1" dirty="0" smtClean="0"/>
              <a:t>JDBC</a:t>
            </a:r>
            <a:r>
              <a:rPr lang="en-US" sz="2400" dirty="0" smtClean="0"/>
              <a:t> is an</a:t>
            </a:r>
            <a:r>
              <a:rPr lang="en-US" sz="2400" b="1" dirty="0" smtClean="0"/>
              <a:t> API</a:t>
            </a:r>
            <a:r>
              <a:rPr lang="en-US" sz="2400" dirty="0" smtClean="0"/>
              <a:t> that helps applications to communicate with databases, it allows Java programs to connect to a database, run queries, retrieve, and manipulate data</a:t>
            </a:r>
            <a:endParaRPr sz="1800" b="0" i="0" u="none" strike="noStrike" cap="none">
              <a:solidFill>
                <a:schemeClr val="dk1"/>
              </a:solidFill>
              <a:latin typeface="Calibri"/>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rgbClr val="000000"/>
                </a:solidFill>
                <a:latin typeface="Arial"/>
                <a:ea typeface="Arial"/>
                <a:cs typeface="Arial"/>
                <a:sym typeface="Arial"/>
              </a:rPr>
              <a:t>JDBC Architecture</a:t>
            </a:r>
            <a:endParaRPr sz="2400" b="1" i="0" u="none" strike="noStrike" cap="none">
              <a:solidFill>
                <a:srgbClr val="000000"/>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1" name="Google Shape;61;g3264a707208_0_1"/>
          <p:cNvSpPr txBox="1"/>
          <p:nvPr/>
        </p:nvSpPr>
        <p:spPr>
          <a:xfrm>
            <a:off x="2332269" y="5768128"/>
            <a:ext cx="4326600" cy="529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smtClean="0">
                <a:solidFill>
                  <a:schemeClr val="dk1"/>
                </a:solidFill>
                <a:latin typeface="Calibri"/>
                <a:ea typeface="Calibri"/>
                <a:cs typeface="Calibri"/>
                <a:sym typeface="Calibri"/>
              </a:rPr>
              <a:t>Figure 1 JDBC Architecture</a:t>
            </a:r>
            <a:endParaRPr sz="1200" b="0" i="0" u="none" strike="noStrike" cap="none" dirty="0">
              <a:solidFill>
                <a:schemeClr val="dk1"/>
              </a:solidFill>
              <a:latin typeface="Calibri"/>
              <a:ea typeface="Calibri"/>
              <a:cs typeface="Calibri"/>
              <a:sym typeface="Calibri"/>
            </a:endParaRPr>
          </a:p>
        </p:txBody>
      </p:sp>
      <p:pic>
        <p:nvPicPr>
          <p:cNvPr id="1026" name="Picture 2"/>
          <p:cNvPicPr>
            <a:picLocks noChangeAspect="1" noChangeArrowheads="1"/>
          </p:cNvPicPr>
          <p:nvPr/>
        </p:nvPicPr>
        <p:blipFill>
          <a:blip r:embed="rId3"/>
          <a:srcRect/>
          <a:stretch>
            <a:fillRect/>
          </a:stretch>
        </p:blipFill>
        <p:spPr bwMode="auto">
          <a:xfrm>
            <a:off x="1931542" y="1530851"/>
            <a:ext cx="6041205" cy="42535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Architecture</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marL="457200" indent="-457200" algn="just" fontAlgn="base">
              <a:buFont typeface="+mj-lt"/>
              <a:buAutoNum type="arabicPeriod"/>
            </a:pPr>
            <a:r>
              <a:rPr lang="en-US" sz="2400" dirty="0" smtClean="0"/>
              <a:t>Application</a:t>
            </a:r>
          </a:p>
          <a:p>
            <a:pPr marL="457200" indent="-457200" algn="just" fontAlgn="base">
              <a:buFont typeface="+mj-lt"/>
              <a:buAutoNum type="arabicPeriod"/>
            </a:pPr>
            <a:r>
              <a:rPr lang="en-US" sz="2400" dirty="0" smtClean="0"/>
              <a:t>The JDBC API</a:t>
            </a:r>
          </a:p>
          <a:p>
            <a:pPr marL="457200" indent="-457200" algn="just" fontAlgn="base">
              <a:buFont typeface="+mj-lt"/>
              <a:buAutoNum type="arabicPeriod"/>
            </a:pPr>
            <a:r>
              <a:rPr lang="en-US" sz="2400" dirty="0" err="1" smtClean="0"/>
              <a:t>DriverManager</a:t>
            </a:r>
            <a:endParaRPr lang="en-US" sz="2400" dirty="0" smtClean="0"/>
          </a:p>
          <a:p>
            <a:pPr marL="457200" indent="-457200" algn="just" fontAlgn="base">
              <a:buFont typeface="+mj-lt"/>
              <a:buAutoNum type="arabicPeriod"/>
            </a:pPr>
            <a:r>
              <a:rPr lang="en-US" sz="2400" dirty="0" smtClean="0"/>
              <a:t>JDBC drivers</a:t>
            </a:r>
          </a:p>
          <a:p>
            <a:pPr marL="457200" indent="-457200" algn="just" fontAlgn="base">
              <a:buFont typeface="+mj-lt"/>
              <a:buAutoNum type="arabicPeriod"/>
            </a:pPr>
            <a:endParaRPr lang="en-US" sz="2400" dirty="0" smtClean="0"/>
          </a:p>
          <a:p>
            <a:pPr marL="360363" indent="-360363" algn="just" fontAlgn="base">
              <a:buFont typeface="Arial" pitchFamily="34" charset="0"/>
              <a:buChar char="•"/>
            </a:pPr>
            <a:r>
              <a:rPr lang="en-US" sz="2400" dirty="0" smtClean="0"/>
              <a:t>The JDBC architecture consists of </a:t>
            </a:r>
            <a:r>
              <a:rPr lang="en-US" sz="2400" b="1" dirty="0" smtClean="0"/>
              <a:t>two-tier</a:t>
            </a:r>
            <a:r>
              <a:rPr lang="en-US" sz="2400" dirty="0" smtClean="0"/>
              <a:t> and </a:t>
            </a:r>
            <a:r>
              <a:rPr lang="en-US" sz="2400" b="1" dirty="0" smtClean="0"/>
              <a:t>three-tier</a:t>
            </a:r>
            <a:r>
              <a:rPr lang="en-US" sz="2400" dirty="0" smtClean="0"/>
              <a:t> processing models to access a database.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Architecture</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marL="457200" indent="-457200" fontAlgn="base">
              <a:buAutoNum type="arabicPeriod"/>
            </a:pPr>
            <a:r>
              <a:rPr lang="en-US" sz="2400" b="1" dirty="0" smtClean="0"/>
              <a:t>Two-Tier Architecture</a:t>
            </a:r>
          </a:p>
          <a:p>
            <a:pPr marL="457200" indent="-457200" fontAlgn="base">
              <a:buAutoNum type="arabicPeriod"/>
            </a:pPr>
            <a:endParaRPr lang="en-US" sz="2400" b="1" dirty="0" smtClean="0"/>
          </a:p>
          <a:p>
            <a:pPr marL="457200" indent="-457200" fontAlgn="base"/>
            <a:r>
              <a:rPr lang="fr-FR" sz="2400" i="1" dirty="0" smtClean="0"/>
              <a:t>Client Application (Java) -&gt; JDBC Driver -&gt; </a:t>
            </a:r>
            <a:r>
              <a:rPr lang="fr-FR" sz="2400" i="1" dirty="0" err="1" smtClean="0"/>
              <a:t>Database</a:t>
            </a:r>
            <a:endParaRPr lang="fr-FR" sz="2400" i="1" dirty="0" smtClean="0"/>
          </a:p>
          <a:p>
            <a:pPr marL="457200" indent="-457200" fontAlgn="base"/>
            <a:endParaRPr lang="fr-FR" sz="2400" b="1" i="1" dirty="0" smtClean="0"/>
          </a:p>
          <a:p>
            <a:pPr marL="457200" indent="-457200" fontAlgn="base"/>
            <a:r>
              <a:rPr lang="fr-FR" sz="2400" b="1" dirty="0" smtClean="0"/>
              <a:t>2.</a:t>
            </a:r>
            <a:r>
              <a:rPr lang="fr-FR" sz="2400" b="1" i="1" dirty="0" smtClean="0"/>
              <a:t> </a:t>
            </a:r>
            <a:r>
              <a:rPr lang="en-US" sz="2400" b="1" dirty="0" smtClean="0"/>
              <a:t>Three-Tier Architecture</a:t>
            </a:r>
          </a:p>
          <a:p>
            <a:pPr marL="457200" indent="-457200" fontAlgn="base"/>
            <a:endParaRPr lang="en-US" sz="2400" b="1" dirty="0" smtClean="0"/>
          </a:p>
          <a:p>
            <a:pPr marL="457200" indent="-457200" fontAlgn="base"/>
            <a:r>
              <a:rPr lang="fr-FR" sz="2400" i="1" dirty="0" smtClean="0"/>
              <a:t>Client Application -&gt; Application Server -&gt; JDBC Driver -&gt; </a:t>
            </a:r>
            <a:r>
              <a:rPr lang="fr-FR" sz="2400" i="1" dirty="0" err="1" smtClean="0"/>
              <a:t>Database</a:t>
            </a:r>
            <a:endParaRPr 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Components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789925"/>
            <a:ext cx="8349784" cy="4436214"/>
          </a:xfrm>
          <a:prstGeom prst="rect">
            <a:avLst/>
          </a:prstGeom>
          <a:noFill/>
          <a:ln>
            <a:noFill/>
          </a:ln>
        </p:spPr>
        <p:txBody>
          <a:bodyPr spcFirstLastPara="1" wrap="square" lIns="91425" tIns="45700" rIns="91425" bIns="45700" anchor="t" anchorCtr="0">
            <a:noAutofit/>
          </a:bodyPr>
          <a:lstStyle/>
          <a:p>
            <a:pPr marL="457200" indent="-457200" fontAlgn="base"/>
            <a:r>
              <a:rPr lang="en-US" sz="2400" b="1" dirty="0" smtClean="0"/>
              <a:t>4</a:t>
            </a:r>
            <a:r>
              <a:rPr lang="en-US" sz="2400" dirty="0" smtClean="0"/>
              <a:t> </a:t>
            </a:r>
            <a:r>
              <a:rPr lang="en-US" sz="2400" b="1" dirty="0" smtClean="0"/>
              <a:t>main components of JDBC</a:t>
            </a:r>
          </a:p>
          <a:p>
            <a:pPr marL="457200" indent="-457200" fontAlgn="base"/>
            <a:endParaRPr lang="en-US" sz="2400" b="1" dirty="0" smtClean="0"/>
          </a:p>
          <a:p>
            <a:pPr marL="457200" indent="-457200" fontAlgn="base"/>
            <a:r>
              <a:rPr lang="en-US" sz="2400" dirty="0" smtClean="0"/>
              <a:t>1. JDBC API</a:t>
            </a:r>
          </a:p>
          <a:p>
            <a:pPr fontAlgn="base"/>
            <a:r>
              <a:rPr lang="en-US" sz="2400" dirty="0" smtClean="0"/>
              <a:t>2. JDBC Driver Manager</a:t>
            </a:r>
          </a:p>
          <a:p>
            <a:pPr fontAlgn="base"/>
            <a:r>
              <a:rPr lang="en-US" sz="2400" dirty="0" smtClean="0"/>
              <a:t>3. JDBC Test Suite</a:t>
            </a:r>
          </a:p>
          <a:p>
            <a:pPr fontAlgn="base"/>
            <a:r>
              <a:rPr lang="en-US" sz="2400" dirty="0" smtClean="0"/>
              <a:t>4. JDBC Drivers</a:t>
            </a:r>
          </a:p>
          <a:p>
            <a:r>
              <a:rPr lang="en-US" sz="2400" dirty="0" smtClean="0"/>
              <a:t/>
            </a:r>
            <a:br>
              <a:rPr lang="en-US" sz="2400" dirty="0" smtClean="0"/>
            </a:b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Components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r>
              <a:rPr lang="en-US" sz="2400" b="1" dirty="0" smtClean="0"/>
              <a:t>1. JDBC API</a:t>
            </a:r>
            <a:endParaRPr lang="en-US" sz="2400" dirty="0" smtClean="0"/>
          </a:p>
          <a:p>
            <a:pPr algn="just" fontAlgn="base"/>
            <a:r>
              <a:rPr lang="en-US" sz="2400" dirty="0" smtClean="0"/>
              <a:t>It provides various methods and interfaces for easy communication with the database. It includes two key packages</a:t>
            </a:r>
            <a:endParaRPr lang="en-US" sz="2400" b="1" dirty="0" smtClean="0"/>
          </a:p>
          <a:p>
            <a:pPr algn="just" fontAlgn="base"/>
            <a:endParaRPr lang="en-US" sz="2400" b="1" dirty="0" smtClean="0"/>
          </a:p>
          <a:p>
            <a:pPr algn="just" fontAlgn="base"/>
            <a:r>
              <a:rPr lang="en-US" sz="2400" b="1" dirty="0" smtClean="0"/>
              <a:t>java.sql</a:t>
            </a:r>
            <a:r>
              <a:rPr lang="en-US" sz="2400" dirty="0" smtClean="0"/>
              <a:t>: This package, is the part of</a:t>
            </a:r>
            <a:r>
              <a:rPr lang="en-US" sz="2400" b="1" dirty="0" smtClean="0"/>
              <a:t> </a:t>
            </a:r>
            <a:r>
              <a:rPr lang="en-US" sz="2400" dirty="0" smtClean="0"/>
              <a:t>Java Standard Edition (Java SE)</a:t>
            </a:r>
            <a:r>
              <a:rPr lang="en-US" sz="2400" b="1" dirty="0" smtClean="0"/>
              <a:t> ,</a:t>
            </a:r>
            <a:r>
              <a:rPr lang="en-US" sz="2400" dirty="0" smtClean="0"/>
              <a:t> which</a:t>
            </a:r>
            <a:r>
              <a:rPr lang="en-US" sz="2400" b="1" dirty="0" smtClean="0"/>
              <a:t> </a:t>
            </a:r>
            <a:r>
              <a:rPr lang="en-US" sz="2400" dirty="0" smtClean="0"/>
              <a:t>contains the core interfaces and classes for accessing and processing data in relational databases.</a:t>
            </a:r>
          </a:p>
          <a:p>
            <a:pPr algn="just" fontAlgn="base"/>
            <a:endParaRPr lang="en-US" sz="2400" dirty="0" smtClean="0"/>
          </a:p>
          <a:p>
            <a:pPr algn="just" fontAlgn="base"/>
            <a:r>
              <a:rPr lang="en-US" sz="2400" b="1" dirty="0" smtClean="0"/>
              <a:t>javax.sql</a:t>
            </a:r>
            <a:r>
              <a:rPr lang="en-US" sz="2400" dirty="0" smtClean="0"/>
              <a:t>: This package is the part of Java Enterprise Edition (Java EE) ,</a:t>
            </a:r>
            <a:r>
              <a:rPr lang="en-US" sz="2400" b="1" dirty="0" smtClean="0"/>
              <a:t> </a:t>
            </a:r>
            <a:r>
              <a:rPr lang="en-US" sz="2400" dirty="0" smtClean="0"/>
              <a:t>which</a:t>
            </a:r>
            <a:r>
              <a:rPr lang="en-US" sz="2400" b="1" dirty="0" smtClean="0"/>
              <a:t> </a:t>
            </a:r>
            <a:r>
              <a:rPr lang="en-US" sz="2400" dirty="0" smtClean="0"/>
              <a:t>extends the capabilities of </a:t>
            </a:r>
            <a:r>
              <a:rPr lang="en-US" sz="2400" b="1" dirty="0" smtClean="0"/>
              <a:t>java.sql</a:t>
            </a:r>
            <a:r>
              <a:rPr lang="en-US" sz="2400" dirty="0" smtClean="0"/>
              <a:t> by offering additional features like connection pooling, statement pooling, and data source management.</a:t>
            </a:r>
          </a:p>
          <a:p>
            <a:pPr algn="just" fontAlgn="base"/>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Components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r>
              <a:rPr lang="en-US" sz="2400" b="1" dirty="0" smtClean="0"/>
              <a:t>2. JDBC Driver Manager</a:t>
            </a:r>
            <a:endParaRPr lang="en-US" sz="2400" dirty="0" smtClean="0"/>
          </a:p>
          <a:p>
            <a:pPr algn="just" fontAlgn="base"/>
            <a:endParaRPr lang="en-US" sz="2400" dirty="0" smtClean="0"/>
          </a:p>
          <a:p>
            <a:pPr algn="just" fontAlgn="base"/>
            <a:r>
              <a:rPr lang="en-US" sz="2400" dirty="0" smtClean="0"/>
              <a:t>Driver manager is responsible for loading the correct database-specific driver to establish a connection with the database.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Components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r>
              <a:rPr lang="en-US" sz="2400" b="1" dirty="0" smtClean="0"/>
              <a:t>3. JDBC Test Suit</a:t>
            </a:r>
            <a:endParaRPr lang="en-US" sz="2400" dirty="0" smtClean="0"/>
          </a:p>
          <a:p>
            <a:pPr algn="just" fontAlgn="base"/>
            <a:endParaRPr lang="en-US" sz="2400" dirty="0" smtClean="0"/>
          </a:p>
          <a:p>
            <a:pPr algn="just" fontAlgn="base"/>
            <a:r>
              <a:rPr lang="en-US" sz="2400" dirty="0" smtClean="0"/>
              <a:t>It is used to test the operation(such as insertion, deletion, updating) being performed by JDBC Drivers.</a:t>
            </a:r>
          </a:p>
          <a:p>
            <a:pPr algn="just" fontAlgn="base"/>
            <a:endParaRPr lang="en-US" sz="2400" dirty="0" smtClean="0"/>
          </a:p>
          <a:p>
            <a:pPr algn="just" fontAlgn="base"/>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Components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r>
              <a:rPr lang="en-US" sz="2400" b="1" dirty="0" smtClean="0"/>
              <a:t>4. JDBC Drivers</a:t>
            </a:r>
            <a:endParaRPr lang="en-US" sz="2400" dirty="0" smtClean="0"/>
          </a:p>
          <a:p>
            <a:pPr algn="just" fontAlgn="base"/>
            <a:r>
              <a:rPr lang="en-US" sz="2400" dirty="0" smtClean="0"/>
              <a:t>JDBC drivers are client-side adapters (installed on the client machine, not on the server) that convert requests from Java programs to a protocol that the DBMS can understand.</a:t>
            </a:r>
          </a:p>
          <a:p>
            <a:pPr algn="just" fontAlgn="base"/>
            <a:endParaRPr lang="en-US" sz="2400" dirty="0" smtClean="0"/>
          </a:p>
          <a:p>
            <a:pPr fontAlgn="base"/>
            <a:r>
              <a:rPr lang="en-US" sz="2400" dirty="0" smtClean="0"/>
              <a:t>There are 4 types of JDBC drivers:</a:t>
            </a:r>
          </a:p>
          <a:p>
            <a:pPr fontAlgn="base"/>
            <a:r>
              <a:rPr lang="en-US" sz="2400" b="1" dirty="0" smtClean="0"/>
              <a:t>Type-1</a:t>
            </a:r>
            <a:r>
              <a:rPr lang="en-US" sz="2400" dirty="0" smtClean="0"/>
              <a:t> driver or JDBC-ODBC bridge driver</a:t>
            </a:r>
          </a:p>
          <a:p>
            <a:pPr fontAlgn="base"/>
            <a:r>
              <a:rPr lang="en-US" sz="2400" b="1" dirty="0" smtClean="0"/>
              <a:t>Type-2</a:t>
            </a:r>
            <a:r>
              <a:rPr lang="en-US" sz="2400" dirty="0" smtClean="0"/>
              <a:t> driver or Native-API driver (partially java driver)</a:t>
            </a:r>
          </a:p>
          <a:p>
            <a:pPr fontAlgn="base"/>
            <a:r>
              <a:rPr lang="en-US" sz="2400" b="1" dirty="0" smtClean="0"/>
              <a:t>Type-3</a:t>
            </a:r>
            <a:r>
              <a:rPr lang="en-US" sz="2400" dirty="0" smtClean="0"/>
              <a:t> driver or Network Protocol driver (fully java driver)</a:t>
            </a:r>
          </a:p>
          <a:p>
            <a:pPr fontAlgn="base"/>
            <a:r>
              <a:rPr lang="en-US" sz="2400" b="1" dirty="0" smtClean="0"/>
              <a:t>Type-4 </a:t>
            </a:r>
            <a:r>
              <a:rPr lang="en-US" sz="2400" dirty="0" smtClean="0"/>
              <a:t>driver or Thin driver (fully java driver) – It is a widely used driver. The older drivers like (JDBC-ODBC) bridge driver have been deprecated and no longer supported in modern versions of Java.</a:t>
            </a:r>
          </a:p>
          <a:p>
            <a:pPr algn="just" fontAlgn="base"/>
            <a:endParaRPr lang="en-US" sz="2400" dirty="0" smtClean="0"/>
          </a:p>
          <a:p>
            <a:pPr algn="just" fontAlgn="base"/>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Classes and Interfaces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buAutoNum type="arabicPeriod"/>
            </a:pPr>
            <a:r>
              <a:rPr lang="en-US" sz="2400" b="1" dirty="0" err="1" smtClean="0"/>
              <a:t>DriverManager</a:t>
            </a:r>
            <a:r>
              <a:rPr lang="en-US" sz="2400" b="1" dirty="0" smtClean="0"/>
              <a:t>:</a:t>
            </a:r>
            <a:r>
              <a:rPr lang="en-US" sz="2400" dirty="0" smtClean="0"/>
              <a:t> Manages JDBC drivers and establishes database connections. </a:t>
            </a:r>
          </a:p>
          <a:p>
            <a:pPr marL="457200" indent="-457200" algn="just" fontAlgn="base">
              <a:buAutoNum type="arabicPeriod"/>
            </a:pPr>
            <a:r>
              <a:rPr lang="en-US" sz="2400" b="1" dirty="0" smtClean="0"/>
              <a:t>Connection:</a:t>
            </a:r>
            <a:r>
              <a:rPr lang="en-US" sz="2400" dirty="0" smtClean="0"/>
              <a:t> Represents a session with a specific database.</a:t>
            </a:r>
          </a:p>
          <a:p>
            <a:pPr marL="457200" indent="-457200" algn="just" fontAlgn="base">
              <a:buAutoNum type="arabicPeriod"/>
            </a:pPr>
            <a:r>
              <a:rPr lang="en-US" sz="2400" b="1" dirty="0" smtClean="0"/>
              <a:t>Statement:</a:t>
            </a:r>
            <a:r>
              <a:rPr lang="en-US" sz="2400" dirty="0" smtClean="0"/>
              <a:t> Used to execute static SQL queries.</a:t>
            </a:r>
          </a:p>
          <a:p>
            <a:pPr marL="457200" indent="-457200" algn="just" fontAlgn="base">
              <a:buAutoNum type="arabicPeriod"/>
            </a:pPr>
            <a:r>
              <a:rPr lang="en-US" sz="2400" b="1" dirty="0" err="1" smtClean="0"/>
              <a:t>PreparedStatement</a:t>
            </a:r>
            <a:r>
              <a:rPr lang="en-US" sz="2400" b="1" dirty="0" smtClean="0"/>
              <a:t>:</a:t>
            </a:r>
            <a:r>
              <a:rPr lang="en-US" sz="2400" dirty="0" smtClean="0"/>
              <a:t> Precompiled SQL statement, used for dynamic queries with parameters.</a:t>
            </a:r>
          </a:p>
          <a:p>
            <a:pPr marL="457200" indent="-457200" algn="just" fontAlgn="base">
              <a:buAutoNum type="arabicPeriod"/>
            </a:pPr>
            <a:r>
              <a:rPr lang="en-US" sz="2400" b="1" dirty="0" err="1" smtClean="0"/>
              <a:t>CallableStatement</a:t>
            </a:r>
            <a:r>
              <a:rPr lang="en-US" sz="2400" b="1" dirty="0" smtClean="0"/>
              <a:t>:</a:t>
            </a:r>
            <a:r>
              <a:rPr lang="en-US" sz="2400" dirty="0" smtClean="0"/>
              <a:t> Used to execute stored procedures in the database.</a:t>
            </a:r>
          </a:p>
          <a:p>
            <a:pPr marL="457200" indent="-457200" algn="just" fontAlgn="base">
              <a:buAutoNum type="arabicPeriod"/>
            </a:pPr>
            <a:r>
              <a:rPr lang="en-US" sz="2400" b="1" dirty="0" err="1" smtClean="0"/>
              <a:t>ResultSet</a:t>
            </a:r>
            <a:r>
              <a:rPr lang="en-US" sz="2400" b="1" dirty="0" smtClean="0"/>
              <a:t>:</a:t>
            </a:r>
            <a:r>
              <a:rPr lang="en-US" sz="2400" dirty="0" smtClean="0"/>
              <a:t> Represents the result set of a query, allowing navigation through the rows.</a:t>
            </a:r>
          </a:p>
          <a:p>
            <a:pPr marL="457200" indent="-457200" algn="just" fontAlgn="base">
              <a:buAutoNum type="arabicPeriod"/>
            </a:pPr>
            <a:r>
              <a:rPr lang="en-US" sz="2400" b="1" dirty="0" err="1" smtClean="0"/>
              <a:t>SQLException</a:t>
            </a:r>
            <a:r>
              <a:rPr lang="en-US" sz="2400" b="1" dirty="0" smtClean="0"/>
              <a:t>:</a:t>
            </a:r>
            <a:r>
              <a:rPr lang="en-US" sz="2400" dirty="0" smtClean="0"/>
              <a:t> Handles SQL-related exceptions during database operations.</a:t>
            </a:r>
          </a:p>
          <a:p>
            <a:pPr marL="457200" indent="-457200" algn="just" fontAlgn="base"/>
            <a:endParaRPr lang="en-US" sz="2400" dirty="0" smtClean="0"/>
          </a:p>
          <a:p>
            <a:pPr marL="457200" indent="-457200" algn="just" fontAlgn="base"/>
            <a:endParaRPr lang="en-US" sz="2400" dirty="0" smtClean="0"/>
          </a:p>
          <a:p>
            <a:pPr marL="457200" indent="-457200" algn="just" fontAlgn="base"/>
            <a:endParaRPr lang="en-US" sz="2400" dirty="0" smtClean="0"/>
          </a:p>
          <a:p>
            <a:pPr marL="457200" indent="-457200" algn="just" fontAlgn="base"/>
            <a:r>
              <a:rPr lang="en-US" sz="2400" dirty="0" smtClean="0"/>
              <a:t> </a:t>
            </a:r>
            <a:br>
              <a:rPr lang="en-US" sz="2400" dirty="0" smtClean="0"/>
            </a:br>
            <a:endParaRPr lang="en-US" sz="2400" dirty="0" smtClean="0"/>
          </a:p>
          <a:p>
            <a:pPr algn="just" fontAlgn="base"/>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Key Features of JDBC</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360363" indent="-360363" algn="just" fontAlgn="base">
              <a:buFont typeface="Arial" pitchFamily="34" charset="0"/>
              <a:buChar char="•"/>
            </a:pPr>
            <a:r>
              <a:rPr lang="en-US" sz="2400" b="1" dirty="0" smtClean="0"/>
              <a:t>Platform Independence</a:t>
            </a:r>
            <a:r>
              <a:rPr lang="en-US" sz="2400" dirty="0" smtClean="0"/>
              <a:t>: JDBC can perform database operation on any platform</a:t>
            </a:r>
          </a:p>
          <a:p>
            <a:pPr marL="360363" indent="-360363" algn="just" fontAlgn="base">
              <a:buFont typeface="Arial" pitchFamily="34" charset="0"/>
              <a:buChar char="•"/>
            </a:pPr>
            <a:r>
              <a:rPr lang="en-US" sz="2400" b="1" dirty="0" smtClean="0"/>
              <a:t>Standard API</a:t>
            </a:r>
            <a:r>
              <a:rPr lang="en-US" sz="2400" dirty="0" smtClean="0"/>
              <a:t>: It provides different ways to interact with different databases.</a:t>
            </a:r>
          </a:p>
          <a:p>
            <a:pPr marL="360363" indent="-360363" algn="just" fontAlgn="base">
              <a:buFont typeface="Arial" pitchFamily="34" charset="0"/>
              <a:buChar char="•"/>
            </a:pPr>
            <a:r>
              <a:rPr lang="en-US" sz="2400" b="1" dirty="0" smtClean="0"/>
              <a:t>Support for Multiple Databases</a:t>
            </a:r>
            <a:r>
              <a:rPr lang="en-US" sz="2400" dirty="0" smtClean="0"/>
              <a:t>: JDBC provide support to work with different databases like </a:t>
            </a:r>
            <a:r>
              <a:rPr lang="en-US" sz="2400" dirty="0" err="1" smtClean="0"/>
              <a:t>MySQL</a:t>
            </a:r>
            <a:r>
              <a:rPr lang="en-US" sz="2400" dirty="0" smtClean="0"/>
              <a:t>, </a:t>
            </a:r>
            <a:r>
              <a:rPr lang="en-US" sz="2400" dirty="0" err="1" smtClean="0"/>
              <a:t>PostgreSQL</a:t>
            </a:r>
            <a:r>
              <a:rPr lang="en-US" sz="2400" dirty="0" smtClean="0"/>
              <a:t>, Oracle, etc.</a:t>
            </a:r>
          </a:p>
          <a:p>
            <a:pPr marL="457200" indent="-457200" algn="just" fontAlgn="base"/>
            <a:endParaRPr lang="en-US" sz="2400" dirty="0" smtClean="0"/>
          </a:p>
          <a:p>
            <a:pPr marL="457200" indent="-457200" algn="just" fontAlgn="base"/>
            <a:endParaRPr lang="en-US" sz="2400" dirty="0" smtClean="0"/>
          </a:p>
          <a:p>
            <a:pPr marL="457200" indent="-457200" algn="just" fontAlgn="base"/>
            <a:endParaRPr lang="en-US" sz="2400" dirty="0" smtClean="0"/>
          </a:p>
          <a:p>
            <a:pPr marL="457200" indent="-457200" algn="just" fontAlgn="base"/>
            <a:r>
              <a:rPr lang="en-US" sz="2400" dirty="0" smtClean="0"/>
              <a:t> </a:t>
            </a:r>
            <a:br>
              <a:rPr lang="en-US" sz="2400" dirty="0" smtClean="0"/>
            </a:br>
            <a:endParaRPr lang="en-US" sz="2400" dirty="0" smtClean="0"/>
          </a:p>
          <a:p>
            <a:pPr algn="just" fontAlgn="base"/>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360363" indent="-360363" algn="just" fontAlgn="base">
              <a:buFont typeface="Arial" pitchFamily="34" charset="0"/>
              <a:buChar char="•"/>
            </a:pPr>
            <a:r>
              <a:rPr lang="en-US" sz="2400" b="1" dirty="0" smtClean="0"/>
              <a:t>JDBC drivers</a:t>
            </a:r>
            <a:r>
              <a:rPr lang="en-US" sz="2400" dirty="0" smtClean="0"/>
              <a:t> are client-side adapters (installed on the client machine rather than the server) that translate requests from Java programs into a protocol understood by the DBMS.</a:t>
            </a:r>
          </a:p>
          <a:p>
            <a:pPr marL="360363" indent="-360363" algn="just" fontAlgn="base">
              <a:buFont typeface="Arial" pitchFamily="34" charset="0"/>
              <a:buChar char="•"/>
            </a:pPr>
            <a:endParaRPr lang="en-US" sz="2400" dirty="0" smtClean="0"/>
          </a:p>
          <a:p>
            <a:pPr algn="just" fontAlgn="base"/>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buAutoNum type="arabicPeriod"/>
            </a:pPr>
            <a:r>
              <a:rPr lang="en-US" sz="2400" b="1" dirty="0" smtClean="0"/>
              <a:t>JDBC-ODBC Bridge Driver – Type 1 Driver</a:t>
            </a:r>
          </a:p>
          <a:p>
            <a:pPr algn="just"/>
            <a:r>
              <a:rPr lang="en-US" sz="2400" dirty="0" smtClean="0"/>
              <a:t/>
            </a:r>
            <a:br>
              <a:rPr lang="en-US" sz="2400" dirty="0" smtClean="0"/>
            </a:br>
            <a:endParaRPr lang="en-US" sz="2400" dirty="0" smtClean="0"/>
          </a:p>
          <a:p>
            <a:pPr algn="just" fontAlgn="base"/>
            <a:endParaRPr lang="en-US" sz="2400" dirty="0"/>
          </a:p>
        </p:txBody>
      </p:sp>
      <p:pic>
        <p:nvPicPr>
          <p:cNvPr id="2050" name="Picture 2"/>
          <p:cNvPicPr>
            <a:picLocks noChangeAspect="1" noChangeArrowheads="1"/>
          </p:cNvPicPr>
          <p:nvPr/>
        </p:nvPicPr>
        <p:blipFill>
          <a:blip r:embed="rId3"/>
          <a:srcRect/>
          <a:stretch>
            <a:fillRect/>
          </a:stretch>
        </p:blipFill>
        <p:spPr bwMode="auto">
          <a:xfrm>
            <a:off x="756007" y="2073524"/>
            <a:ext cx="7467600" cy="3327400"/>
          </a:xfrm>
          <a:prstGeom prst="rect">
            <a:avLst/>
          </a:prstGeom>
          <a:noFill/>
          <a:ln w="9525">
            <a:noFill/>
            <a:miter lim="800000"/>
            <a:headEnd/>
            <a:tailEnd/>
          </a:ln>
          <a:effectLst/>
        </p:spPr>
      </p:pic>
      <p:sp>
        <p:nvSpPr>
          <p:cNvPr id="6" name="Rectangle 5"/>
          <p:cNvSpPr/>
          <p:nvPr/>
        </p:nvSpPr>
        <p:spPr>
          <a:xfrm>
            <a:off x="2697390" y="5432686"/>
            <a:ext cx="1786066" cy="307777"/>
          </a:xfrm>
          <a:prstGeom prst="rect">
            <a:avLst/>
          </a:prstGeom>
        </p:spPr>
        <p:txBody>
          <a:bodyPr wrap="none">
            <a:spAutoFit/>
          </a:bodyPr>
          <a:lstStyle/>
          <a:p>
            <a:pPr lvl="0" algn="ctr">
              <a:buSzPts val="1200"/>
            </a:pPr>
            <a:r>
              <a:rPr lang="en-US" dirty="0" smtClean="0">
                <a:solidFill>
                  <a:schemeClr val="dk1"/>
                </a:solidFill>
                <a:latin typeface="Calibri"/>
                <a:ea typeface="Calibri"/>
                <a:cs typeface="Calibri"/>
                <a:sym typeface="Calibri"/>
              </a:rPr>
              <a:t>Figure 2 Type-1 Driver</a:t>
            </a:r>
            <a:endParaRPr lang="en-US"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buAutoNum type="arabicPeriod"/>
            </a:pPr>
            <a:r>
              <a:rPr lang="en-US" sz="2400" b="1" dirty="0" smtClean="0"/>
              <a:t>JDBC-ODBC Bridge Driver – Type 1 Driver</a:t>
            </a:r>
          </a:p>
          <a:p>
            <a:pPr algn="just" fontAlgn="base"/>
            <a:endParaRPr lang="en-US" sz="2400" dirty="0" smtClean="0"/>
          </a:p>
          <a:p>
            <a:pPr algn="just" fontAlgn="base"/>
            <a:r>
              <a:rPr lang="en-US" sz="2400" dirty="0" smtClean="0"/>
              <a:t>Type-1 driver or JDBC-ODBC bridge driver uses ODBC driver to connect to the database. </a:t>
            </a:r>
          </a:p>
          <a:p>
            <a:pPr algn="just" fontAlgn="base"/>
            <a:endParaRPr lang="en-US" sz="2400" dirty="0" smtClean="0"/>
          </a:p>
          <a:p>
            <a:pPr algn="just" fontAlgn="base"/>
            <a:r>
              <a:rPr lang="en-US" sz="2400" dirty="0" smtClean="0"/>
              <a:t>The JDBC-ODBC bridge driver converts JDBC method calls into the ODBC function calls. </a:t>
            </a:r>
          </a:p>
          <a:p>
            <a:pPr algn="just" fontAlgn="base"/>
            <a:endParaRPr lang="en-US" sz="2400" dirty="0" smtClean="0"/>
          </a:p>
          <a:p>
            <a:pPr algn="just" fontAlgn="base"/>
            <a:r>
              <a:rPr lang="en-US" sz="2400" dirty="0" smtClean="0"/>
              <a:t>Type-1 driver is also called Universal driver because it can be used to connect to any of the databases.</a:t>
            </a:r>
          </a:p>
          <a:p>
            <a:pPr algn="just"/>
            <a:r>
              <a:rPr lang="en-US" sz="2400" dirty="0" smtClean="0"/>
              <a:t/>
            </a:r>
            <a:br>
              <a:rPr lang="en-US" sz="2400" dirty="0" smtClean="0"/>
            </a:br>
            <a:endParaRPr lang="en-US" sz="2400" b="1" dirty="0" smtClean="0"/>
          </a:p>
          <a:p>
            <a:pPr algn="just"/>
            <a:r>
              <a:rPr lang="en-US" sz="2400" dirty="0" smtClean="0"/>
              <a:t/>
            </a:r>
            <a:br>
              <a:rPr lang="en-US" sz="2400" dirty="0" smtClean="0"/>
            </a:br>
            <a:endParaRPr lang="en-US" sz="2400" dirty="0" smtClean="0"/>
          </a:p>
          <a:p>
            <a:pPr algn="just" fontAlgn="base"/>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buAutoNum type="arabicPeriod"/>
            </a:pPr>
            <a:r>
              <a:rPr lang="en-US" sz="2400" b="1" dirty="0" smtClean="0"/>
              <a:t>JDBC-ODBC Bridge Driver – Type 1 Driver</a:t>
            </a:r>
          </a:p>
          <a:p>
            <a:pPr algn="just" fontAlgn="base"/>
            <a:r>
              <a:rPr lang="en-US" sz="2400" b="1" dirty="0" smtClean="0"/>
              <a:t>Advantages</a:t>
            </a:r>
          </a:p>
          <a:p>
            <a:pPr marL="360363" indent="-360363" algn="just" fontAlgn="base">
              <a:buFont typeface="Arial" pitchFamily="34" charset="0"/>
              <a:buChar char="•"/>
            </a:pPr>
            <a:r>
              <a:rPr lang="en-US" sz="2400" dirty="0" smtClean="0"/>
              <a:t>This driver software is built-in with JDK so no need to install separately.</a:t>
            </a:r>
          </a:p>
          <a:p>
            <a:pPr marL="360363" indent="-360363" algn="just" fontAlgn="base">
              <a:buFont typeface="Arial" pitchFamily="34" charset="0"/>
              <a:buChar char="•"/>
            </a:pPr>
            <a:r>
              <a:rPr lang="en-US" sz="2400" dirty="0" smtClean="0"/>
              <a:t>It is a database independent driver.</a:t>
            </a:r>
          </a:p>
          <a:p>
            <a:pPr algn="just" fontAlgn="base"/>
            <a:r>
              <a:rPr lang="en-US" sz="2400" b="1" dirty="0" smtClean="0"/>
              <a:t>Disadvantages</a:t>
            </a:r>
          </a:p>
          <a:p>
            <a:pPr marL="360363" indent="-360363" algn="just" fontAlgn="base">
              <a:buFont typeface="Arial" pitchFamily="34" charset="0"/>
              <a:buChar char="•"/>
            </a:pPr>
            <a:r>
              <a:rPr lang="en-US" sz="2400" dirty="0" smtClean="0"/>
              <a:t>As a common driver is used in order to interact with different databases, the data transferred through this driver is not so secured.</a:t>
            </a:r>
          </a:p>
          <a:p>
            <a:pPr marL="360363" indent="-360363" algn="just" fontAlgn="base">
              <a:buFont typeface="Arial" pitchFamily="34" charset="0"/>
              <a:buChar char="•"/>
            </a:pPr>
            <a:r>
              <a:rPr lang="en-US" sz="2400" dirty="0" smtClean="0"/>
              <a:t>The ODBC bridge driver is needed to be installed in individual client machines.</a:t>
            </a:r>
          </a:p>
          <a:p>
            <a:pPr marL="360363" indent="-360363" algn="just" fontAlgn="base">
              <a:buFont typeface="Arial" pitchFamily="34" charset="0"/>
              <a:buChar char="•"/>
            </a:pPr>
            <a:r>
              <a:rPr lang="en-US" sz="2400" dirty="0" smtClean="0"/>
              <a:t>Type-1 driver isn’t written in java, that’s why it isn’t a portable driver.</a:t>
            </a:r>
          </a:p>
          <a:p>
            <a:pPr algn="just"/>
            <a:r>
              <a:rPr lang="en-US" sz="2400" dirty="0" smtClean="0"/>
              <a:t/>
            </a:r>
            <a:br>
              <a:rPr lang="en-US" sz="2400" dirty="0" smtClean="0"/>
            </a:br>
            <a:endParaRPr lang="en-US" sz="2400" b="1" dirty="0" smtClean="0"/>
          </a:p>
          <a:p>
            <a:pPr algn="just"/>
            <a:r>
              <a:rPr lang="en-US" sz="2400" dirty="0" smtClean="0"/>
              <a:t/>
            </a:r>
            <a:br>
              <a:rPr lang="en-US" sz="2400" dirty="0" smtClean="0"/>
            </a:br>
            <a:endParaRPr lang="en-US" sz="2400" dirty="0" smtClean="0"/>
          </a:p>
          <a:p>
            <a:pPr algn="just" fontAlgn="base"/>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fontAlgn="base"/>
            <a:r>
              <a:rPr lang="en-US" sz="2400" b="1" dirty="0" smtClean="0"/>
              <a:t>2. Native-API Driver – Type 2 Driver ( Partially Java Driver)</a:t>
            </a:r>
          </a:p>
          <a:p>
            <a:r>
              <a:rPr lang="en-US" sz="2400" dirty="0" smtClean="0"/>
              <a:t/>
            </a:r>
            <a:br>
              <a:rPr lang="en-US" sz="2400" dirty="0" smtClean="0"/>
            </a:br>
            <a:r>
              <a:rPr lang="en-US" sz="2400" dirty="0" smtClean="0"/>
              <a:t/>
            </a:r>
            <a:br>
              <a:rPr lang="en-US" sz="2400" dirty="0" smtClean="0"/>
            </a:br>
            <a:endParaRPr lang="en-US" sz="2400" dirty="0" smtClean="0"/>
          </a:p>
          <a:p>
            <a:pPr algn="just" fontAlgn="base"/>
            <a:endParaRPr lang="en-US" sz="2400" dirty="0"/>
          </a:p>
        </p:txBody>
      </p:sp>
      <p:sp>
        <p:nvSpPr>
          <p:cNvPr id="6" name="Rectangle 5"/>
          <p:cNvSpPr/>
          <p:nvPr/>
        </p:nvSpPr>
        <p:spPr>
          <a:xfrm>
            <a:off x="3889192" y="5473783"/>
            <a:ext cx="1786066" cy="307777"/>
          </a:xfrm>
          <a:prstGeom prst="rect">
            <a:avLst/>
          </a:prstGeom>
        </p:spPr>
        <p:txBody>
          <a:bodyPr wrap="none">
            <a:spAutoFit/>
          </a:bodyPr>
          <a:lstStyle/>
          <a:p>
            <a:pPr lvl="0" algn="ctr">
              <a:buSzPts val="1200"/>
            </a:pPr>
            <a:r>
              <a:rPr lang="en-US" dirty="0" smtClean="0">
                <a:solidFill>
                  <a:schemeClr val="dk1"/>
                </a:solidFill>
                <a:latin typeface="Calibri"/>
                <a:ea typeface="Calibri"/>
                <a:cs typeface="Calibri"/>
                <a:sym typeface="Calibri"/>
              </a:rPr>
              <a:t>Figure 3 Type-2 Driver</a:t>
            </a:r>
            <a:endParaRPr lang="en-US" dirty="0">
              <a:solidFill>
                <a:schemeClr val="dk1"/>
              </a:solidFill>
              <a:latin typeface="Calibri"/>
              <a:ea typeface="Calibri"/>
              <a:cs typeface="Calibri"/>
              <a:sym typeface="Calibri"/>
            </a:endParaRPr>
          </a:p>
        </p:txBody>
      </p:sp>
      <p:pic>
        <p:nvPicPr>
          <p:cNvPr id="3074" name="Picture 2"/>
          <p:cNvPicPr>
            <a:picLocks noChangeAspect="1" noChangeArrowheads="1"/>
          </p:cNvPicPr>
          <p:nvPr/>
        </p:nvPicPr>
        <p:blipFill>
          <a:blip r:embed="rId3"/>
          <a:srcRect/>
          <a:stretch>
            <a:fillRect/>
          </a:stretch>
        </p:blipFill>
        <p:spPr bwMode="auto">
          <a:xfrm>
            <a:off x="1165832" y="2318963"/>
            <a:ext cx="7264400" cy="31242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1023575"/>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403798" y="1522796"/>
            <a:ext cx="8349784" cy="4878003"/>
          </a:xfrm>
          <a:prstGeom prst="rect">
            <a:avLst/>
          </a:prstGeom>
          <a:noFill/>
          <a:ln>
            <a:noFill/>
          </a:ln>
        </p:spPr>
        <p:txBody>
          <a:bodyPr spcFirstLastPara="1" wrap="square" lIns="91425" tIns="45700" rIns="91425" bIns="45700" anchor="t" anchorCtr="0">
            <a:noAutofit/>
          </a:bodyPr>
          <a:lstStyle/>
          <a:p>
            <a:pPr marL="457200" indent="-457200" algn="just" fontAlgn="base">
              <a:buFont typeface="+mj-lt"/>
              <a:buAutoNum type="arabicPeriod" startAt="2"/>
            </a:pPr>
            <a:r>
              <a:rPr lang="en-US" sz="2400" b="1" dirty="0" smtClean="0"/>
              <a:t>Native-API Driver – Type 2 Driver ( Partially Java Driver)</a:t>
            </a:r>
          </a:p>
          <a:p>
            <a:pPr algn="just" fontAlgn="base"/>
            <a:endParaRPr lang="en-US" sz="2400" dirty="0" smtClean="0"/>
          </a:p>
          <a:p>
            <a:pPr algn="just" fontAlgn="base"/>
            <a:r>
              <a:rPr lang="en-US" sz="2400" dirty="0" smtClean="0"/>
              <a:t>The Native API driver uses the client -side libraries of the database. </a:t>
            </a:r>
          </a:p>
          <a:p>
            <a:pPr algn="just" fontAlgn="base"/>
            <a:r>
              <a:rPr lang="en-US" sz="2400" dirty="0" smtClean="0"/>
              <a:t>This driver converts JDBC method calls into native calls of the database API. </a:t>
            </a:r>
          </a:p>
          <a:p>
            <a:pPr algn="just" fontAlgn="base"/>
            <a:r>
              <a:rPr lang="en-US" sz="2400" dirty="0" smtClean="0"/>
              <a:t>In order to interact with different database, this driver needs their local API, that’s why data transfer is much more secure as compared to type-1 driver. </a:t>
            </a:r>
          </a:p>
          <a:p>
            <a:pPr algn="just" fontAlgn="base"/>
            <a:r>
              <a:rPr lang="en-US" sz="2400" dirty="0" smtClean="0"/>
              <a:t>This driver is not fully written in Java that is why it is also called Partially Java driver.</a:t>
            </a:r>
          </a:p>
          <a:p>
            <a:pPr algn="just" fontAlgn="base"/>
            <a:r>
              <a:rPr lang="en-US" sz="2400" dirty="0" smtClean="0"/>
              <a:t/>
            </a:r>
            <a:br>
              <a:rPr lang="en-US" sz="2400" dirty="0" smtClean="0"/>
            </a:br>
            <a:endParaRPr lang="en-US" sz="2400" b="1" dirty="0" smtClean="0"/>
          </a:p>
          <a:p>
            <a:pPr algn="just"/>
            <a:r>
              <a:rPr lang="en-US" sz="2400" dirty="0" smtClean="0"/>
              <a:t/>
            </a:r>
            <a:br>
              <a:rPr lang="en-US" sz="2400" dirty="0" smtClean="0"/>
            </a:br>
            <a:endParaRPr lang="en-US" sz="2400" dirty="0" smtClean="0"/>
          </a:p>
          <a:p>
            <a:pPr algn="just" fontAlgn="base"/>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marL="457200" indent="-457200" algn="just" fontAlgn="base">
              <a:buFont typeface="+mj-lt"/>
              <a:buAutoNum type="arabicPeriod" startAt="2"/>
            </a:pPr>
            <a:r>
              <a:rPr lang="en-US" sz="2400" b="1" dirty="0" smtClean="0"/>
              <a:t>Native-API Driver – Type 2 Driver ( Partially Java Driver)</a:t>
            </a:r>
          </a:p>
          <a:p>
            <a:pPr algn="just" fontAlgn="base"/>
            <a:r>
              <a:rPr lang="en-US" sz="2400" b="1" dirty="0" smtClean="0"/>
              <a:t>Advantages</a:t>
            </a:r>
          </a:p>
          <a:p>
            <a:pPr marL="360363" indent="-360363" algn="just" fontAlgn="base">
              <a:buFont typeface="Arial" pitchFamily="34" charset="0"/>
              <a:buChar char="•"/>
            </a:pPr>
            <a:r>
              <a:rPr lang="en-US" sz="2400" dirty="0" smtClean="0"/>
              <a:t>Native-API driver gives better performance than JDBC-ODBC bridge driver.</a:t>
            </a:r>
          </a:p>
          <a:p>
            <a:pPr marL="360363" indent="-360363" algn="just" fontAlgn="base">
              <a:buFont typeface="Arial" pitchFamily="34" charset="0"/>
              <a:buChar char="•"/>
            </a:pPr>
            <a:r>
              <a:rPr lang="en-US" sz="2400" dirty="0" smtClean="0"/>
              <a:t>More secure compared to the type-1 driver.</a:t>
            </a:r>
          </a:p>
          <a:p>
            <a:pPr algn="just" fontAlgn="base"/>
            <a:r>
              <a:rPr lang="en-US" sz="2400" b="1" dirty="0" smtClean="0"/>
              <a:t>Disadvantages</a:t>
            </a:r>
          </a:p>
          <a:p>
            <a:pPr marL="360363" indent="-360363" algn="just" fontAlgn="base">
              <a:buFont typeface="Arial" pitchFamily="34" charset="0"/>
              <a:buChar char="•"/>
            </a:pPr>
            <a:r>
              <a:rPr lang="en-US" sz="2400" dirty="0" smtClean="0"/>
              <a:t>Driver needs to be installed separately in individual client machines</a:t>
            </a:r>
          </a:p>
          <a:p>
            <a:pPr marL="360363" indent="-360363" algn="just" fontAlgn="base">
              <a:buFont typeface="Arial" pitchFamily="34" charset="0"/>
              <a:buChar char="•"/>
            </a:pPr>
            <a:r>
              <a:rPr lang="en-US" sz="2400" dirty="0" smtClean="0"/>
              <a:t>The Vendor client library needs to be installed on client machine.</a:t>
            </a:r>
          </a:p>
          <a:p>
            <a:pPr marL="360363" indent="-360363" algn="just" fontAlgn="base">
              <a:buFont typeface="Arial" pitchFamily="34" charset="0"/>
              <a:buChar char="•"/>
            </a:pPr>
            <a:r>
              <a:rPr lang="en-US" sz="2400" dirty="0" smtClean="0"/>
              <a:t>Type-2 driver isn’t written in java, that’s why it isn’t a portable driver</a:t>
            </a:r>
          </a:p>
          <a:p>
            <a:pPr marL="360363" indent="-360363" algn="just" fontAlgn="base">
              <a:buFont typeface="Arial" pitchFamily="34" charset="0"/>
              <a:buChar char="•"/>
            </a:pPr>
            <a:r>
              <a:rPr lang="en-US" sz="2400" dirty="0" smtClean="0"/>
              <a:t>It is a database dependent driver.</a:t>
            </a:r>
          </a:p>
          <a:p>
            <a:pPr algn="just"/>
            <a:r>
              <a:rPr lang="en-US" sz="2400" dirty="0" smtClean="0"/>
              <a:t/>
            </a:r>
            <a:br>
              <a:rPr lang="en-US" sz="2400" dirty="0" smtClean="0"/>
            </a:br>
            <a:endParaRPr lang="en-US" sz="2400" b="1" dirty="0" smtClean="0"/>
          </a:p>
          <a:p>
            <a:pPr algn="just"/>
            <a:r>
              <a:rPr lang="en-US" sz="2400" dirty="0" smtClean="0"/>
              <a:t/>
            </a:r>
            <a:br>
              <a:rPr lang="en-US" sz="2400" dirty="0" smtClean="0"/>
            </a:br>
            <a:endParaRPr lang="en-US" sz="2400" dirty="0" smtClean="0"/>
          </a:p>
          <a:p>
            <a:pPr algn="just" fontAlgn="base"/>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a:t>
            </a:r>
            <a:r>
              <a:rPr lang="nb-NO" sz="2400" b="1" dirty="0" smtClean="0"/>
              <a:t>Network Protocol Driver – Type 3 Driver (Fully Java Driver)</a:t>
            </a:r>
          </a:p>
          <a:p>
            <a:pPr algn="just" fontAlgn="base"/>
            <a:endParaRPr lang="en-US" sz="2400" dirty="0"/>
          </a:p>
        </p:txBody>
      </p:sp>
      <p:pic>
        <p:nvPicPr>
          <p:cNvPr id="4098" name="Picture 2"/>
          <p:cNvPicPr>
            <a:picLocks noChangeAspect="1" noChangeArrowheads="1"/>
          </p:cNvPicPr>
          <p:nvPr/>
        </p:nvPicPr>
        <p:blipFill>
          <a:blip r:embed="rId3"/>
          <a:srcRect/>
          <a:stretch>
            <a:fillRect/>
          </a:stretch>
        </p:blipFill>
        <p:spPr bwMode="auto">
          <a:xfrm>
            <a:off x="66675" y="2011166"/>
            <a:ext cx="9077325" cy="3657600"/>
          </a:xfrm>
          <a:prstGeom prst="rect">
            <a:avLst/>
          </a:prstGeom>
          <a:noFill/>
          <a:ln w="9525">
            <a:noFill/>
            <a:miter lim="800000"/>
            <a:headEnd/>
            <a:tailEnd/>
          </a:ln>
          <a:effectLst/>
        </p:spPr>
      </p:pic>
      <p:sp>
        <p:nvSpPr>
          <p:cNvPr id="6" name="Rectangle 5"/>
          <p:cNvSpPr/>
          <p:nvPr/>
        </p:nvSpPr>
        <p:spPr>
          <a:xfrm>
            <a:off x="3673435" y="5484057"/>
            <a:ext cx="1786066" cy="307777"/>
          </a:xfrm>
          <a:prstGeom prst="rect">
            <a:avLst/>
          </a:prstGeom>
        </p:spPr>
        <p:txBody>
          <a:bodyPr wrap="none">
            <a:spAutoFit/>
          </a:bodyPr>
          <a:lstStyle/>
          <a:p>
            <a:pPr lvl="0" algn="ctr">
              <a:buSzPts val="1200"/>
            </a:pPr>
            <a:r>
              <a:rPr lang="en-US" dirty="0" smtClean="0">
                <a:solidFill>
                  <a:schemeClr val="dk1"/>
                </a:solidFill>
                <a:latin typeface="Calibri"/>
                <a:ea typeface="Calibri"/>
                <a:cs typeface="Calibri"/>
                <a:sym typeface="Calibri"/>
              </a:rPr>
              <a:t>Figure 4 Type-3 Driver</a:t>
            </a:r>
            <a:endParaRPr lang="en-US" dirty="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a:t>
            </a:r>
            <a:r>
              <a:rPr lang="nb-NO" sz="2400" b="1" dirty="0" smtClean="0"/>
              <a:t>Network Protocol Driver – Type 3 Driver (Fully Java Driver)</a:t>
            </a:r>
          </a:p>
          <a:p>
            <a:pPr algn="just" fontAlgn="base"/>
            <a:endParaRPr lang="nb-NO" sz="2400" b="1" dirty="0" smtClean="0"/>
          </a:p>
          <a:p>
            <a:pPr algn="just" fontAlgn="base"/>
            <a:r>
              <a:rPr lang="en-US" sz="2400" dirty="0" smtClean="0"/>
              <a:t>The Network Protocol driver uses middleware (application server) that converts JDBC calls directly or indirectly into the vendor-specific database protocol. </a:t>
            </a:r>
          </a:p>
          <a:p>
            <a:pPr algn="just" fontAlgn="base"/>
            <a:endParaRPr lang="en-US" sz="2400" dirty="0" smtClean="0"/>
          </a:p>
          <a:p>
            <a:pPr algn="just" fontAlgn="base"/>
            <a:r>
              <a:rPr lang="en-US" sz="2400" dirty="0" smtClean="0"/>
              <a:t>Here all the database connectivity drivers are present in a single server, hence no need of individual client-side installation.</a:t>
            </a:r>
            <a:endParaRPr lang="nb-NO" sz="2400" b="1" dirty="0" smtClean="0"/>
          </a:p>
          <a:p>
            <a:pPr algn="just" fontAlgn="base"/>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a:t>
            </a:r>
            <a:r>
              <a:rPr lang="nb-NO" sz="2400" b="1" dirty="0" smtClean="0"/>
              <a:t>Network Protocol Driver – Type 3 Driver (Fully Java Driver)</a:t>
            </a:r>
          </a:p>
          <a:p>
            <a:pPr fontAlgn="base"/>
            <a:r>
              <a:rPr lang="en-US" sz="2400" b="1" dirty="0" smtClean="0"/>
              <a:t>Advantages</a:t>
            </a:r>
          </a:p>
          <a:p>
            <a:pPr marL="360363" indent="-360363" algn="just" fontAlgn="base">
              <a:buFont typeface="Arial" pitchFamily="34" charset="0"/>
              <a:buChar char="•"/>
            </a:pPr>
            <a:r>
              <a:rPr lang="en-US" sz="2400" dirty="0" smtClean="0"/>
              <a:t>Type-3 drivers are fully written in Java, hence they are portable drivers.</a:t>
            </a:r>
          </a:p>
          <a:p>
            <a:pPr marL="360363" indent="-360363" algn="just" fontAlgn="base">
              <a:buFont typeface="Arial" pitchFamily="34" charset="0"/>
              <a:buChar char="•"/>
            </a:pPr>
            <a:r>
              <a:rPr lang="en-US" sz="2400" dirty="0" smtClean="0"/>
              <a:t>No client side library is required because of application server that can perform many tasks like auditing, load balancing, logging etc.</a:t>
            </a:r>
          </a:p>
          <a:p>
            <a:pPr marL="360363" indent="-360363" algn="just" fontAlgn="base">
              <a:buFont typeface="Arial" pitchFamily="34" charset="0"/>
              <a:buChar char="•"/>
            </a:pPr>
            <a:r>
              <a:rPr lang="en-US" sz="2400" dirty="0" smtClean="0"/>
              <a:t>Switch facility to switch over from one database to another database.</a:t>
            </a:r>
          </a:p>
          <a:p>
            <a:pPr algn="just" fontAlgn="base"/>
            <a:endParaRPr lang="nb-NO" sz="2400" b="1" dirty="0" smtClean="0"/>
          </a:p>
          <a:p>
            <a:pPr algn="just" fontAlgn="base"/>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a:t>
            </a:r>
            <a:r>
              <a:rPr lang="nb-NO" sz="2400" b="1" dirty="0" smtClean="0"/>
              <a:t>Network Protocol Driver – Type 3 Driver (Fully Java Driver)</a:t>
            </a:r>
          </a:p>
          <a:p>
            <a:pPr algn="just" fontAlgn="base"/>
            <a:endParaRPr lang="nb-NO" sz="2400" b="1" dirty="0" smtClean="0"/>
          </a:p>
          <a:p>
            <a:pPr fontAlgn="base"/>
            <a:r>
              <a:rPr lang="en-US" sz="2400" b="1" dirty="0" smtClean="0"/>
              <a:t>Disadvantages</a:t>
            </a:r>
          </a:p>
          <a:p>
            <a:pPr marL="360363" indent="-360363" algn="just" fontAlgn="base">
              <a:buFont typeface="Arial" pitchFamily="34" charset="0"/>
              <a:buChar char="•"/>
            </a:pPr>
            <a:r>
              <a:rPr lang="en-US" sz="2400" dirty="0" smtClean="0"/>
              <a:t>Network support is required on client machine.</a:t>
            </a:r>
          </a:p>
          <a:p>
            <a:pPr marL="360363" indent="-360363" algn="just" fontAlgn="base">
              <a:buFont typeface="Arial" pitchFamily="34" charset="0"/>
              <a:buChar char="•"/>
            </a:pPr>
            <a:r>
              <a:rPr lang="en-US" sz="2400" dirty="0" smtClean="0"/>
              <a:t>Maintenance of Network Protocol driver becomes costly because it requires database-specific coding to be done in the middle tier.</a:t>
            </a:r>
          </a:p>
          <a:p>
            <a:pPr algn="just" fontAlgn="base"/>
            <a:endParaRPr lang="nb-NO" sz="2400" b="1" dirty="0" smtClean="0"/>
          </a:p>
          <a:p>
            <a:pPr algn="just" fontAlgn="base"/>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Thin Driver – Type 4 Driver (Fully Java Driver)</a:t>
            </a:r>
            <a:endParaRPr lang="nb-NO" sz="2400" b="1" dirty="0" smtClean="0"/>
          </a:p>
          <a:p>
            <a:pPr algn="just" fontAlgn="base"/>
            <a:endParaRPr lang="nb-NO" sz="2400" b="1" dirty="0" smtClean="0"/>
          </a:p>
          <a:p>
            <a:pPr algn="just" fontAlgn="base"/>
            <a:r>
              <a:rPr lang="en-US" sz="2400" dirty="0" smtClean="0"/>
              <a:t>Type-4 driver is also called native protocol driver. This driver interact directly with database. It does not require any native database library, that is why it is also known as Thin Driver.</a:t>
            </a:r>
            <a:endParaRPr lang="nb-NO" sz="2400" b="1" dirty="0" smtClean="0"/>
          </a:p>
          <a:p>
            <a:pPr algn="just" fontAlgn="base"/>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Thin Driver – Type 4 Driver (Fully Java Driver)</a:t>
            </a:r>
            <a:endParaRPr lang="nb-NO" sz="2400" b="1" dirty="0" smtClean="0"/>
          </a:p>
          <a:p>
            <a:pPr algn="just" fontAlgn="base"/>
            <a:endParaRPr lang="nb-NO" sz="2400" b="1" dirty="0" smtClean="0"/>
          </a:p>
        </p:txBody>
      </p:sp>
      <p:pic>
        <p:nvPicPr>
          <p:cNvPr id="5122" name="Picture 2"/>
          <p:cNvPicPr>
            <a:picLocks noChangeAspect="1" noChangeArrowheads="1"/>
          </p:cNvPicPr>
          <p:nvPr/>
        </p:nvPicPr>
        <p:blipFill>
          <a:blip r:embed="rId3"/>
          <a:srcRect/>
          <a:stretch>
            <a:fillRect/>
          </a:stretch>
        </p:blipFill>
        <p:spPr bwMode="auto">
          <a:xfrm>
            <a:off x="365696" y="1736226"/>
            <a:ext cx="8515350" cy="3981450"/>
          </a:xfrm>
          <a:prstGeom prst="rect">
            <a:avLst/>
          </a:prstGeom>
          <a:noFill/>
          <a:ln w="9525">
            <a:noFill/>
            <a:miter lim="800000"/>
            <a:headEnd/>
            <a:tailEnd/>
          </a:ln>
          <a:effectLst/>
        </p:spPr>
      </p:pic>
      <p:sp>
        <p:nvSpPr>
          <p:cNvPr id="6" name="Rectangle 5"/>
          <p:cNvSpPr/>
          <p:nvPr/>
        </p:nvSpPr>
        <p:spPr>
          <a:xfrm>
            <a:off x="3673435" y="5484057"/>
            <a:ext cx="1786066" cy="307777"/>
          </a:xfrm>
          <a:prstGeom prst="rect">
            <a:avLst/>
          </a:prstGeom>
        </p:spPr>
        <p:txBody>
          <a:bodyPr wrap="none">
            <a:spAutoFit/>
          </a:bodyPr>
          <a:lstStyle/>
          <a:p>
            <a:pPr lvl="0" algn="ctr">
              <a:buSzPts val="1200"/>
            </a:pPr>
            <a:r>
              <a:rPr lang="en-US" dirty="0" smtClean="0">
                <a:solidFill>
                  <a:schemeClr val="dk1"/>
                </a:solidFill>
                <a:latin typeface="Calibri"/>
                <a:ea typeface="Calibri"/>
                <a:cs typeface="Calibri"/>
                <a:sym typeface="Calibri"/>
              </a:rPr>
              <a:t>Figure 5 Type-4 Driver</a:t>
            </a:r>
            <a:endParaRPr lang="en-US" dirty="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algn="just" fontAlgn="base"/>
            <a:r>
              <a:rPr lang="en-US" sz="2400" b="1" dirty="0" smtClean="0"/>
              <a:t>3. Thin Driver – Type 4 Driver (Fully Java Driver)</a:t>
            </a:r>
          </a:p>
          <a:p>
            <a:pPr algn="just" fontAlgn="base"/>
            <a:endParaRPr lang="en-US" sz="2400" b="1" dirty="0" smtClean="0"/>
          </a:p>
          <a:p>
            <a:pPr algn="just" fontAlgn="base"/>
            <a:r>
              <a:rPr lang="en-US" sz="2400" b="1" dirty="0" smtClean="0"/>
              <a:t>Advantages</a:t>
            </a:r>
          </a:p>
          <a:p>
            <a:pPr marL="360363" indent="-360363" algn="just" fontAlgn="base">
              <a:buFont typeface="Arial" pitchFamily="34" charset="0"/>
              <a:buChar char="•"/>
            </a:pPr>
            <a:r>
              <a:rPr lang="en-US" sz="2400" dirty="0" smtClean="0"/>
              <a:t>Does not require any native library and Middleware server, so no client-side or server-side installation.</a:t>
            </a:r>
          </a:p>
          <a:p>
            <a:pPr marL="360363" indent="-360363" algn="just" fontAlgn="base">
              <a:buFont typeface="Arial" pitchFamily="34" charset="0"/>
              <a:buChar char="•"/>
            </a:pPr>
            <a:r>
              <a:rPr lang="en-US" sz="2400" dirty="0" smtClean="0"/>
              <a:t>It is fully written in Java language, hence they are portable drivers.</a:t>
            </a:r>
          </a:p>
          <a:p>
            <a:pPr algn="just" fontAlgn="base"/>
            <a:endParaRPr lang="nb-NO" sz="2400" b="1" dirty="0" smtClean="0"/>
          </a:p>
          <a:p>
            <a:pPr algn="just" fontAlgn="base"/>
            <a:r>
              <a:rPr lang="en-US" sz="2400" b="1" dirty="0" smtClean="0"/>
              <a:t>Disadvantage</a:t>
            </a:r>
          </a:p>
          <a:p>
            <a:pPr marL="360363" indent="-360363" algn="just" fontAlgn="base">
              <a:buFont typeface="Arial" pitchFamily="34" charset="0"/>
              <a:buChar char="•"/>
            </a:pPr>
            <a:r>
              <a:rPr lang="en-US" sz="2400" dirty="0" smtClean="0"/>
              <a:t>If the database changes, a new driver may be needed.</a:t>
            </a:r>
          </a:p>
          <a:p>
            <a:pPr algn="just" fontAlgn="base"/>
            <a:endParaRPr lang="nb-NO" sz="2400" b="1" dirty="0" smtClean="0"/>
          </a:p>
          <a:p>
            <a:pPr algn="just" fontAlgn="base"/>
            <a:endParaRPr lang="nb-NO" sz="2400" b="1"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3264a707208_0_1"/>
          <p:cNvSpPr/>
          <p:nvPr/>
        </p:nvSpPr>
        <p:spPr>
          <a:xfrm>
            <a:off x="354575" y="920833"/>
            <a:ext cx="69069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smtClean="0">
                <a:solidFill>
                  <a:schemeClr val="bg2"/>
                </a:solidFill>
                <a:latin typeface="Arial"/>
                <a:ea typeface="Arial"/>
                <a:cs typeface="Arial"/>
                <a:sym typeface="Arial"/>
              </a:rPr>
              <a:t>JDBC Drivers</a:t>
            </a:r>
            <a:endParaRPr sz="2400" b="1" i="0" u="none" strike="noStrike" cap="none">
              <a:solidFill>
                <a:schemeClr val="bg2"/>
              </a:solidFill>
              <a:latin typeface="Arial"/>
              <a:ea typeface="Arial"/>
              <a:cs typeface="Arial"/>
              <a:sym typeface="Arial"/>
            </a:endParaRPr>
          </a:p>
        </p:txBody>
      </p:sp>
      <p:cxnSp>
        <p:nvCxnSpPr>
          <p:cNvPr id="59" name="Google Shape;59;g3264a707208_0_1"/>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62" name="Google Shape;62;g3264a707208_0_1"/>
          <p:cNvSpPr/>
          <p:nvPr/>
        </p:nvSpPr>
        <p:spPr>
          <a:xfrm>
            <a:off x="383250" y="1276216"/>
            <a:ext cx="8349784" cy="5093761"/>
          </a:xfrm>
          <a:prstGeom prst="rect">
            <a:avLst/>
          </a:prstGeom>
          <a:noFill/>
          <a:ln>
            <a:noFill/>
          </a:ln>
        </p:spPr>
        <p:txBody>
          <a:bodyPr spcFirstLastPara="1" wrap="square" lIns="91425" tIns="45700" rIns="91425" bIns="45700" anchor="t" anchorCtr="0">
            <a:noAutofit/>
          </a:bodyPr>
          <a:lstStyle/>
          <a:p>
            <a:pPr fontAlgn="base"/>
            <a:r>
              <a:rPr lang="en-US" sz="2400" b="1" dirty="0" smtClean="0"/>
              <a:t>Which Driver to use When?</a:t>
            </a:r>
          </a:p>
          <a:p>
            <a:pPr marL="360363" indent="-360363" algn="just" fontAlgn="base">
              <a:buFont typeface="Arial" pitchFamily="34" charset="0"/>
              <a:buChar char="•"/>
            </a:pPr>
            <a:r>
              <a:rPr lang="en-US" sz="2400" dirty="0" smtClean="0"/>
              <a:t>If you are accessing one type of database, such as Oracle, Sybase, or IBM, the preferred driver type is type-4.</a:t>
            </a:r>
          </a:p>
          <a:p>
            <a:pPr marL="360363" indent="-360363" algn="just" fontAlgn="base">
              <a:buFont typeface="Arial" pitchFamily="34" charset="0"/>
              <a:buChar char="•"/>
            </a:pPr>
            <a:r>
              <a:rPr lang="en-US" sz="2400" dirty="0" smtClean="0"/>
              <a:t>If your Java application is accessing multiple types of databases at the same time, type 3 is the preferred driver.</a:t>
            </a:r>
          </a:p>
          <a:p>
            <a:pPr marL="360363" indent="-360363" algn="just" fontAlgn="base">
              <a:buFont typeface="Arial" pitchFamily="34" charset="0"/>
              <a:buChar char="•"/>
            </a:pPr>
            <a:r>
              <a:rPr lang="en-US" sz="2400" dirty="0" smtClean="0"/>
              <a:t>Type 2 drivers are useful in situations, where a type 3 or type 4 driver is not available yet for your database.</a:t>
            </a:r>
          </a:p>
          <a:p>
            <a:pPr marL="360363" indent="-360363" algn="just" fontAlgn="base">
              <a:buFont typeface="Arial" pitchFamily="34" charset="0"/>
              <a:buChar char="•"/>
            </a:pPr>
            <a:r>
              <a:rPr lang="en-US" sz="2400" dirty="0" smtClean="0"/>
              <a:t>The type 1 driver is not considered a deployment-level driver, and is typically used for development and testing purposes only</a:t>
            </a:r>
          </a:p>
          <a:p>
            <a:pPr algn="just" fontAlgn="base"/>
            <a:endParaRPr lang="nb-NO" sz="2400" b="1" dirty="0" smtClean="0"/>
          </a:p>
          <a:p>
            <a:pPr algn="just" fontAlgn="base"/>
            <a:endParaRPr lang="nb-NO" sz="2400" b="1"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i="0" u="none" strike="noStrike" cap="none" dirty="0" smtClean="0">
                <a:solidFill>
                  <a:srgbClr val="FF0000"/>
                </a:solidFill>
                <a:latin typeface="Arial"/>
                <a:ea typeface="Arial"/>
                <a:cs typeface="Arial"/>
                <a:sym typeface="Arial"/>
              </a:rPr>
              <a:t>Book Reference</a:t>
            </a:r>
            <a:br>
              <a:rPr lang="en-US" sz="1200" b="1" i="0" u="none" strike="noStrike" cap="none" dirty="0" smtClean="0">
                <a:solidFill>
                  <a:srgbClr val="FF0000"/>
                </a:solidFill>
                <a:latin typeface="Arial"/>
                <a:ea typeface="Arial"/>
                <a:cs typeface="Arial"/>
                <a:sym typeface="Arial"/>
              </a:rPr>
            </a:br>
            <a:r>
              <a:rPr lang="en-US" sz="1200" dirty="0" smtClean="0">
                <a:solidFill>
                  <a:srgbClr val="FF0000"/>
                </a:solidFill>
              </a:rPr>
              <a:t>Jim Farley, William Crawford, David </a:t>
            </a:r>
            <a:r>
              <a:rPr lang="en-US" sz="1200" dirty="0" smtClean="0">
                <a:solidFill>
                  <a:srgbClr val="FF0000"/>
                </a:solidFill>
              </a:rPr>
              <a:t>Flanagan</a:t>
            </a:r>
            <a:r>
              <a:rPr lang="en-US" sz="1200" dirty="0" smtClean="0">
                <a:solidFill>
                  <a:srgbClr val="FF0000"/>
                </a:solidFill>
              </a:rPr>
              <a:t>. Java Enterprise in a </a:t>
            </a:r>
            <a:r>
              <a:rPr lang="en-US" sz="1200" dirty="0" smtClean="0">
                <a:solidFill>
                  <a:srgbClr val="FF0000"/>
                </a:solidFill>
              </a:rPr>
              <a:t>Nutshell, O'Reilly</a:t>
            </a:r>
            <a:endParaRPr sz="1200" b="0" i="0" u="none" strike="noStrike" cap="none" smtClean="0">
              <a:solidFill>
                <a:srgbClr val="FF0000"/>
              </a:solidFill>
              <a:latin typeface="Arial"/>
              <a:ea typeface="Arial"/>
              <a:cs typeface="Arial"/>
              <a:sym typeface="Arial"/>
            </a:endParaRP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endParaRPr sz="1200" b="1" i="0" u="none" strike="noStrike" cap="none" smtClean="0">
              <a:solidFill>
                <a:srgbClr val="FF0000"/>
              </a:solidFill>
              <a:latin typeface="Arial"/>
              <a:ea typeface="Arial"/>
              <a:cs typeface="Arial"/>
              <a:sym typeface="Arial"/>
            </a:endParaRP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sz="1200" b="1" i="0" u="none" strike="noStrike" cap="none" smtClean="0">
              <a:solidFill>
                <a:srgbClr val="FF0000"/>
              </a:solidFill>
              <a:latin typeface="Arial"/>
              <a:ea typeface="Arial"/>
              <a:cs typeface="Arial"/>
              <a:sym typeface="Arial"/>
            </a:endParaRPr>
          </a:p>
          <a:p>
            <a:pPr marL="457200" marR="0" lvl="0" indent="-304800" algn="l" rtl="0">
              <a:lnSpc>
                <a:spcPct val="150000"/>
              </a:lnSpc>
              <a:spcBef>
                <a:spcPts val="0"/>
              </a:spcBef>
              <a:spcAft>
                <a:spcPts val="0"/>
              </a:spcAft>
              <a:buClr>
                <a:schemeClr val="dk1"/>
              </a:buClr>
              <a:buSzPts val="1200"/>
              <a:buFont typeface="+mj-lt"/>
              <a:buAutoNum type="arabicPeriod" startAt="3"/>
            </a:pPr>
            <a:r>
              <a:rPr lang="en-US" sz="1200" b="1" i="0" u="none" strike="noStrike" cap="none" dirty="0" smtClean="0">
                <a:solidFill>
                  <a:srgbClr val="FF0000"/>
                </a:solidFill>
                <a:latin typeface="Arial"/>
                <a:ea typeface="Arial"/>
                <a:cs typeface="Arial"/>
                <a:sym typeface="Arial"/>
              </a:rPr>
              <a:t>Website </a:t>
            </a:r>
            <a:r>
              <a:rPr lang="en-US" sz="1200" b="1" i="0" u="none" strike="noStrike" cap="none" dirty="0" smtClean="0">
                <a:solidFill>
                  <a:srgbClr val="FF0000"/>
                </a:solidFill>
                <a:latin typeface="Arial"/>
                <a:ea typeface="Arial"/>
                <a:cs typeface="Arial"/>
                <a:sym typeface="Arial"/>
              </a:rPr>
              <a:t>Reference</a:t>
            </a:r>
            <a:endParaRPr sz="1200" b="1" i="0" u="none" strike="noStrike" cap="none" smtClean="0">
              <a:solidFill>
                <a:srgbClr val="FF0000"/>
              </a:solidFill>
              <a:latin typeface="Arial"/>
              <a:ea typeface="Arial"/>
              <a:cs typeface="Arial"/>
              <a:sym typeface="Arial"/>
            </a:endParaRPr>
          </a:p>
          <a:p>
            <a:pPr marL="457200" lvl="0">
              <a:lnSpc>
                <a:spcPct val="150000"/>
              </a:lnSpc>
              <a:buSzPts val="1200"/>
            </a:pPr>
            <a:r>
              <a:rPr lang="en-US" sz="1200" dirty="0" smtClean="0">
                <a:solidFill>
                  <a:srgbClr val="FF0000"/>
                </a:solidFill>
              </a:rPr>
              <a:t>https://www.scribd.com/document/268349254/Java-8-Programming-Black-Book </a:t>
            </a:r>
            <a:r>
              <a:rPr lang="en-US" sz="1200" b="0" i="0" u="none" strike="noStrike" cap="none" dirty="0" smtClean="0">
                <a:solidFill>
                  <a:srgbClr val="FF0000"/>
                </a:solidFill>
                <a:latin typeface="Arial"/>
                <a:ea typeface="Arial"/>
                <a:cs typeface="Arial"/>
                <a:sym typeface="Arial"/>
              </a:rPr>
              <a:t>.</a:t>
            </a:r>
            <a:endParaRPr lang="en-US" sz="1200" b="0" i="0" u="none" strike="noStrike" cap="none" dirty="0" smtClean="0">
              <a:solidFill>
                <a:srgbClr val="FF0000"/>
              </a:solidFill>
              <a:latin typeface="Arial"/>
              <a:ea typeface="Arial"/>
              <a:cs typeface="Arial"/>
              <a:sym typeface="Arial"/>
            </a:endParaRPr>
          </a:p>
          <a:p>
            <a:pPr marL="457200" marR="0" lvl="0" indent="-304800" algn="l" rtl="0">
              <a:lnSpc>
                <a:spcPct val="150000"/>
              </a:lnSpc>
              <a:spcBef>
                <a:spcPts val="0"/>
              </a:spcBef>
              <a:spcAft>
                <a:spcPts val="0"/>
              </a:spcAft>
              <a:buClr>
                <a:schemeClr val="dk1"/>
              </a:buClr>
              <a:buSzPts val="1200"/>
              <a:buFont typeface="Arial"/>
              <a:buAutoNum type="arabicPeriod" startAt="4"/>
            </a:pPr>
            <a:r>
              <a:rPr lang="en-US" sz="1200" b="1" i="0" u="none" strike="noStrike" cap="none" dirty="0" smtClean="0">
                <a:solidFill>
                  <a:srgbClr val="FF0000"/>
                </a:solidFill>
                <a:latin typeface="Arial"/>
                <a:ea typeface="Arial"/>
                <a:cs typeface="Arial"/>
                <a:sym typeface="Arial"/>
              </a:rPr>
              <a:t>Sources</a:t>
            </a:r>
            <a:endParaRPr lang="en-US" sz="1200" b="1" i="0" u="none" strike="noStrike" cap="none" dirty="0" smtClean="0">
              <a:solidFill>
                <a:srgbClr val="FF0000"/>
              </a:solidFill>
              <a:latin typeface="Arial"/>
              <a:ea typeface="Arial"/>
              <a:cs typeface="Arial"/>
              <a:sym typeface="Arial"/>
            </a:endParaRPr>
          </a:p>
          <a:p>
            <a:pPr marL="452438" lvl="2">
              <a:lnSpc>
                <a:spcPct val="150000"/>
              </a:lnSpc>
              <a:buClr>
                <a:schemeClr val="dk1"/>
              </a:buClr>
              <a:buSzPts val="1200"/>
            </a:pPr>
            <a:r>
              <a:rPr lang="en-US" sz="1200" dirty="0" smtClean="0">
                <a:solidFill>
                  <a:srgbClr val="FF0000"/>
                </a:solidFill>
              </a:rPr>
              <a:t>https</a:t>
            </a:r>
            <a:r>
              <a:rPr lang="en-US" sz="1200" dirty="0" smtClean="0">
                <a:solidFill>
                  <a:srgbClr val="FF0000"/>
                </a:solidFill>
              </a:rPr>
              <a:t>://developers.redhat.com/topics/enterprise-java</a:t>
            </a:r>
            <a:endParaRPr lang="en-US" sz="1200" b="1" i="0" u="none" strike="noStrike" cap="none" dirty="0" smtClean="0">
              <a:solidFill>
                <a:srgbClr val="FF0000"/>
              </a:solidFill>
              <a:latin typeface="Arial"/>
              <a:ea typeface="Arial"/>
              <a:cs typeface="Arial"/>
              <a:sym typeface="Arial"/>
            </a:endParaRPr>
          </a:p>
          <a:p>
            <a:pPr marL="457200" marR="0" lvl="0" indent="-304800" algn="l" rtl="0">
              <a:lnSpc>
                <a:spcPct val="150000"/>
              </a:lnSpc>
              <a:spcBef>
                <a:spcPts val="0"/>
              </a:spcBef>
              <a:spcAft>
                <a:spcPts val="0"/>
              </a:spcAft>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IN" sz="1200" dirty="0" smtClean="0">
                <a:solidFill>
                  <a:srgbClr val="FF0000"/>
                </a:solidFill>
              </a:rPr>
              <a:t>https</a:t>
            </a:r>
            <a:r>
              <a:rPr lang="en-IN" sz="1200" dirty="0" smtClean="0">
                <a:solidFill>
                  <a:srgbClr val="FF0000"/>
                </a:solidFill>
              </a:rPr>
              <a:t>://www.researchgate.net/publication/276412369_Advanced_Java_Programming</a:t>
            </a:r>
            <a:endParaRPr sz="1200" i="0" u="none" strike="noStrike" cap="none" smtClean="0">
              <a:solidFill>
                <a:srgbClr val="FF0000"/>
              </a:solidFill>
              <a:sym typeface="Arial"/>
            </a:endParaRPr>
          </a:p>
          <a:p>
            <a:pPr marL="457200" marR="0" lvl="0" indent="0" algn="l" rtl="0">
              <a:lnSpc>
                <a:spcPct val="150000"/>
              </a:lnSpc>
              <a:spcBef>
                <a:spcPts val="0"/>
              </a:spcBef>
              <a:spcAft>
                <a:spcPts val="0"/>
              </a:spcAft>
              <a:buClr>
                <a:srgbClr val="000000"/>
              </a:buClr>
              <a:buSzPts val="1200"/>
              <a:buFont typeface="Arial"/>
              <a:buNone/>
            </a:pPr>
            <a:endParaRPr lang="en-US" sz="1200" b="0" i="0" u="none" strike="noStrike" cap="none" dirty="0" smtClean="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TotalTime>
  <Words>1156</Words>
  <Application>Microsoft Office PowerPoint</Application>
  <PresentationFormat>On-screen Show (4:3)</PresentationFormat>
  <Paragraphs>188</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31</cp:revision>
  <dcterms:created xsi:type="dcterms:W3CDTF">2024-12-13T07:18:04Z</dcterms:created>
  <dcterms:modified xsi:type="dcterms:W3CDTF">2025-05-17T05:23:29Z</dcterms:modified>
</cp:coreProperties>
</file>