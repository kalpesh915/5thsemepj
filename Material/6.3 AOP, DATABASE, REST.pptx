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88" r:id="rId4"/>
    <p:sldId id="344" r:id="rId5"/>
    <p:sldId id="345" r:id="rId6"/>
    <p:sldId id="348" r:id="rId7"/>
    <p:sldId id="350" r:id="rId8"/>
    <p:sldId id="351" r:id="rId9"/>
    <p:sldId id="352" r:id="rId10"/>
    <p:sldId id="353" r:id="rId11"/>
    <p:sldId id="346" r:id="rId12"/>
    <p:sldId id="347" r:id="rId13"/>
    <p:sldId id="349" r:id="rId14"/>
    <p:sldId id="262" r:id="rId15"/>
    <p:sldId id="263"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Chapter-6: </a:t>
            </a:r>
            <a:r>
              <a:rPr lang="en-US" sz="3000" b="1" dirty="0" smtClean="0">
                <a:solidFill>
                  <a:srgbClr val="FFFFFF"/>
                </a:solidFill>
                <a:latin typeface="Calibri"/>
                <a:ea typeface="Calibri"/>
                <a:cs typeface="Calibri"/>
                <a:sym typeface="Calibri"/>
              </a:rPr>
              <a:t>Spring Boot</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200288"/>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Spring Boot AOP……………….……………………. 3</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Spring Boot database...………………………….. 5</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Spring </a:t>
            </a:r>
            <a:r>
              <a:rPr lang="en-US" sz="2400" smtClean="0">
                <a:latin typeface="Calibri" pitchFamily="34" charset="0"/>
                <a:cs typeface="Calibri" pitchFamily="34" charset="0"/>
              </a:rPr>
              <a:t>REST……………………………………………11</a:t>
            </a:r>
            <a:endParaRPr lang="en-US" sz="2400" dirty="0" smtClean="0">
              <a:latin typeface="Calibri" pitchFamily="34" charset="0"/>
              <a:cs typeface="Calibri" pitchFamily="34" charset="0"/>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Boot-AOP</a:t>
            </a:r>
          </a:p>
        </p:txBody>
      </p:sp>
      <p:sp>
        <p:nvSpPr>
          <p:cNvPr id="52" name="Google Shape;52;p3"/>
          <p:cNvSpPr/>
          <p:nvPr/>
        </p:nvSpPr>
        <p:spPr>
          <a:xfrm>
            <a:off x="364000" y="1481917"/>
            <a:ext cx="8533200" cy="5262939"/>
          </a:xfrm>
          <a:prstGeom prst="rect">
            <a:avLst/>
          </a:prstGeom>
          <a:noFill/>
          <a:ln>
            <a:noFill/>
          </a:ln>
        </p:spPr>
        <p:txBody>
          <a:bodyPr spcFirstLastPara="1" wrap="square" lIns="91425" tIns="45700" rIns="91425" bIns="45700" anchor="t" anchorCtr="0">
            <a:spAutoFit/>
          </a:bodyPr>
          <a:lstStyle/>
          <a:p>
            <a:pPr algn="just" fontAlgn="base"/>
            <a:r>
              <a:rPr lang="en-US" sz="2400" dirty="0" smtClean="0"/>
              <a:t>AOP(Aspect Oriented Programming) breaks the full program into different smaller units. In numerous situations, we need to log, and audit the details as well as need to pay importance to declarative transactions, security, caching, etc., Let us see the key terminologies of AOP</a:t>
            </a:r>
          </a:p>
          <a:p>
            <a:pPr algn="just" fontAlgn="base"/>
            <a:endParaRPr lang="en-US" sz="2400" dirty="0" smtClean="0"/>
          </a:p>
          <a:p>
            <a:pPr algn="just" fontAlgn="base"/>
            <a:r>
              <a:rPr lang="en-US" sz="2400" b="1" dirty="0" smtClean="0"/>
              <a:t>Aspect: </a:t>
            </a:r>
            <a:r>
              <a:rPr lang="en-US" sz="2400" dirty="0" smtClean="0"/>
              <a:t>It has a set of APIs for cross-cutting requirements. Logging module is an example of the AOP aspect of logging.</a:t>
            </a:r>
          </a:p>
          <a:p>
            <a:pPr algn="just" fontAlgn="base"/>
            <a:r>
              <a:rPr lang="en-US" sz="2400" b="1" dirty="0" smtClean="0"/>
              <a:t>Joint Point: </a:t>
            </a:r>
            <a:r>
              <a:rPr lang="en-US" sz="2400" dirty="0" smtClean="0"/>
              <a:t>AOP aspect plug in place</a:t>
            </a:r>
          </a:p>
          <a:p>
            <a:pPr algn="just" fontAlgn="base"/>
            <a:r>
              <a:rPr lang="en-US" sz="2400" b="1" dirty="0" smtClean="0"/>
              <a:t>Advice: </a:t>
            </a:r>
            <a:r>
              <a:rPr lang="en-US" sz="2400" dirty="0" smtClean="0"/>
              <a:t>Via this, the actual implementation of code is taken care for the AOP approach. It can be either before/after/after returning/after throwing. In this article let us see the examples related to this.</a:t>
            </a:r>
          </a:p>
          <a:p>
            <a:pPr algn="just" fontAlgn="base"/>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Boot-AOP</a:t>
            </a:r>
          </a:p>
        </p:txBody>
      </p:sp>
      <p:sp>
        <p:nvSpPr>
          <p:cNvPr id="52" name="Google Shape;52;p3"/>
          <p:cNvSpPr/>
          <p:nvPr/>
        </p:nvSpPr>
        <p:spPr>
          <a:xfrm>
            <a:off x="364000" y="1481917"/>
            <a:ext cx="8533200" cy="3416279"/>
          </a:xfrm>
          <a:prstGeom prst="rect">
            <a:avLst/>
          </a:prstGeom>
          <a:noFill/>
          <a:ln>
            <a:noFill/>
          </a:ln>
        </p:spPr>
        <p:txBody>
          <a:bodyPr spcFirstLastPara="1" wrap="square" lIns="91425" tIns="45700" rIns="91425" bIns="45700" anchor="t" anchorCtr="0">
            <a:spAutoFit/>
          </a:bodyPr>
          <a:lstStyle/>
          <a:p>
            <a:pPr algn="just" fontAlgn="base"/>
            <a:endParaRPr lang="en-US" sz="2400" b="1" dirty="0" smtClean="0"/>
          </a:p>
          <a:p>
            <a:pPr algn="just" fontAlgn="base"/>
            <a:r>
              <a:rPr lang="en-US" sz="2400" b="1" dirty="0" err="1" smtClean="0"/>
              <a:t>Pointcut</a:t>
            </a:r>
            <a:r>
              <a:rPr lang="en-US" sz="2400" b="1" dirty="0" smtClean="0"/>
              <a:t>: </a:t>
            </a:r>
            <a:r>
              <a:rPr lang="en-US" sz="2400" dirty="0" smtClean="0"/>
              <a:t>Set of one or more join points where an advice need to be executed. </a:t>
            </a:r>
          </a:p>
          <a:p>
            <a:pPr algn="just" fontAlgn="base"/>
            <a:r>
              <a:rPr lang="en-US" sz="2400" b="1" dirty="0" smtClean="0"/>
              <a:t>Introduction: </a:t>
            </a:r>
            <a:r>
              <a:rPr lang="en-US" sz="2400" dirty="0" smtClean="0"/>
              <a:t>This is the place where we can add new methods or attributes to the existing classes.</a:t>
            </a:r>
          </a:p>
          <a:p>
            <a:pPr algn="just" fontAlgn="base"/>
            <a:r>
              <a:rPr lang="en-US" sz="2400" b="1" dirty="0" smtClean="0"/>
              <a:t>Target Object: </a:t>
            </a:r>
            <a:r>
              <a:rPr lang="en-US" sz="2400" dirty="0" smtClean="0"/>
              <a:t>One or more aspects will be there to provide advice for the target object.</a:t>
            </a:r>
          </a:p>
          <a:p>
            <a:pPr algn="just" fontAlgn="base"/>
            <a:r>
              <a:rPr lang="en-US" sz="2400" b="1" dirty="0" smtClean="0"/>
              <a:t>Weaving: </a:t>
            </a:r>
            <a:r>
              <a:rPr lang="en-US" sz="2400" dirty="0" smtClean="0"/>
              <a:t>Linking aspects with other application types or objects. It can be done at compile-time/runtime/</a:t>
            </a:r>
            <a:r>
              <a:rPr lang="en-US" sz="2400" dirty="0" err="1" smtClean="0"/>
              <a:t>loadtime</a:t>
            </a:r>
            <a:r>
              <a:rPr lang="en-US" sz="2400" dirty="0" smtClean="0"/>
              <a:t>.</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Boot-AOP</a:t>
            </a:r>
          </a:p>
        </p:txBody>
      </p:sp>
      <p:sp>
        <p:nvSpPr>
          <p:cNvPr id="52" name="Google Shape;52;p3"/>
          <p:cNvSpPr/>
          <p:nvPr/>
        </p:nvSpPr>
        <p:spPr>
          <a:xfrm>
            <a:off x="335125" y="1963180"/>
            <a:ext cx="8533200" cy="3046948"/>
          </a:xfrm>
          <a:prstGeom prst="rect">
            <a:avLst/>
          </a:prstGeom>
          <a:noFill/>
          <a:ln>
            <a:noFill/>
          </a:ln>
        </p:spPr>
        <p:txBody>
          <a:bodyPr spcFirstLastPara="1" wrap="square" lIns="91425" tIns="45700" rIns="91425" bIns="45700" anchor="t" anchorCtr="0">
            <a:spAutoFit/>
          </a:bodyPr>
          <a:lstStyle/>
          <a:p>
            <a:pPr algn="just" fontAlgn="base"/>
            <a:r>
              <a:rPr lang="en-US" sz="2400" dirty="0" smtClean="0"/>
              <a:t>In web applications, each of the layers(web, business, and data layer) are responsible for different tasks and they perform these tasks individually. But there are a few </a:t>
            </a:r>
            <a:r>
              <a:rPr lang="en-US" sz="2400" b="1" dirty="0" smtClean="0"/>
              <a:t>common aspects</a:t>
            </a:r>
            <a:r>
              <a:rPr lang="en-US" sz="2400" dirty="0" smtClean="0"/>
              <a:t> that are applied to each layer such as security, caching, validation, etc. These common aspects are known as </a:t>
            </a:r>
            <a:r>
              <a:rPr lang="en-US" sz="2400" b="1" dirty="0" smtClean="0"/>
              <a:t>Cross-Cutting Concerns</a:t>
            </a:r>
            <a:r>
              <a:rPr lang="en-US" sz="2400" dirty="0" smtClean="0"/>
              <a:t>.</a:t>
            </a:r>
          </a:p>
          <a:p>
            <a:pPr algn="just"/>
            <a:r>
              <a:rPr lang="en-US" sz="2400" dirty="0" smtClean="0"/>
              <a:t/>
            </a:r>
            <a:br>
              <a:rPr lang="en-US" sz="2400" dirty="0" smtClean="0"/>
            </a:br>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Database</a:t>
            </a:r>
          </a:p>
        </p:txBody>
      </p:sp>
      <p:sp>
        <p:nvSpPr>
          <p:cNvPr id="52" name="Google Shape;52;p3"/>
          <p:cNvSpPr/>
          <p:nvPr/>
        </p:nvSpPr>
        <p:spPr>
          <a:xfrm>
            <a:off x="335125" y="1963180"/>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dirty="0" smtClean="0"/>
              <a:t>In modern application development, integrating a database is crucial for persisting and managing data. </a:t>
            </a:r>
          </a:p>
          <a:p>
            <a:pPr algn="just" fontAlgn="base"/>
            <a:endParaRPr lang="en-US" sz="2400" dirty="0" smtClean="0"/>
          </a:p>
          <a:p>
            <a:pPr algn="just" fontAlgn="base"/>
            <a:r>
              <a:rPr lang="en-US" sz="2400" dirty="0" smtClean="0"/>
              <a:t>Spring Boot simplifies this process by providing seamless integration with various databases through JPA (Java Persistence API) and Hibernate ORM (Object-Relational Mapping).</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Database</a:t>
            </a:r>
          </a:p>
        </p:txBody>
      </p:sp>
      <p:sp>
        <p:nvSpPr>
          <p:cNvPr id="52" name="Google Shape;52;p3"/>
          <p:cNvSpPr/>
          <p:nvPr/>
        </p:nvSpPr>
        <p:spPr>
          <a:xfrm>
            <a:off x="335125" y="1963180"/>
            <a:ext cx="8533200" cy="378561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Database Integrations (</a:t>
            </a:r>
            <a:r>
              <a:rPr lang="en-US" sz="2400" b="1" dirty="0" err="1" smtClean="0"/>
              <a:t>MySQL</a:t>
            </a:r>
            <a:r>
              <a:rPr lang="en-US" sz="2400" b="1" dirty="0" smtClean="0"/>
              <a:t> and H2)</a:t>
            </a:r>
          </a:p>
          <a:p>
            <a:pPr algn="just" fontAlgn="base"/>
            <a:r>
              <a:rPr lang="en-US" sz="2400" b="1" dirty="0" err="1" smtClean="0"/>
              <a:t>MySQL</a:t>
            </a:r>
            <a:r>
              <a:rPr lang="en-US" sz="2400" b="1" dirty="0" smtClean="0"/>
              <a:t>:</a:t>
            </a:r>
            <a:r>
              <a:rPr lang="en-US" sz="2400" dirty="0" smtClean="0"/>
              <a:t> A widely used relational database management system known for its reliability, performance, and ease of use. It is ideal for production environments where data needs to be persistently stored.</a:t>
            </a:r>
          </a:p>
          <a:p>
            <a:pPr algn="just" fontAlgn="base"/>
            <a:r>
              <a:rPr lang="en-US" sz="2400" b="1" dirty="0" smtClean="0"/>
              <a:t>H2 Database:</a:t>
            </a:r>
            <a:r>
              <a:rPr lang="en-US" sz="2400" dirty="0" smtClean="0"/>
              <a:t> An in-memory database that is extremely fast and useful for development and testing. As it is in-memory, data is lost once the application is stopped. H2 provides excellent support and allows you to switch between databases with minimal configuration changes.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Database</a:t>
            </a:r>
          </a:p>
        </p:txBody>
      </p:sp>
      <p:sp>
        <p:nvSpPr>
          <p:cNvPr id="52" name="Google Shape;52;p3"/>
          <p:cNvSpPr/>
          <p:nvPr/>
        </p:nvSpPr>
        <p:spPr>
          <a:xfrm>
            <a:off x="383251" y="1491543"/>
            <a:ext cx="8533200" cy="5632271"/>
          </a:xfrm>
          <a:prstGeom prst="rect">
            <a:avLst/>
          </a:prstGeom>
          <a:noFill/>
          <a:ln>
            <a:noFill/>
          </a:ln>
        </p:spPr>
        <p:txBody>
          <a:bodyPr spcFirstLastPara="1" wrap="square" lIns="91425" tIns="45700" rIns="91425" bIns="45700" anchor="t" anchorCtr="0">
            <a:spAutoFit/>
          </a:bodyPr>
          <a:lstStyle/>
          <a:p>
            <a:pPr fontAlgn="base"/>
            <a:r>
              <a:rPr lang="en-US" sz="2400" b="1" dirty="0" smtClean="0"/>
              <a:t>Steps to Integrate </a:t>
            </a:r>
            <a:r>
              <a:rPr lang="en-US" sz="2400" b="1" dirty="0" err="1" smtClean="0"/>
              <a:t>MySQL</a:t>
            </a:r>
            <a:r>
              <a:rPr lang="en-US" sz="2400" b="1" dirty="0" smtClean="0"/>
              <a:t> and H2 in a Spring Boot Application</a:t>
            </a:r>
          </a:p>
          <a:p>
            <a:pPr fontAlgn="base"/>
            <a:r>
              <a:rPr lang="en-US" sz="2400" dirty="0" smtClean="0"/>
              <a:t/>
            </a:r>
            <a:br>
              <a:rPr lang="en-US" sz="2400" dirty="0" smtClean="0"/>
            </a:br>
            <a:r>
              <a:rPr lang="en-US" sz="2400" b="1" dirty="0" smtClean="0"/>
              <a:t>Step 1: </a:t>
            </a:r>
            <a:r>
              <a:rPr lang="en-US" sz="2400" b="1" dirty="0" err="1" smtClean="0"/>
              <a:t>MySQL</a:t>
            </a:r>
            <a:r>
              <a:rPr lang="en-US" sz="2400" b="1" dirty="0" smtClean="0"/>
              <a:t> Integration</a:t>
            </a:r>
          </a:p>
          <a:p>
            <a:pPr fontAlgn="base"/>
            <a:r>
              <a:rPr lang="en-US" sz="2400" b="1" dirty="0" smtClean="0"/>
              <a:t>1. Add the Dependencies:</a:t>
            </a:r>
            <a:r>
              <a:rPr lang="en-US" sz="2400" dirty="0" smtClean="0"/>
              <a:t> Include spring-boot-starter-data-</a:t>
            </a:r>
            <a:r>
              <a:rPr lang="en-US" sz="2400" dirty="0" err="1" smtClean="0"/>
              <a:t>jpa</a:t>
            </a:r>
            <a:r>
              <a:rPr lang="en-US" sz="2400" dirty="0" smtClean="0"/>
              <a:t> and </a:t>
            </a:r>
            <a:r>
              <a:rPr lang="en-US" sz="2400" dirty="0" err="1" smtClean="0"/>
              <a:t>mysql</a:t>
            </a:r>
            <a:r>
              <a:rPr lang="en-US" sz="2400" dirty="0" smtClean="0"/>
              <a:t>-connector-java in your pom.xml.</a:t>
            </a:r>
            <a:br>
              <a:rPr lang="en-US" sz="2400" dirty="0" smtClean="0"/>
            </a:br>
            <a:r>
              <a:rPr lang="en-US" sz="2400" b="1" dirty="0" smtClean="0"/>
              <a:t>2. Configure </a:t>
            </a:r>
            <a:r>
              <a:rPr lang="en-US" sz="2400" b="1" dirty="0" err="1" smtClean="0"/>
              <a:t>MySQL</a:t>
            </a:r>
            <a:r>
              <a:rPr lang="en-US" sz="2400" b="1" dirty="0" smtClean="0"/>
              <a:t> Connection:</a:t>
            </a:r>
            <a:r>
              <a:rPr lang="en-US" sz="2400" dirty="0" smtClean="0"/>
              <a:t> Update </a:t>
            </a:r>
            <a:r>
              <a:rPr lang="en-US" sz="2400" dirty="0" err="1" smtClean="0"/>
              <a:t>application.properties</a:t>
            </a:r>
            <a:r>
              <a:rPr lang="en-US" sz="2400" dirty="0" smtClean="0"/>
              <a:t> with </a:t>
            </a:r>
            <a:r>
              <a:rPr lang="en-US" sz="2400" dirty="0" err="1" smtClean="0"/>
              <a:t>MySQL</a:t>
            </a:r>
            <a:r>
              <a:rPr lang="en-US" sz="2400" dirty="0" smtClean="0"/>
              <a:t> database configuration.</a:t>
            </a:r>
            <a:br>
              <a:rPr lang="en-US" sz="2400" dirty="0" smtClean="0"/>
            </a:br>
            <a:r>
              <a:rPr lang="en-US" sz="2400" b="1" dirty="0" smtClean="0"/>
              <a:t>3. Database Initialization (Optional):</a:t>
            </a:r>
            <a:r>
              <a:rPr lang="en-US" sz="2400" dirty="0" smtClean="0"/>
              <a:t> Use schema.sql and data.sql files to initialize the database schema and data.</a:t>
            </a:r>
          </a:p>
          <a:p>
            <a:r>
              <a:rPr lang="en-US" sz="2400" dirty="0" smtClean="0"/>
              <a:t/>
            </a:r>
            <a:br>
              <a:rPr lang="en-US" sz="2400" dirty="0" smtClean="0"/>
            </a:br>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Database</a:t>
            </a:r>
          </a:p>
        </p:txBody>
      </p:sp>
      <p:sp>
        <p:nvSpPr>
          <p:cNvPr id="52" name="Google Shape;52;p3"/>
          <p:cNvSpPr/>
          <p:nvPr/>
        </p:nvSpPr>
        <p:spPr>
          <a:xfrm>
            <a:off x="383251" y="1491543"/>
            <a:ext cx="8533200" cy="5262939"/>
          </a:xfrm>
          <a:prstGeom prst="rect">
            <a:avLst/>
          </a:prstGeom>
          <a:noFill/>
          <a:ln>
            <a:noFill/>
          </a:ln>
        </p:spPr>
        <p:txBody>
          <a:bodyPr spcFirstLastPara="1" wrap="square" lIns="91425" tIns="45700" rIns="91425" bIns="45700" anchor="t" anchorCtr="0">
            <a:spAutoFit/>
          </a:bodyPr>
          <a:lstStyle/>
          <a:p>
            <a:pPr fontAlgn="base"/>
            <a:r>
              <a:rPr lang="en-US" sz="2400" b="1" dirty="0" smtClean="0"/>
              <a:t>Steps to Integrate </a:t>
            </a:r>
            <a:r>
              <a:rPr lang="en-US" sz="2400" b="1" dirty="0" err="1" smtClean="0"/>
              <a:t>MySQL</a:t>
            </a:r>
            <a:r>
              <a:rPr lang="en-US" sz="2400" b="1" dirty="0" smtClean="0"/>
              <a:t> and H2 in a Spring Boot Application</a:t>
            </a:r>
          </a:p>
          <a:p>
            <a:pPr fontAlgn="base"/>
            <a:r>
              <a:rPr lang="en-US" sz="2400" dirty="0" smtClean="0"/>
              <a:t/>
            </a:r>
            <a:br>
              <a:rPr lang="en-US" sz="2400" dirty="0" smtClean="0"/>
            </a:br>
            <a:r>
              <a:rPr lang="en-US" sz="2400" b="1" dirty="0" smtClean="0"/>
              <a:t>Step 2: H2 Database Integration</a:t>
            </a:r>
          </a:p>
          <a:p>
            <a:pPr fontAlgn="base"/>
            <a:r>
              <a:rPr lang="en-US" sz="2400" b="1" dirty="0" smtClean="0"/>
              <a:t>1. Add the Dependencies:</a:t>
            </a:r>
            <a:r>
              <a:rPr lang="en-US" sz="2400" dirty="0" smtClean="0"/>
              <a:t> Include spring-boot-starter-data-</a:t>
            </a:r>
            <a:r>
              <a:rPr lang="en-US" sz="2400" dirty="0" err="1" smtClean="0"/>
              <a:t>jpa</a:t>
            </a:r>
            <a:r>
              <a:rPr lang="en-US" sz="2400" dirty="0" smtClean="0"/>
              <a:t> and h2 in your pom.xml.</a:t>
            </a:r>
            <a:br>
              <a:rPr lang="en-US" sz="2400" dirty="0" smtClean="0"/>
            </a:br>
            <a:r>
              <a:rPr lang="en-US" sz="2400" b="1" dirty="0" smtClean="0"/>
              <a:t>2. Configure H2 Connection:</a:t>
            </a:r>
            <a:r>
              <a:rPr lang="en-US" sz="2400" dirty="0" smtClean="0"/>
              <a:t> Update application-</a:t>
            </a:r>
            <a:r>
              <a:rPr lang="en-US" sz="2400" dirty="0" err="1" smtClean="0"/>
              <a:t>dev.properties</a:t>
            </a:r>
            <a:r>
              <a:rPr lang="en-US" sz="2400" dirty="0" smtClean="0"/>
              <a:t> with H2 database configuration. Enable the H2 console for easy access to the in-memory database via the web interface.</a:t>
            </a:r>
          </a:p>
          <a:p>
            <a:pPr fontAlgn="base"/>
            <a:r>
              <a:rPr lang="en-US" sz="2400" b="1" dirty="0" smtClean="0"/>
              <a:t>3. Auto Schema Generation:</a:t>
            </a:r>
            <a:r>
              <a:rPr lang="en-US" sz="2400" dirty="0" smtClean="0"/>
              <a:t> H2 will automatically generate the schema based on JPA entities.</a:t>
            </a:r>
            <a:br>
              <a:rPr lang="en-US" sz="2400" dirty="0" smtClean="0"/>
            </a:br>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Database</a:t>
            </a:r>
          </a:p>
        </p:txBody>
      </p:sp>
      <p:sp>
        <p:nvSpPr>
          <p:cNvPr id="52" name="Google Shape;52;p3"/>
          <p:cNvSpPr/>
          <p:nvPr/>
        </p:nvSpPr>
        <p:spPr>
          <a:xfrm>
            <a:off x="383251" y="1491543"/>
            <a:ext cx="8533200" cy="3046948"/>
          </a:xfrm>
          <a:prstGeom prst="rect">
            <a:avLst/>
          </a:prstGeom>
          <a:noFill/>
          <a:ln>
            <a:noFill/>
          </a:ln>
        </p:spPr>
        <p:txBody>
          <a:bodyPr spcFirstLastPara="1" wrap="square" lIns="91425" tIns="45700" rIns="91425" bIns="45700" anchor="t" anchorCtr="0">
            <a:spAutoFit/>
          </a:bodyPr>
          <a:lstStyle/>
          <a:p>
            <a:pPr algn="just" fontAlgn="base"/>
            <a:endParaRPr lang="en-US" sz="2400" b="1" dirty="0" smtClean="0"/>
          </a:p>
          <a:p>
            <a:pPr algn="just" fontAlgn="base"/>
            <a:r>
              <a:rPr lang="en-US" sz="2400" b="1" dirty="0" smtClean="0"/>
              <a:t>Switching Between Databases</a:t>
            </a:r>
          </a:p>
          <a:p>
            <a:pPr algn="just" fontAlgn="base"/>
            <a:endParaRPr lang="en-US" sz="2400" b="1" dirty="0" smtClean="0"/>
          </a:p>
          <a:p>
            <a:pPr algn="just" fontAlgn="base"/>
            <a:r>
              <a:rPr lang="en-US" sz="2400" dirty="0" smtClean="0"/>
              <a:t>Spring Boot makes it easy to switch between </a:t>
            </a:r>
            <a:r>
              <a:rPr lang="en-US" sz="2400" dirty="0" err="1" smtClean="0"/>
              <a:t>MySQL</a:t>
            </a:r>
            <a:r>
              <a:rPr lang="en-US" sz="2400" dirty="0" smtClean="0"/>
              <a:t> and H2 or other databases by changing the configuration in the </a:t>
            </a:r>
            <a:r>
              <a:rPr lang="en-US" sz="2400" dirty="0" err="1" smtClean="0"/>
              <a:t>application.properties</a:t>
            </a:r>
            <a:r>
              <a:rPr lang="en-US" sz="2400" dirty="0" smtClean="0"/>
              <a:t> file. This flexibility allows developers to use H2 for local development and </a:t>
            </a:r>
            <a:r>
              <a:rPr lang="en-US" sz="2400" dirty="0" err="1" smtClean="0"/>
              <a:t>MySQL</a:t>
            </a:r>
            <a:r>
              <a:rPr lang="en-US" sz="2400" dirty="0" smtClean="0"/>
              <a:t> in production without altering the codebase.</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REST</a:t>
            </a:r>
          </a:p>
        </p:txBody>
      </p:sp>
      <p:sp>
        <p:nvSpPr>
          <p:cNvPr id="52" name="Google Shape;52;p3"/>
          <p:cNvSpPr/>
          <p:nvPr/>
        </p:nvSpPr>
        <p:spPr>
          <a:xfrm>
            <a:off x="335125" y="1963180"/>
            <a:ext cx="8533200" cy="378561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Representational State Transfer (REST)</a:t>
            </a:r>
            <a:r>
              <a:rPr lang="en-US" sz="2400" dirty="0" smtClean="0"/>
              <a:t> is a software architectural style that defines a set of constraints for creating web services. </a:t>
            </a:r>
            <a:r>
              <a:rPr lang="en-US" sz="2400" b="1" dirty="0" err="1" smtClean="0"/>
              <a:t>RESTful</a:t>
            </a:r>
            <a:r>
              <a:rPr lang="en-US" sz="2400" b="1" dirty="0" smtClean="0"/>
              <a:t> web services</a:t>
            </a:r>
            <a:r>
              <a:rPr lang="en-US" sz="2400" dirty="0" smtClean="0"/>
              <a:t> allow systems to access and manipulate web resources through a uniform and predefined set of stateless operations. </a:t>
            </a:r>
          </a:p>
          <a:p>
            <a:pPr algn="just" fontAlgn="base"/>
            <a:endParaRPr lang="en-US" sz="2400" dirty="0" smtClean="0"/>
          </a:p>
          <a:p>
            <a:pPr algn="just" fontAlgn="base"/>
            <a:r>
              <a:rPr lang="en-US" sz="2400" dirty="0" smtClean="0"/>
              <a:t>Unlike </a:t>
            </a:r>
            <a:r>
              <a:rPr lang="en-US" sz="2400" b="1" dirty="0" smtClean="0"/>
              <a:t>SOAP</a:t>
            </a:r>
            <a:r>
              <a:rPr lang="en-US" sz="2400" dirty="0" smtClean="0"/>
              <a:t>, which exposes its own set of operations, </a:t>
            </a:r>
            <a:r>
              <a:rPr lang="en-US" sz="2400" dirty="0" err="1" smtClean="0"/>
              <a:t>RESTful</a:t>
            </a:r>
            <a:r>
              <a:rPr lang="en-US" sz="2400" dirty="0" smtClean="0"/>
              <a:t> web services rely on simple </a:t>
            </a:r>
            <a:r>
              <a:rPr lang="en-US" sz="2400" b="1" dirty="0" smtClean="0"/>
              <a:t>HTTP methods</a:t>
            </a:r>
            <a:r>
              <a:rPr lang="en-US" sz="2400" dirty="0" smtClean="0"/>
              <a:t> such as GET, POST, PUT, and DELETE.</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REST</a:t>
            </a:r>
          </a:p>
        </p:txBody>
      </p:sp>
      <p:sp>
        <p:nvSpPr>
          <p:cNvPr id="52" name="Google Shape;52;p3"/>
          <p:cNvSpPr/>
          <p:nvPr/>
        </p:nvSpPr>
        <p:spPr>
          <a:xfrm>
            <a:off x="335125" y="1963180"/>
            <a:ext cx="8533200" cy="1938952"/>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Why Spring Boot?</a:t>
            </a:r>
          </a:p>
          <a:p>
            <a:pPr algn="just" fontAlgn="base"/>
            <a:r>
              <a:rPr lang="en-US" sz="2400" dirty="0" smtClean="0"/>
              <a:t>Spring Boot is built on top of Spring Framework, simplifying project setup and configuration. It provides default configurations to avoid boilerplate code and is ideal for beginners looking to work with Spring.</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Spring Boot- REST</a:t>
            </a:r>
          </a:p>
        </p:txBody>
      </p:sp>
      <p:sp>
        <p:nvSpPr>
          <p:cNvPr id="52" name="Google Shape;52;p3"/>
          <p:cNvSpPr/>
          <p:nvPr/>
        </p:nvSpPr>
        <p:spPr>
          <a:xfrm>
            <a:off x="335125" y="1963180"/>
            <a:ext cx="8533200" cy="4893607"/>
          </a:xfrm>
          <a:prstGeom prst="rect">
            <a:avLst/>
          </a:prstGeom>
          <a:noFill/>
          <a:ln>
            <a:noFill/>
          </a:ln>
        </p:spPr>
        <p:txBody>
          <a:bodyPr spcFirstLastPara="1" wrap="square" lIns="91425" tIns="45700" rIns="91425" bIns="45700" anchor="t" anchorCtr="0">
            <a:spAutoFit/>
          </a:bodyPr>
          <a:lstStyle/>
          <a:p>
            <a:pPr fontAlgn="base"/>
            <a:r>
              <a:rPr lang="en-US" sz="2400" b="1" dirty="0" smtClean="0"/>
              <a:t>Steps to Create a REST API</a:t>
            </a:r>
          </a:p>
          <a:p>
            <a:pPr fontAlgn="base"/>
            <a:r>
              <a:rPr lang="en-US" sz="2400" dirty="0" smtClean="0"/>
              <a:t/>
            </a:r>
            <a:br>
              <a:rPr lang="en-US" sz="2400" dirty="0" smtClean="0"/>
            </a:br>
            <a:r>
              <a:rPr lang="en-US" sz="2400" dirty="0" smtClean="0"/>
              <a:t>Step 1: Define the Employee Entity</a:t>
            </a:r>
          </a:p>
          <a:p>
            <a:pPr fontAlgn="base"/>
            <a:r>
              <a:rPr lang="en-US" sz="2400" dirty="0" smtClean="0"/>
              <a:t/>
            </a:r>
            <a:br>
              <a:rPr lang="en-US" sz="2400" dirty="0" smtClean="0"/>
            </a:br>
            <a:r>
              <a:rPr lang="en-US" sz="2400" dirty="0" smtClean="0"/>
              <a:t>Step 2: Create a Storage Class</a:t>
            </a:r>
          </a:p>
          <a:p>
            <a:pPr fontAlgn="base"/>
            <a:r>
              <a:rPr lang="en-US" sz="2400" dirty="0" smtClean="0"/>
              <a:t/>
            </a:r>
            <a:br>
              <a:rPr lang="en-US" sz="2400" dirty="0" smtClean="0"/>
            </a:br>
            <a:r>
              <a:rPr lang="en-US" sz="2400" dirty="0" smtClean="0"/>
              <a:t>Step 3: Create the DAO Class</a:t>
            </a:r>
          </a:p>
          <a:p>
            <a:pPr fontAlgn="base"/>
            <a:r>
              <a:rPr lang="en-US" sz="2400" dirty="0" smtClean="0"/>
              <a:t/>
            </a:r>
            <a:br>
              <a:rPr lang="en-US" sz="2400" dirty="0" smtClean="0"/>
            </a:br>
            <a:r>
              <a:rPr lang="en-US" sz="2400" dirty="0" smtClean="0"/>
              <a:t>Step 4: Create the Controller</a:t>
            </a:r>
          </a:p>
          <a:p>
            <a:pPr fontAlgn="base"/>
            <a:r>
              <a:rPr lang="en-US" sz="2400" dirty="0" smtClean="0"/>
              <a:t/>
            </a:r>
            <a:br>
              <a:rPr lang="en-US" sz="2400" dirty="0" smtClean="0"/>
            </a:br>
            <a:r>
              <a:rPr lang="en-US" sz="2400" dirty="0" smtClean="0"/>
              <a:t>Step 5: Run the Application</a:t>
            </a:r>
          </a:p>
          <a:p>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534</TotalTime>
  <Words>300</Words>
  <Application>Microsoft Office PowerPoint</Application>
  <PresentationFormat>On-screen Show (4:3)</PresentationFormat>
  <Paragraphs>72</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156</cp:revision>
  <dcterms:created xsi:type="dcterms:W3CDTF">2024-12-13T07:18:04Z</dcterms:created>
  <dcterms:modified xsi:type="dcterms:W3CDTF">2025-05-17T05:27:32Z</dcterms:modified>
</cp:coreProperties>
</file>