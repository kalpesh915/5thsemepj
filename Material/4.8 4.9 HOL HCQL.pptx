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262" r:id="rId18"/>
    <p:sldId id="263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20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65470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Chapter-4: </a:t>
            </a:r>
            <a:r>
              <a:rPr lang="en-US" sz="30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Hibernet</a:t>
            </a:r>
            <a:r>
              <a:rPr lang="en-US" sz="30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(ORM)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HQL…….…………………….…………………………...3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HCQL…………………………………………………….. 8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HQL stands for Hibernate Query Language, a language used within the Hibernate Framework for querying and manipulating data in relational databases.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Hibernate converts HQL queries into SQL queries, which are used to perform database actions.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Although Native SQL may be used directly with Hibernate, it is encouraged to utilize HQL wherever feasible to prevent database portability issues.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HQL has many benefits. Some benefits are:</a:t>
            </a:r>
          </a:p>
          <a:p>
            <a:pPr fontAlgn="base"/>
            <a:r>
              <a:rPr lang="en-US" sz="2400" dirty="0" smtClean="0"/>
              <a:t>	HQL is database-independent.</a:t>
            </a:r>
          </a:p>
          <a:p>
            <a:pPr fontAlgn="base"/>
            <a:r>
              <a:rPr lang="en-US" sz="2400" dirty="0" smtClean="0"/>
              <a:t>	polymorphic queries supported which are type-safe.</a:t>
            </a:r>
          </a:p>
          <a:p>
            <a:pPr fontAlgn="base"/>
            <a:r>
              <a:rPr lang="en-US" sz="2400" dirty="0" smtClean="0"/>
              <a:t>	It is portable and easy to learn for Java programmers.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endParaRPr sz="2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Hibernate Query Language (HQL) Clauses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There are many HQL clauses available to interact with relational databases, and several of them are listed below:</a:t>
            </a:r>
          </a:p>
          <a:p>
            <a:pPr algn="just" fontAlgn="base"/>
            <a:endParaRPr lang="en-US" sz="2400" dirty="0" smtClean="0"/>
          </a:p>
          <a:p>
            <a:pPr marL="457200" indent="-457200" algn="just" fontAlgn="base">
              <a:buFont typeface="+mj-lt"/>
              <a:buAutoNum type="arabicPeriod"/>
            </a:pPr>
            <a:r>
              <a:rPr lang="en-US" sz="2400" dirty="0" smtClean="0"/>
              <a:t>FROM Clause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n-US" sz="2400" dirty="0" smtClean="0"/>
              <a:t>SELECT Clause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n-US" sz="2400" dirty="0" smtClean="0"/>
              <a:t>WHERE Clause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n-US" sz="2400" dirty="0" smtClean="0"/>
              <a:t>ORDER BY Clause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n-US" sz="2400" dirty="0" smtClean="0"/>
              <a:t>UPDATE Clause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n-US" sz="2400" dirty="0" smtClean="0"/>
              <a:t>DELETE Clause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n-US" sz="2400" dirty="0" smtClean="0"/>
              <a:t>INSERT Clause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1. FROM Clause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To load a whole persistent object into memory, the FROM clause is used.</a:t>
            </a:r>
          </a:p>
          <a:p>
            <a:endParaRPr lang="en-US" sz="2400" dirty="0" smtClean="0"/>
          </a:p>
          <a:p>
            <a:r>
              <a:rPr lang="en-US" sz="2400" dirty="0" smtClean="0"/>
              <a:t>String </a:t>
            </a:r>
            <a:r>
              <a:rPr lang="en-US" sz="2400" dirty="0" err="1" smtClean="0"/>
              <a:t>hib</a:t>
            </a:r>
            <a:r>
              <a:rPr lang="en-US" sz="2400" dirty="0" smtClean="0"/>
              <a:t> = "</a:t>
            </a:r>
            <a:r>
              <a:rPr lang="en-US" sz="2400" b="1" dirty="0" smtClean="0"/>
              <a:t>FROM</a:t>
            </a:r>
            <a:r>
              <a:rPr lang="en-US" sz="2400" dirty="0" smtClean="0"/>
              <a:t> Student";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Query </a:t>
            </a:r>
            <a:r>
              <a:rPr lang="en-US" sz="2400" dirty="0" err="1" smtClean="0"/>
              <a:t>query</a:t>
            </a:r>
            <a:r>
              <a:rPr lang="en-US" sz="2400" dirty="0" smtClean="0"/>
              <a:t> = </a:t>
            </a:r>
            <a:r>
              <a:rPr lang="en-US" sz="2400" dirty="0" err="1" smtClean="0"/>
              <a:t>session.createQuery</a:t>
            </a:r>
            <a:r>
              <a:rPr lang="en-US" sz="2400" dirty="0" smtClean="0"/>
              <a:t>(</a:t>
            </a:r>
            <a:r>
              <a:rPr lang="en-US" sz="2400" dirty="0" err="1" smtClean="0"/>
              <a:t>hib</a:t>
            </a:r>
            <a:r>
              <a:rPr lang="en-US" sz="2400" dirty="0" smtClean="0"/>
              <a:t>);</a:t>
            </a:r>
            <a:br>
              <a:rPr lang="en-US" sz="2400" dirty="0" smtClean="0"/>
            </a:br>
            <a:r>
              <a:rPr lang="en-US" sz="2400" dirty="0" smtClean="0"/>
              <a:t>List results = </a:t>
            </a:r>
            <a:r>
              <a:rPr lang="en-US" sz="2400" dirty="0" err="1" smtClean="0"/>
              <a:t>query.list</a:t>
            </a:r>
            <a:r>
              <a:rPr lang="en-US" sz="2400" dirty="0" smtClean="0"/>
              <a:t>()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2. SELECT Clause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The SELECT clause is used when only a </a:t>
            </a:r>
            <a:r>
              <a:rPr lang="en-US" sz="2400" i="1" dirty="0" smtClean="0"/>
              <a:t>few attributes of an object</a:t>
            </a:r>
            <a:r>
              <a:rPr lang="en-US" sz="2400" dirty="0" smtClean="0"/>
              <a:t> are required rather than the entire object.</a:t>
            </a:r>
          </a:p>
          <a:p>
            <a:endParaRPr lang="en-US" sz="2400" dirty="0" smtClean="0"/>
          </a:p>
          <a:p>
            <a:r>
              <a:rPr lang="en-US" sz="2400" dirty="0" smtClean="0"/>
              <a:t>String </a:t>
            </a:r>
            <a:r>
              <a:rPr lang="en-US" sz="2400" dirty="0" err="1" smtClean="0"/>
              <a:t>hib</a:t>
            </a:r>
            <a:r>
              <a:rPr lang="en-US" sz="2400" dirty="0" smtClean="0"/>
              <a:t> = "</a:t>
            </a:r>
            <a:r>
              <a:rPr lang="en-US" sz="2400" b="1" dirty="0" smtClean="0"/>
              <a:t>SELECT</a:t>
            </a:r>
            <a:r>
              <a:rPr lang="en-US" sz="2400" dirty="0" smtClean="0"/>
              <a:t> </a:t>
            </a:r>
            <a:r>
              <a:rPr lang="en-US" sz="2400" dirty="0" err="1" smtClean="0"/>
              <a:t>S.roll</a:t>
            </a:r>
            <a:r>
              <a:rPr lang="en-US" sz="2400" dirty="0" smtClean="0"/>
              <a:t> FROM Student S";</a:t>
            </a:r>
            <a:br>
              <a:rPr lang="en-US" sz="2400" dirty="0" smtClean="0"/>
            </a:br>
            <a:r>
              <a:rPr lang="en-US" sz="2400" dirty="0" smtClean="0"/>
              <a:t>Query </a:t>
            </a:r>
            <a:r>
              <a:rPr lang="en-US" sz="2400" dirty="0" err="1" smtClean="0"/>
              <a:t>query</a:t>
            </a:r>
            <a:r>
              <a:rPr lang="en-US" sz="2400" dirty="0" smtClean="0"/>
              <a:t> = </a:t>
            </a:r>
            <a:r>
              <a:rPr lang="en-US" sz="2400" dirty="0" err="1" smtClean="0"/>
              <a:t>session.createQuery</a:t>
            </a:r>
            <a:r>
              <a:rPr lang="en-US" sz="2400" dirty="0" smtClean="0"/>
              <a:t>(</a:t>
            </a:r>
            <a:r>
              <a:rPr lang="en-US" sz="2400" dirty="0" err="1" smtClean="0"/>
              <a:t>hib</a:t>
            </a:r>
            <a:r>
              <a:rPr lang="en-US" sz="2400" dirty="0" smtClean="0"/>
              <a:t>);</a:t>
            </a:r>
            <a:br>
              <a:rPr lang="en-US" sz="2400" dirty="0" smtClean="0"/>
            </a:br>
            <a:r>
              <a:rPr lang="en-US" sz="2400" dirty="0" smtClean="0"/>
              <a:t>List results = </a:t>
            </a:r>
            <a:r>
              <a:rPr lang="en-US" sz="2400" dirty="0" err="1" smtClean="0"/>
              <a:t>query.list</a:t>
            </a:r>
            <a:r>
              <a:rPr lang="en-US" sz="2400" dirty="0" smtClean="0"/>
              <a:t>();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3. WHERE Clause</a:t>
            </a:r>
          </a:p>
          <a:p>
            <a:pPr fontAlgn="base"/>
            <a:r>
              <a:rPr lang="en-US" sz="2400" dirty="0" smtClean="0"/>
              <a:t>Filtering records is done with the WHERE clause. It’s used to </a:t>
            </a:r>
            <a:r>
              <a:rPr lang="en-US" sz="2400" i="1" dirty="0" smtClean="0"/>
              <a:t>retrieve only the records that meet a set of criteria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String </a:t>
            </a:r>
            <a:r>
              <a:rPr lang="en-US" sz="2400" dirty="0" err="1" smtClean="0"/>
              <a:t>hib</a:t>
            </a:r>
            <a:r>
              <a:rPr lang="en-US" sz="2400" dirty="0" smtClean="0"/>
              <a:t> = "FROM Student S </a:t>
            </a:r>
            <a:r>
              <a:rPr lang="en-US" sz="2400" b="1" dirty="0" smtClean="0"/>
              <a:t>WHERE</a:t>
            </a:r>
            <a:r>
              <a:rPr lang="en-US" sz="2400" dirty="0" smtClean="0"/>
              <a:t> S.id = 5";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Query </a:t>
            </a:r>
            <a:r>
              <a:rPr lang="en-US" sz="2400" dirty="0" err="1" smtClean="0"/>
              <a:t>query</a:t>
            </a:r>
            <a:r>
              <a:rPr lang="en-US" sz="2400" dirty="0" smtClean="0"/>
              <a:t> = </a:t>
            </a:r>
            <a:r>
              <a:rPr lang="en-US" sz="2400" dirty="0" err="1" smtClean="0"/>
              <a:t>session.createQuery</a:t>
            </a:r>
            <a:r>
              <a:rPr lang="en-US" sz="2400" dirty="0" smtClean="0"/>
              <a:t>(</a:t>
            </a:r>
            <a:r>
              <a:rPr lang="en-US" sz="2400" dirty="0" err="1" smtClean="0"/>
              <a:t>hib</a:t>
            </a:r>
            <a:r>
              <a:rPr lang="en-US" sz="2400" dirty="0" smtClean="0"/>
              <a:t>);</a:t>
            </a:r>
            <a:br>
              <a:rPr lang="en-US" sz="2400" dirty="0" smtClean="0"/>
            </a:br>
            <a:r>
              <a:rPr lang="en-US" sz="2400" dirty="0" smtClean="0"/>
              <a:t>List results = </a:t>
            </a:r>
            <a:r>
              <a:rPr lang="en-US" sz="2400" dirty="0" err="1" smtClean="0"/>
              <a:t>query.list</a:t>
            </a:r>
            <a:r>
              <a:rPr lang="en-US" sz="2400" dirty="0" smtClean="0"/>
              <a:t>();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4. ORDER BY Clause</a:t>
            </a:r>
          </a:p>
          <a:p>
            <a:pPr fontAlgn="base"/>
            <a:r>
              <a:rPr lang="en-US" sz="2400" dirty="0" smtClean="0"/>
              <a:t>The ORDER BY clause is used to </a:t>
            </a:r>
            <a:r>
              <a:rPr lang="en-US" sz="2400" i="1" dirty="0" smtClean="0"/>
              <a:t>sort the results</a:t>
            </a:r>
            <a:r>
              <a:rPr lang="en-US" sz="2400" dirty="0" smtClean="0"/>
              <a:t> of an HQL query.</a:t>
            </a:r>
          </a:p>
          <a:p>
            <a:pPr fontAlgn="base"/>
            <a:endParaRPr lang="en-US" sz="2400" dirty="0" smtClean="0"/>
          </a:p>
          <a:p>
            <a:r>
              <a:rPr lang="en-US" sz="2400" dirty="0" smtClean="0"/>
              <a:t>String </a:t>
            </a:r>
            <a:r>
              <a:rPr lang="en-US" sz="2400" dirty="0" err="1" smtClean="0"/>
              <a:t>hib</a:t>
            </a:r>
            <a:r>
              <a:rPr lang="en-US" sz="2400" dirty="0" smtClean="0"/>
              <a:t> = "FROM Student S WHERE S.id &gt; 5 </a:t>
            </a:r>
            <a:r>
              <a:rPr lang="en-US" sz="2400" b="1" dirty="0" smtClean="0"/>
              <a:t>ORDER BY</a:t>
            </a:r>
            <a:r>
              <a:rPr lang="en-US" sz="2400" dirty="0" smtClean="0"/>
              <a:t> S.id </a:t>
            </a:r>
            <a:r>
              <a:rPr lang="en-US" sz="2400" b="1" dirty="0" smtClean="0"/>
              <a:t>DESC</a:t>
            </a:r>
            <a:r>
              <a:rPr lang="en-US" sz="2400" dirty="0" smtClean="0"/>
              <a:t>";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Query </a:t>
            </a:r>
            <a:r>
              <a:rPr lang="en-US" sz="2400" dirty="0" err="1" smtClean="0"/>
              <a:t>query</a:t>
            </a:r>
            <a:r>
              <a:rPr lang="en-US" sz="2400" dirty="0" smtClean="0"/>
              <a:t> = </a:t>
            </a:r>
            <a:r>
              <a:rPr lang="en-US" sz="2400" dirty="0" err="1" smtClean="0"/>
              <a:t>session.createQuery</a:t>
            </a:r>
            <a:r>
              <a:rPr lang="en-US" sz="2400" dirty="0" smtClean="0"/>
              <a:t>(</a:t>
            </a:r>
            <a:r>
              <a:rPr lang="en-US" sz="2400" dirty="0" err="1" smtClean="0"/>
              <a:t>hib</a:t>
            </a:r>
            <a:r>
              <a:rPr lang="en-US" sz="2400" dirty="0" smtClean="0"/>
              <a:t>);</a:t>
            </a:r>
            <a:br>
              <a:rPr lang="en-US" sz="2400" dirty="0" smtClean="0"/>
            </a:br>
            <a:r>
              <a:rPr lang="en-US" sz="2400" dirty="0" smtClean="0"/>
              <a:t>List results = </a:t>
            </a:r>
            <a:r>
              <a:rPr lang="en-US" sz="2400" dirty="0" err="1" smtClean="0"/>
              <a:t>query.list</a:t>
            </a:r>
            <a:r>
              <a:rPr lang="en-US" sz="2400" dirty="0" smtClean="0"/>
              <a:t>();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5. UPDATE Clause</a:t>
            </a:r>
          </a:p>
          <a:p>
            <a:pPr fontAlgn="base"/>
            <a:r>
              <a:rPr lang="en-US" sz="2400" dirty="0" smtClean="0"/>
              <a:t>The UPDATE clause is required to </a:t>
            </a:r>
            <a:r>
              <a:rPr lang="en-US" sz="2400" i="1" dirty="0" smtClean="0"/>
              <a:t>update the value</a:t>
            </a:r>
            <a:r>
              <a:rPr lang="en-US" sz="2400" dirty="0" smtClean="0"/>
              <a:t> of an attribute.</a:t>
            </a:r>
          </a:p>
          <a:p>
            <a:endParaRPr lang="en-US" sz="2400" dirty="0" smtClean="0"/>
          </a:p>
          <a:p>
            <a:r>
              <a:rPr lang="en-US" sz="2400" dirty="0" smtClean="0"/>
              <a:t>String </a:t>
            </a:r>
            <a:r>
              <a:rPr lang="en-US" sz="2400" dirty="0" err="1" smtClean="0"/>
              <a:t>hib</a:t>
            </a:r>
            <a:r>
              <a:rPr lang="en-US" sz="2400" dirty="0" smtClean="0"/>
              <a:t> = "</a:t>
            </a:r>
            <a:r>
              <a:rPr lang="en-US" sz="2400" b="1" dirty="0" smtClean="0"/>
              <a:t>UPDATE</a:t>
            </a:r>
            <a:r>
              <a:rPr lang="en-US" sz="2400" dirty="0" smtClean="0"/>
              <a:t> Student set name=:n WHERE roll=:</a:t>
            </a:r>
            <a:r>
              <a:rPr lang="en-US" sz="2400" dirty="0" err="1" smtClean="0"/>
              <a:t>i</a:t>
            </a:r>
            <a:r>
              <a:rPr lang="en-US" sz="2400" dirty="0" smtClean="0"/>
              <a:t>";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Query q=</a:t>
            </a:r>
            <a:r>
              <a:rPr lang="en-US" sz="2400" dirty="0" err="1" smtClean="0"/>
              <a:t>session.createQuery</a:t>
            </a:r>
            <a:r>
              <a:rPr lang="en-US" sz="2400" dirty="0" smtClean="0"/>
              <a:t>(</a:t>
            </a:r>
            <a:r>
              <a:rPr lang="en-US" sz="2400" dirty="0" err="1" smtClean="0"/>
              <a:t>hib</a:t>
            </a:r>
            <a:r>
              <a:rPr lang="en-US" sz="2400" dirty="0" smtClean="0"/>
              <a:t>); </a:t>
            </a:r>
            <a:br>
              <a:rPr lang="en-US" sz="2400" dirty="0" smtClean="0"/>
            </a:br>
            <a:r>
              <a:rPr lang="en-US" sz="2400" dirty="0" err="1" smtClean="0"/>
              <a:t>q.setParameter</a:t>
            </a:r>
            <a:r>
              <a:rPr lang="en-US" sz="2400" dirty="0" smtClean="0"/>
              <a:t>("</a:t>
            </a:r>
            <a:r>
              <a:rPr lang="en-US" sz="2400" dirty="0" err="1" smtClean="0"/>
              <a:t>n","John</a:t>
            </a:r>
            <a:r>
              <a:rPr lang="en-US" sz="2400" dirty="0" smtClean="0"/>
              <a:t>"); </a:t>
            </a:r>
            <a:br>
              <a:rPr lang="en-US" sz="2400" dirty="0" smtClean="0"/>
            </a:br>
            <a:r>
              <a:rPr lang="en-US" sz="2400" dirty="0" err="1" smtClean="0"/>
              <a:t>q.setParameter</a:t>
            </a:r>
            <a:r>
              <a:rPr lang="en-US" sz="2400" dirty="0" smtClean="0"/>
              <a:t>("i",23); 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int</a:t>
            </a:r>
            <a:r>
              <a:rPr lang="en-US" sz="2400" dirty="0" smtClean="0"/>
              <a:t> status=</a:t>
            </a:r>
            <a:r>
              <a:rPr lang="en-US" sz="2400" dirty="0" err="1" smtClean="0"/>
              <a:t>q.executeUpdate</a:t>
            </a:r>
            <a:r>
              <a:rPr lang="en-US" sz="2400" dirty="0" smtClean="0"/>
              <a:t>(); </a:t>
            </a:r>
            <a:br>
              <a:rPr lang="en-US" sz="2400" dirty="0" smtClean="0"/>
            </a:br>
            <a:r>
              <a:rPr lang="en-US" sz="2400" dirty="0" err="1" smtClean="0"/>
              <a:t>System.out.println</a:t>
            </a:r>
            <a:r>
              <a:rPr lang="en-US" sz="2400" dirty="0" smtClean="0"/>
              <a:t>(status); 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6. DELETE Clause</a:t>
            </a:r>
          </a:p>
          <a:p>
            <a:pPr fontAlgn="base"/>
            <a:r>
              <a:rPr lang="en-US" sz="2400" dirty="0" smtClean="0"/>
              <a:t>It is required to </a:t>
            </a:r>
            <a:r>
              <a:rPr lang="en-US" sz="2400" i="1" dirty="0" smtClean="0"/>
              <a:t>delete a value</a:t>
            </a:r>
            <a:r>
              <a:rPr lang="en-US" sz="2400" dirty="0" smtClean="0"/>
              <a:t> of an attribute.</a:t>
            </a:r>
          </a:p>
          <a:p>
            <a:r>
              <a:rPr lang="en-US" sz="2400" dirty="0" smtClean="0"/>
              <a:t>String </a:t>
            </a:r>
            <a:r>
              <a:rPr lang="en-US" sz="2400" dirty="0" err="1" smtClean="0"/>
              <a:t>hib</a:t>
            </a:r>
            <a:r>
              <a:rPr lang="en-US" sz="2400" dirty="0" smtClean="0"/>
              <a:t> = "</a:t>
            </a:r>
            <a:r>
              <a:rPr lang="en-US" sz="2400" b="1" dirty="0" smtClean="0"/>
              <a:t>DELETE </a:t>
            </a:r>
            <a:r>
              <a:rPr lang="en-US" sz="2400" dirty="0" smtClean="0"/>
              <a:t>FROM Student WHERE id=10";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Query </a:t>
            </a:r>
            <a:r>
              <a:rPr lang="en-US" sz="2400" dirty="0" err="1" smtClean="0"/>
              <a:t>query</a:t>
            </a:r>
            <a:r>
              <a:rPr lang="en-US" sz="2400" dirty="0" smtClean="0"/>
              <a:t>=</a:t>
            </a:r>
            <a:r>
              <a:rPr lang="en-US" sz="2400" dirty="0" err="1" smtClean="0"/>
              <a:t>session.createQuery</a:t>
            </a:r>
            <a:r>
              <a:rPr lang="en-US" sz="2400" dirty="0" smtClean="0"/>
              <a:t>(</a:t>
            </a:r>
            <a:r>
              <a:rPr lang="en-US" sz="2400" dirty="0" err="1" smtClean="0"/>
              <a:t>hib</a:t>
            </a:r>
            <a:r>
              <a:rPr lang="en-US" sz="2400" dirty="0" smtClean="0"/>
              <a:t>); </a:t>
            </a:r>
            <a:br>
              <a:rPr lang="en-US" sz="2400" dirty="0" smtClean="0"/>
            </a:br>
            <a:r>
              <a:rPr lang="en-US" sz="2400" dirty="0" err="1" smtClean="0"/>
              <a:t>query.executeUpdate</a:t>
            </a:r>
            <a:r>
              <a:rPr lang="en-US" sz="2400" dirty="0" smtClean="0"/>
              <a:t>();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7. INSERT Clause</a:t>
            </a:r>
          </a:p>
          <a:p>
            <a:pPr fontAlgn="base"/>
            <a:r>
              <a:rPr lang="en-US" sz="2400" dirty="0" smtClean="0"/>
              <a:t>It is required to </a:t>
            </a:r>
            <a:r>
              <a:rPr lang="en-US" sz="2400" i="1" dirty="0" smtClean="0"/>
              <a:t>Insert values</a:t>
            </a:r>
            <a:r>
              <a:rPr lang="en-US" sz="2400" dirty="0" smtClean="0"/>
              <a:t> into the relation.</a:t>
            </a:r>
          </a:p>
          <a:p>
            <a:r>
              <a:rPr lang="en-US" sz="2400" dirty="0" smtClean="0"/>
              <a:t>String </a:t>
            </a:r>
            <a:r>
              <a:rPr lang="en-US" sz="2400" dirty="0" err="1" smtClean="0"/>
              <a:t>hib</a:t>
            </a:r>
            <a:r>
              <a:rPr lang="en-US" sz="2400" dirty="0" smtClean="0"/>
              <a:t> = "</a:t>
            </a:r>
            <a:r>
              <a:rPr lang="en-US" sz="2400" b="1" dirty="0" smtClean="0"/>
              <a:t>INSERT</a:t>
            </a:r>
            <a:r>
              <a:rPr lang="en-US" sz="2400" dirty="0" smtClean="0"/>
              <a:t> INTO Student(</a:t>
            </a:r>
            <a:r>
              <a:rPr lang="en-US" sz="2400" dirty="0" err="1" smtClean="0"/>
              <a:t>first_name</a:t>
            </a:r>
            <a:r>
              <a:rPr lang="en-US" sz="2400" dirty="0" smtClean="0"/>
              <a:t>, </a:t>
            </a:r>
            <a:r>
              <a:rPr lang="en-US" sz="2400" dirty="0" err="1" smtClean="0"/>
              <a:t>last_name</a:t>
            </a:r>
            <a:r>
              <a:rPr lang="en-US" sz="2400" dirty="0" smtClean="0"/>
              <a:t>)" +</a:t>
            </a:r>
            <a:br>
              <a:rPr lang="en-US" sz="2400" dirty="0" smtClean="0"/>
            </a:br>
            <a:r>
              <a:rPr lang="en-US" sz="2400" dirty="0" smtClean="0"/>
              <a:t>"SELECT </a:t>
            </a:r>
            <a:r>
              <a:rPr lang="en-US" sz="2400" dirty="0" err="1" smtClean="0"/>
              <a:t>first_name</a:t>
            </a:r>
            <a:r>
              <a:rPr lang="en-US" sz="2400" dirty="0" smtClean="0"/>
              <a:t>, </a:t>
            </a:r>
            <a:r>
              <a:rPr lang="en-US" sz="2400" dirty="0" err="1" smtClean="0"/>
              <a:t>last_name</a:t>
            </a:r>
            <a:r>
              <a:rPr lang="en-US" sz="2400" dirty="0" smtClean="0"/>
              <a:t> FROM </a:t>
            </a:r>
            <a:r>
              <a:rPr lang="en-US" sz="2400" dirty="0" err="1" smtClean="0"/>
              <a:t>backup_student</a:t>
            </a:r>
            <a:r>
              <a:rPr lang="en-US" sz="2400" dirty="0" smtClean="0"/>
              <a:t>";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Query </a:t>
            </a:r>
            <a:r>
              <a:rPr lang="en-US" sz="2400" dirty="0" err="1" smtClean="0"/>
              <a:t>query</a:t>
            </a:r>
            <a:r>
              <a:rPr lang="en-US" sz="2400" dirty="0" smtClean="0"/>
              <a:t> = </a:t>
            </a:r>
            <a:r>
              <a:rPr lang="en-US" sz="2400" dirty="0" err="1" smtClean="0"/>
              <a:t>session.createQuery</a:t>
            </a:r>
            <a:r>
              <a:rPr lang="en-US" sz="2400" dirty="0" smtClean="0"/>
              <a:t>(</a:t>
            </a:r>
            <a:r>
              <a:rPr lang="en-US" sz="2400" dirty="0" err="1" smtClean="0"/>
              <a:t>hib</a:t>
            </a:r>
            <a:r>
              <a:rPr lang="en-US" sz="2400" dirty="0" smtClean="0"/>
              <a:t>);</a:t>
            </a:r>
            <a:br>
              <a:rPr lang="en-US" sz="2400" dirty="0" smtClean="0"/>
            </a:br>
            <a:r>
              <a:rPr lang="en-US" sz="2400" dirty="0" err="1" smtClean="0"/>
              <a:t>int</a:t>
            </a:r>
            <a:r>
              <a:rPr lang="en-US" sz="2400" dirty="0" smtClean="0"/>
              <a:t> result = </a:t>
            </a:r>
            <a:r>
              <a:rPr lang="en-US" sz="2400" dirty="0" err="1" smtClean="0"/>
              <a:t>query.executeUpdate</a:t>
            </a:r>
            <a:r>
              <a:rPr lang="en-US" sz="2400" dirty="0" smtClean="0"/>
              <a:t>();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HCQL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dirty="0" smtClean="0"/>
              <a:t>Hibernate Criteria Query Language (HCQL) provides a type-safe, object-oriented approach to querying database entities in Hibernate. 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It's built using Java code instead of string-based queries like HQL, offering better readability, maintainability, and reduced risk of errors. 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HCQL uses the Criteria interface, Restrictions class, and Order class to define query conditions, filters, and sorting. 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HCQL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Criteria Interface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 </a:t>
            </a:r>
            <a:r>
              <a:rPr lang="en-US" sz="2400" b="1" dirty="0" smtClean="0"/>
              <a:t>Criteria</a:t>
            </a:r>
            <a:r>
              <a:rPr lang="en-US" sz="2400" dirty="0" smtClean="0"/>
              <a:t> interface is the main part of HCQL. It provides methods to add conditions, set limits, and define how results should be ordered.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You create a </a:t>
            </a:r>
            <a:r>
              <a:rPr lang="en-US" sz="2400" b="1" dirty="0" smtClean="0"/>
              <a:t>Criteria</a:t>
            </a:r>
            <a:r>
              <a:rPr lang="en-US" sz="2400" dirty="0" smtClean="0"/>
              <a:t> object by calling the </a:t>
            </a:r>
            <a:r>
              <a:rPr lang="en-US" sz="2400" b="1" dirty="0" err="1" smtClean="0"/>
              <a:t>createCriteria</a:t>
            </a:r>
            <a:r>
              <a:rPr lang="en-US" sz="2400" b="1" dirty="0" smtClean="0"/>
              <a:t>()</a:t>
            </a:r>
            <a:r>
              <a:rPr lang="en-US" sz="2400" dirty="0" smtClean="0"/>
              <a:t> method from the Hibernate </a:t>
            </a:r>
            <a:r>
              <a:rPr lang="en-US" sz="2400" b="1" dirty="0" smtClean="0"/>
              <a:t>Session</a:t>
            </a:r>
            <a:r>
              <a:rPr lang="en-US" sz="2400" dirty="0" smtClean="0"/>
              <a:t>.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Example of creating a Criteria object:</a:t>
            </a:r>
            <a:endParaRPr lang="en-US" sz="2400" dirty="0" smtClean="0"/>
          </a:p>
          <a:p>
            <a:pPr algn="just"/>
            <a:r>
              <a:rPr lang="en-US" sz="2400" dirty="0" smtClean="0"/>
              <a:t>Criteria c = </a:t>
            </a:r>
            <a:r>
              <a:rPr lang="en-US" sz="2400" dirty="0" err="1" smtClean="0"/>
              <a:t>session.createCriteria</a:t>
            </a:r>
            <a:r>
              <a:rPr lang="en-US" sz="2400" dirty="0" smtClean="0"/>
              <a:t>(</a:t>
            </a:r>
            <a:r>
              <a:rPr lang="en-US" sz="2400" dirty="0" err="1" smtClean="0"/>
              <a:t>Emp.class</a:t>
            </a:r>
            <a:r>
              <a:rPr lang="en-US" sz="2400" dirty="0" smtClean="0"/>
              <a:t>);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HCQL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Advantages of HCQL</a:t>
            </a:r>
          </a:p>
          <a:p>
            <a:pPr marL="355600" indent="-355600" algn="just">
              <a:buFont typeface="Arial" pitchFamily="34" charset="0"/>
              <a:buChar char="•"/>
            </a:pPr>
            <a:r>
              <a:rPr lang="en-US" sz="2400" dirty="0" smtClean="0"/>
              <a:t>HCQL provides built-in methods to add conditions, making it simple for Java developers to use.</a:t>
            </a:r>
          </a:p>
          <a:p>
            <a:pPr marL="355600" indent="-355600" algn="just">
              <a:buFont typeface="Arial" pitchFamily="34" charset="0"/>
              <a:buChar char="•"/>
            </a:pPr>
            <a:r>
              <a:rPr lang="en-US" sz="2400" dirty="0" smtClean="0"/>
              <a:t>You can easily combine multiple conditions in a single query without worrying about query syntax.</a:t>
            </a:r>
          </a:p>
          <a:p>
            <a:pPr marL="355600" indent="-355600" algn="just">
              <a:buFont typeface="Arial" pitchFamily="34" charset="0"/>
              <a:buChar char="•"/>
            </a:pPr>
            <a:r>
              <a:rPr lang="en-US" sz="2400" dirty="0" smtClean="0"/>
              <a:t>Since queries are built using Java code, it’s easier to spot mistakes and fix them.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HCQL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Commonly used methods of Criteria:</a:t>
            </a:r>
            <a:endParaRPr lang="en-US" sz="2400" dirty="0" smtClean="0"/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add(Criterion c)</a:t>
            </a:r>
            <a:r>
              <a:rPr lang="en-US" sz="2400" dirty="0" smtClean="0"/>
              <a:t>: Adds a condition to the query.</a:t>
            </a:r>
          </a:p>
          <a:p>
            <a:pPr algn="just"/>
            <a:r>
              <a:rPr lang="en-US" sz="2400" b="1" dirty="0" err="1" smtClean="0"/>
              <a:t>addOrder</a:t>
            </a:r>
            <a:r>
              <a:rPr lang="en-US" sz="2400" b="1" dirty="0" smtClean="0"/>
              <a:t>(Order o)</a:t>
            </a:r>
            <a:r>
              <a:rPr lang="en-US" sz="2400" dirty="0" smtClean="0"/>
              <a:t>: Specifies how the results should be ordered.</a:t>
            </a:r>
          </a:p>
          <a:p>
            <a:pPr algn="just"/>
            <a:r>
              <a:rPr lang="en-US" sz="2400" b="1" dirty="0" err="1" smtClean="0"/>
              <a:t>setFirstResult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firstResult</a:t>
            </a:r>
            <a:r>
              <a:rPr lang="en-US" sz="2400" b="1" dirty="0" smtClean="0"/>
              <a:t>)</a:t>
            </a:r>
            <a:r>
              <a:rPr lang="en-US" sz="2400" dirty="0" smtClean="0"/>
              <a:t>: Sets where to start fetching records (useful for pagination).</a:t>
            </a:r>
          </a:p>
          <a:p>
            <a:pPr algn="just"/>
            <a:r>
              <a:rPr lang="en-US" sz="2400" b="1" dirty="0" err="1" smtClean="0"/>
              <a:t>setMaxResults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totalResult</a:t>
            </a:r>
            <a:r>
              <a:rPr lang="en-US" sz="2400" b="1" dirty="0" smtClean="0"/>
              <a:t>)</a:t>
            </a:r>
            <a:r>
              <a:rPr lang="en-US" sz="2400" dirty="0" smtClean="0"/>
              <a:t>: Sets how many records to fetch.</a:t>
            </a:r>
          </a:p>
          <a:p>
            <a:pPr algn="just"/>
            <a:r>
              <a:rPr lang="en-US" sz="2400" b="1" dirty="0" smtClean="0"/>
              <a:t>list()</a:t>
            </a:r>
            <a:r>
              <a:rPr lang="en-US" sz="2400" dirty="0" smtClean="0"/>
              <a:t>: Executes the query and returns the results as a list.</a:t>
            </a:r>
          </a:p>
          <a:p>
            <a:pPr algn="just"/>
            <a:r>
              <a:rPr lang="en-US" sz="2400" b="1" dirty="0" err="1" smtClean="0"/>
              <a:t>setProjection</a:t>
            </a:r>
            <a:r>
              <a:rPr lang="en-US" sz="2400" b="1" dirty="0" smtClean="0"/>
              <a:t>(Projection p)</a:t>
            </a:r>
            <a:r>
              <a:rPr lang="en-US" sz="2400" dirty="0" smtClean="0"/>
              <a:t>: Allows fetching specific columns instead of full objects.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HCQL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Order Class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The </a:t>
            </a:r>
            <a:r>
              <a:rPr lang="en-US" sz="2400" b="1" dirty="0" smtClean="0"/>
              <a:t>Order</a:t>
            </a:r>
            <a:r>
              <a:rPr lang="en-US" sz="2400" dirty="0" smtClean="0"/>
              <a:t> class is used to sort the results in ascending or descending order based on a specific property.</a:t>
            </a:r>
          </a:p>
          <a:p>
            <a:pPr algn="just"/>
            <a:r>
              <a:rPr lang="en-US" sz="2400" b="1" dirty="0" err="1" smtClean="0"/>
              <a:t>asc</a:t>
            </a:r>
            <a:r>
              <a:rPr lang="en-US" sz="2400" b="1" dirty="0" smtClean="0"/>
              <a:t>(property)</a:t>
            </a:r>
            <a:r>
              <a:rPr lang="en-US" sz="2400" dirty="0" smtClean="0"/>
              <a:t>: Sorts in ascending order.</a:t>
            </a:r>
          </a:p>
          <a:p>
            <a:pPr algn="just"/>
            <a:r>
              <a:rPr lang="en-US" sz="2400" b="1" dirty="0" err="1" smtClean="0"/>
              <a:t>desc</a:t>
            </a:r>
            <a:r>
              <a:rPr lang="en-US" sz="2400" b="1" dirty="0" smtClean="0"/>
              <a:t>(property)</a:t>
            </a:r>
            <a:r>
              <a:rPr lang="en-US" sz="2400" dirty="0" smtClean="0"/>
              <a:t>: Sorts in descending order.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323</Words>
  <Application>Microsoft Office PowerPoint</Application>
  <PresentationFormat>On-screen Show (4:3)</PresentationFormat>
  <Paragraphs>108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174</cp:revision>
  <dcterms:created xsi:type="dcterms:W3CDTF">2024-12-13T07:18:04Z</dcterms:created>
  <dcterms:modified xsi:type="dcterms:W3CDTF">2025-05-17T05:26:29Z</dcterms:modified>
</cp:coreProperties>
</file>