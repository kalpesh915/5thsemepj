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2" r:id="rId14"/>
    <p:sldId id="263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664" y="-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Chapter-2: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Session </a:t>
            </a: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Trackking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…………….……….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CRUD </a:t>
            </a:r>
            <a:r>
              <a:rPr lang="en-US" sz="2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Operations…………………………….12</a:t>
            </a:r>
            <a:endParaRPr lang="en-US" sz="22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err="1" smtClean="0"/>
              <a:t>Servlets</a:t>
            </a:r>
            <a:r>
              <a:rPr lang="en-US" sz="2400" dirty="0" smtClean="0"/>
              <a:t> are the Java programs that run on the Java-enabled web server or application server. 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They are used to handle the request obtained from the </a:t>
            </a:r>
            <a:r>
              <a:rPr lang="en-US" sz="2400" dirty="0" err="1" smtClean="0"/>
              <a:t>webserver</a:t>
            </a:r>
            <a:r>
              <a:rPr lang="en-US" sz="2400" dirty="0" smtClean="0"/>
              <a:t>, process the request, produce the response, then send a response back to the </a:t>
            </a:r>
            <a:r>
              <a:rPr lang="en-US" sz="2400" dirty="0" err="1" smtClean="0"/>
              <a:t>webserver</a:t>
            </a:r>
            <a:endParaRPr lang="en-US" sz="2400" dirty="0" smtClean="0"/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HTTP is a “stateless” protocol, which means that each time a client requests a Web page, the client establishes a new connection with the Web server, and the server does not retain track of prior requests.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 conversation of a user over a period of time is referred to as a </a:t>
            </a:r>
            <a:r>
              <a:rPr lang="en-US" sz="2400" b="1" dirty="0" smtClean="0"/>
              <a:t>session</a:t>
            </a:r>
            <a:r>
              <a:rPr lang="en-US" sz="2400" dirty="0" smtClean="0"/>
              <a:t>. In general, it refers to a certain period of time.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 recording of the object in session is known as</a:t>
            </a:r>
            <a:r>
              <a:rPr lang="en-US" sz="2400" b="1" dirty="0" smtClean="0"/>
              <a:t> tracking</a:t>
            </a:r>
            <a:r>
              <a:rPr lang="en-US" sz="2400" dirty="0" smtClean="0"/>
              <a:t>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b="1" dirty="0" smtClean="0"/>
              <a:t>Session tracking</a:t>
            </a:r>
            <a:r>
              <a:rPr lang="en-US" sz="2400" dirty="0" smtClean="0"/>
              <a:t> is the process of remembering and documenting customer conversations over time. Session management is another name for it.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 term “</a:t>
            </a:r>
            <a:r>
              <a:rPr lang="en-US" sz="2400" b="1" dirty="0" err="1" smtClean="0"/>
              <a:t>stateful</a:t>
            </a:r>
            <a:r>
              <a:rPr lang="en-US" sz="2400" b="1" dirty="0" smtClean="0"/>
              <a:t> web application</a:t>
            </a:r>
            <a:r>
              <a:rPr lang="en-US" sz="2400" dirty="0" smtClean="0"/>
              <a:t>” refers to a web application that is capable of remembering and recording client conversations over time.</a:t>
            </a:r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Why is Session Tracking Required?</a:t>
            </a:r>
            <a:endParaRPr lang="en-US" sz="2400" dirty="0" smtClean="0"/>
          </a:p>
          <a:p>
            <a:pPr algn="just" fontAlgn="base">
              <a:buFont typeface="Arial" pitchFamily="34" charset="0"/>
              <a:buChar char="•"/>
            </a:pPr>
            <a:endParaRPr lang="en-US" sz="2400" dirty="0" smtClean="0"/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Because the HTTP protocol is stateless, we require Session Tracking to make the client-server relationship </a:t>
            </a:r>
            <a:r>
              <a:rPr lang="en-US" sz="2400" dirty="0" err="1" smtClean="0"/>
              <a:t>stateful</a:t>
            </a:r>
            <a:r>
              <a:rPr lang="en-US" sz="2400" dirty="0" smtClean="0"/>
              <a:t>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Session tracking is important for tracking conversions in online shopping, mailing applications, and E-Commerce applications.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 HTTP protocol is stateless, which implies that each request is treated as a new one. As you can see in the image below.</a:t>
            </a:r>
          </a:p>
          <a:p>
            <a:pPr algn="just"/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Deleting Session Data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Remove a specific attribute You can delete the value associated with a specific key by calling the public void </a:t>
            </a:r>
            <a:r>
              <a:rPr lang="en-US" sz="2400" dirty="0" err="1" smtClean="0"/>
              <a:t>removeAttribute</a:t>
            </a:r>
            <a:r>
              <a:rPr lang="en-US" sz="2400" dirty="0" smtClean="0"/>
              <a:t>(String name) function.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Delete your whole session. To delete an entire session, use the public void invalidate() function.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Setting Session Timeout You may set the timeout for a session separately by calling the public void </a:t>
            </a:r>
            <a:r>
              <a:rPr lang="en-US" sz="2400" dirty="0" err="1" smtClean="0"/>
              <a:t>setMaxInactiveInterval</a:t>
            </a:r>
            <a:r>
              <a:rPr lang="en-US" sz="2400" dirty="0" smtClean="0"/>
              <a:t>(</a:t>
            </a:r>
            <a:r>
              <a:rPr lang="en-US" sz="2400" dirty="0" err="1" smtClean="0"/>
              <a:t>int</a:t>
            </a:r>
            <a:r>
              <a:rPr lang="en-US" sz="2400" dirty="0" smtClean="0"/>
              <a:t> interval) function.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Log the user out On servers that support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 2.4, you may use the logout method to log the client out of the Web server and invalidate all of the users’ sessions.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Deleting Session Data</a:t>
            </a:r>
          </a:p>
          <a:p>
            <a:pPr algn="just" fontAlgn="base"/>
            <a:endParaRPr lang="en-US" sz="2400" dirty="0" smtClean="0"/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web.xml Configuration If you’re using Tomcat, you may set the session timeout in the web.xml file, in addition to the ways listed above.</a:t>
            </a:r>
          </a:p>
          <a:p>
            <a:pPr marL="355600" indent="-355600" fontAlgn="base"/>
            <a:endParaRPr lang="en-US" sz="2400" b="1" dirty="0" smtClean="0"/>
          </a:p>
          <a:p>
            <a:pPr marL="355600" indent="-355600" fontAlgn="base"/>
            <a:r>
              <a:rPr lang="en-US" sz="2400" b="1" dirty="0" smtClean="0"/>
              <a:t>&lt;session-</a:t>
            </a:r>
            <a:r>
              <a:rPr lang="en-US" sz="2400" b="1" dirty="0" err="1" smtClean="0"/>
              <a:t>config</a:t>
            </a:r>
            <a:r>
              <a:rPr lang="en-US" sz="2400" b="1" dirty="0" smtClean="0"/>
              <a:t>&gt;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/>
              <a:t>&lt;session-timeout&gt;20&lt;/session-timeout&gt;</a:t>
            </a:r>
          </a:p>
          <a:p>
            <a:pPr marL="355600" indent="-355600" fontAlgn="base"/>
            <a:r>
              <a:rPr lang="en-US" sz="2400" b="1" dirty="0" smtClean="0"/>
              <a:t>&lt;/session-</a:t>
            </a:r>
            <a:r>
              <a:rPr lang="en-US" sz="2400" b="1" dirty="0" err="1" smtClean="0"/>
              <a:t>config</a:t>
            </a:r>
            <a:r>
              <a:rPr lang="en-US" sz="2400" b="1" dirty="0" smtClean="0"/>
              <a:t>&gt;</a:t>
            </a:r>
            <a:endParaRPr lang="en-US" sz="2400" dirty="0" smtClean="0"/>
          </a:p>
          <a:p>
            <a:pPr algn="just"/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Session Tracking employs Four Different techniques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b="1" dirty="0" smtClean="0"/>
              <a:t>Cookies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Cookies are little pieces of data delivered by the web server in the response header and kept by the browser.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Each web client can be assigned a unique session ID by a web server.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Cookies are used to keep the session going. Cookies can be turned off by the client.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Session Tracking employs Four Different techniques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b="1" dirty="0" smtClean="0"/>
              <a:t>Hidden Form Field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The information is inserted into the web pages via the hidden form field, which is then transferred to the server. These fields are hidden from the user’s view.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&lt;input type = hidden' name = 'session' value = '12345' &gt;</a:t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Session Tracking employs Four Different techniques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algn="just" fontAlgn="base"/>
            <a:r>
              <a:rPr lang="en-US" sz="2400" b="1" dirty="0" smtClean="0"/>
              <a:t>URL Rewriting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With each request and return, append some more data via URL as request parameters. URL rewriting is a better technique to keep session management and browser operations in sync.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Session Tracking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Session Tracking employs Four Different techniques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fontAlgn="base"/>
            <a:r>
              <a:rPr lang="en-US" sz="2400" b="1" dirty="0" err="1" smtClean="0"/>
              <a:t>HttpSession</a:t>
            </a:r>
            <a:endParaRPr lang="en-US" sz="2400" b="1" dirty="0" smtClean="0"/>
          </a:p>
          <a:p>
            <a:pPr fontAlgn="base"/>
            <a:endParaRPr lang="en-US" sz="2400" b="1" dirty="0" smtClean="0"/>
          </a:p>
          <a:p>
            <a:pPr algn="just" fontAlgn="base"/>
            <a:r>
              <a:rPr lang="en-US" sz="2400" dirty="0" smtClean="0"/>
              <a:t>A user session is represented by the </a:t>
            </a:r>
            <a:r>
              <a:rPr lang="en-US" sz="2400" dirty="0" err="1" smtClean="0"/>
              <a:t>HttpSession</a:t>
            </a:r>
            <a:r>
              <a:rPr lang="en-US" sz="2400" dirty="0" smtClean="0"/>
              <a:t> object. A session is established between an HTTP client and an HTTP server using the </a:t>
            </a:r>
            <a:r>
              <a:rPr lang="en-US" sz="2400" dirty="0" err="1" smtClean="0"/>
              <a:t>HttpSession</a:t>
            </a:r>
            <a:r>
              <a:rPr lang="en-US" sz="2400" dirty="0" smtClean="0"/>
              <a:t> interface. A user session is a collection of data about a user that spans many HTTP requests.</a:t>
            </a:r>
          </a:p>
          <a:p>
            <a:pPr fontAlgn="base"/>
            <a:endParaRPr lang="en-US" sz="2400" i="1" dirty="0" smtClean="0"/>
          </a:p>
          <a:p>
            <a:pPr fontAlgn="base"/>
            <a:r>
              <a:rPr lang="en-US" sz="2400" i="1" dirty="0" err="1" smtClean="0"/>
              <a:t>HttpSession</a:t>
            </a:r>
            <a:r>
              <a:rPr lang="en-US" sz="2400" i="1" dirty="0" smtClean="0"/>
              <a:t> session = </a:t>
            </a:r>
            <a:r>
              <a:rPr lang="en-US" sz="2400" i="1" dirty="0" err="1" smtClean="0"/>
              <a:t>request.getSession</a:t>
            </a:r>
            <a:r>
              <a:rPr lang="en-US" sz="2400" i="1" dirty="0" smtClean="0"/>
              <a:t>( );</a:t>
            </a:r>
            <a:br>
              <a:rPr lang="en-US" sz="2400" i="1" dirty="0" smtClean="0"/>
            </a:br>
            <a:r>
              <a:rPr lang="en-US" sz="2400" i="1" dirty="0" err="1" smtClean="0"/>
              <a:t>Session.setAttribute</a:t>
            </a:r>
            <a:r>
              <a:rPr lang="en-US" sz="2400" i="1" dirty="0" smtClean="0"/>
              <a:t>("username", "password");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CRUD Operations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5994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dirty="0" smtClean="0"/>
              <a:t>CRUD means Create, Read, Update and Delete. These are the basic important operations carried out on the Database and in applications. </a:t>
            </a:r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b="1" dirty="0" smtClean="0"/>
              <a:t>Technology tools:</a:t>
            </a:r>
            <a:endParaRPr lang="en-US" sz="2400" dirty="0" smtClean="0"/>
          </a:p>
          <a:p>
            <a:pPr algn="just" fontAlgn="base"/>
            <a:r>
              <a:rPr lang="en-US" sz="2400" dirty="0" smtClean="0"/>
              <a:t>	</a:t>
            </a:r>
            <a:r>
              <a:rPr lang="en-US" sz="2400" dirty="0" err="1" smtClean="0"/>
              <a:t>MySQL</a:t>
            </a:r>
            <a:r>
              <a:rPr lang="en-US" sz="2400" dirty="0" smtClean="0"/>
              <a:t>(workbench) Database</a:t>
            </a:r>
          </a:p>
          <a:p>
            <a:pPr algn="just" fontAlgn="base"/>
            <a:r>
              <a:rPr lang="en-US" sz="2400" dirty="0" smtClean="0"/>
              <a:t>	IDE(</a:t>
            </a:r>
            <a:r>
              <a:rPr lang="en-US" sz="2400" dirty="0" err="1" smtClean="0"/>
              <a:t>Intellij</a:t>
            </a:r>
            <a:r>
              <a:rPr lang="en-US" sz="2400" dirty="0" smtClean="0"/>
              <a:t>)</a:t>
            </a:r>
          </a:p>
          <a:p>
            <a:pPr algn="just" fontAlgn="base"/>
            <a:r>
              <a:rPr lang="en-US" sz="2400" dirty="0" smtClean="0"/>
              <a:t>	Apache Tomcat(I used the Tomcat 9 version).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431</Words>
  <Application>Microsoft Office PowerPoint</Application>
  <PresentationFormat>On-screen Show (4:3)</PresentationFormat>
  <Paragraphs>84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105</cp:revision>
  <dcterms:created xsi:type="dcterms:W3CDTF">2024-12-13T07:18:04Z</dcterms:created>
  <dcterms:modified xsi:type="dcterms:W3CDTF">2025-05-17T05:25:05Z</dcterms:modified>
</cp:coreProperties>
</file>