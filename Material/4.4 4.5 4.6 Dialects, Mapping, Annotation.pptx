
<file path=[Content_Types].xml><?xml version="1.0" encoding="utf-8"?>
<Types xmlns="http://schemas.openxmlformats.org/package/2006/content-types">
  <Override PartName="/ppt/slides/slide6.xml" ContentType="application/vnd.openxmlformats-officedocument.presentationml.slide+xml"/>
  <Override PartName="/ppt/notesSlides/notesSlide2.xml" ContentType="application/vnd.openxmlformats-officedocument.presentationml.notesSlide+xml"/>
  <Override PartName="/ppt/metadata" ContentType="application/binary"/>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Override PartName="/ppt/notesSlides/notesSlide17.xml" ContentType="application/vnd.openxmlformats-officedocument.presentationml.notesSlide+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0"/>
  </p:notesMasterIdLst>
  <p:sldIdLst>
    <p:sldId id="256" r:id="rId2"/>
    <p:sldId id="257" r:id="rId3"/>
    <p:sldId id="288" r:id="rId4"/>
    <p:sldId id="347" r:id="rId5"/>
    <p:sldId id="348" r:id="rId6"/>
    <p:sldId id="349" r:id="rId7"/>
    <p:sldId id="350" r:id="rId8"/>
    <p:sldId id="351" r:id="rId9"/>
    <p:sldId id="352" r:id="rId10"/>
    <p:sldId id="353" r:id="rId11"/>
    <p:sldId id="354" r:id="rId12"/>
    <p:sldId id="355" r:id="rId13"/>
    <p:sldId id="358" r:id="rId14"/>
    <p:sldId id="359" r:id="rId15"/>
    <p:sldId id="356" r:id="rId16"/>
    <p:sldId id="357" r:id="rId17"/>
    <p:sldId id="262" r:id="rId18"/>
    <p:sldId id="263" r:id="rId19"/>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7" roundtripDataSignature="AMtx7miwGEa46m3SqSJsxoXyCwcLQkeae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D3BA4600-CF29-4966-8986-3B1AA4679568}">
  <a:tblStyle styleId="{D3BA4600-CF29-4966-8986-3B1AA4679568}"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p:cViewPr>
        <p:scale>
          <a:sx n="66" d="100"/>
          <a:sy n="66" d="100"/>
        </p:scale>
        <p:origin x="-1204" y="24"/>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59"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57" Type="http://customschemas.google.com/relationships/presentationmetadata" Target="metadata"/><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
        <p:cNvGrpSpPr/>
        <p:nvPr/>
      </p:nvGrpSpPr>
      <p:grpSpPr>
        <a:xfrm>
          <a:off x="0" y="0"/>
          <a:ext cx="0" cy="0"/>
          <a:chOff x="0" y="0"/>
          <a:chExt cx="0" cy="0"/>
        </a:xfrm>
      </p:grpSpPr>
      <p:sp>
        <p:nvSpPr>
          <p:cNvPr id="33" name="Google Shape;33;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 name="Google Shape;34;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1" name="Google Shape;41;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8" name="Google Shape;48;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3264a707208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3" name="Google Shape;83;g3264a707208_0_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0" name="Google Shape;90;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
        <p:cNvGrpSpPr/>
        <p:nvPr/>
      </p:nvGrpSpPr>
      <p:grpSpPr>
        <a:xfrm>
          <a:off x="0" y="0"/>
          <a:ext cx="0" cy="0"/>
          <a:chOff x="0" y="0"/>
          <a:chExt cx="0" cy="0"/>
        </a:xfrm>
      </p:grpSpPr>
      <p:sp>
        <p:nvSpPr>
          <p:cNvPr id="9" name="Google Shape;9;p7"/>
          <p:cNvSpPr/>
          <p:nvPr/>
        </p:nvSpPr>
        <p:spPr>
          <a:xfrm>
            <a:off x="4" y="1955845"/>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0" name="Google Shape;10;p7"/>
          <p:cNvSpPr/>
          <p:nvPr/>
        </p:nvSpPr>
        <p:spPr>
          <a:xfrm>
            <a:off x="603478" y="2256535"/>
            <a:ext cx="7887578" cy="1338828"/>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4050"/>
              <a:buFont typeface="Arial"/>
              <a:buNone/>
            </a:pPr>
            <a:r>
              <a:rPr lang="en-US" sz="4050" b="1" i="0" u="none" strike="noStrike" cap="none">
                <a:solidFill>
                  <a:srgbClr val="FFFFFF"/>
                </a:solidFill>
                <a:latin typeface="Calibri"/>
                <a:ea typeface="Calibri"/>
                <a:cs typeface="Calibri"/>
                <a:sym typeface="Calibri"/>
              </a:rPr>
              <a:t>Introduction &amp;</a:t>
            </a:r>
            <a:r>
              <a:rPr lang="en-US" sz="4050" b="0" i="0" u="none" strike="noStrike" cap="none">
                <a:solidFill>
                  <a:schemeClr val="dk1"/>
                </a:solidFill>
                <a:latin typeface="Calibri"/>
                <a:ea typeface="Calibri"/>
                <a:cs typeface="Calibri"/>
                <a:sym typeface="Calibri"/>
              </a:rPr>
              <a:t> </a:t>
            </a:r>
            <a:r>
              <a:rPr lang="en-US" sz="4050" b="1" i="0" u="none" strike="noStrike" cap="none">
                <a:solidFill>
                  <a:srgbClr val="FFFFFF"/>
                </a:solidFill>
                <a:latin typeface="Calibri"/>
                <a:ea typeface="Calibri"/>
                <a:cs typeface="Calibri"/>
                <a:sym typeface="Calibri"/>
              </a:rPr>
              <a:t>Programming with </a:t>
            </a:r>
            <a:br>
              <a:rPr lang="en-US" sz="4050" b="1" i="0" u="none" strike="noStrike" cap="none">
                <a:solidFill>
                  <a:srgbClr val="FFFFFF"/>
                </a:solidFill>
                <a:latin typeface="Calibri"/>
                <a:ea typeface="Calibri"/>
                <a:cs typeface="Calibri"/>
                <a:sym typeface="Calibri"/>
              </a:rPr>
            </a:br>
            <a:r>
              <a:rPr lang="en-US" sz="4050" b="1" i="0" u="none" strike="noStrike" cap="none">
                <a:solidFill>
                  <a:srgbClr val="FFFFFF"/>
                </a:solidFill>
                <a:latin typeface="Calibri"/>
                <a:ea typeface="Calibri"/>
                <a:cs typeface="Calibri"/>
                <a:sym typeface="Calibri"/>
              </a:rPr>
              <a:t>ESP8266</a:t>
            </a:r>
            <a:endParaRPr sz="4050" b="0" i="0" u="none" strike="noStrike" cap="none">
              <a:solidFill>
                <a:schemeClr val="dk1"/>
              </a:solidFill>
              <a:latin typeface="Calibri"/>
              <a:ea typeface="Calibri"/>
              <a:cs typeface="Calibri"/>
              <a:sym typeface="Calibri"/>
            </a:endParaRPr>
          </a:p>
        </p:txBody>
      </p:sp>
      <p:pic>
        <p:nvPicPr>
          <p:cNvPr id="11" name="Google Shape;11;p7"/>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12" name="Google Shape;12;p7"/>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dex Layout">
  <p:cSld name="Index Layout">
    <p:spTree>
      <p:nvGrpSpPr>
        <p:cNvPr id="1" name="Shape 13"/>
        <p:cNvGrpSpPr/>
        <p:nvPr/>
      </p:nvGrpSpPr>
      <p:grpSpPr>
        <a:xfrm>
          <a:off x="0" y="0"/>
          <a:ext cx="0" cy="0"/>
          <a:chOff x="0" y="0"/>
          <a:chExt cx="0" cy="0"/>
        </a:xfrm>
      </p:grpSpPr>
      <p:grpSp>
        <p:nvGrpSpPr>
          <p:cNvPr id="14" name="Google Shape;14;p8"/>
          <p:cNvGrpSpPr/>
          <p:nvPr/>
        </p:nvGrpSpPr>
        <p:grpSpPr>
          <a:xfrm>
            <a:off x="445191" y="0"/>
            <a:ext cx="8698811" cy="6857999"/>
            <a:chOff x="-4801433" y="-1782234"/>
            <a:chExt cx="18084927" cy="14257864"/>
          </a:xfrm>
        </p:grpSpPr>
        <p:sp>
          <p:nvSpPr>
            <p:cNvPr id="15" name="Google Shape;15;p8"/>
            <p:cNvSpPr/>
            <p:nvPr/>
          </p:nvSpPr>
          <p:spPr>
            <a:xfrm>
              <a:off x="-4801433" y="1790698"/>
              <a:ext cx="12600815" cy="983099"/>
            </a:xfrm>
            <a:custGeom>
              <a:avLst/>
              <a:gdLst/>
              <a:ahLst/>
              <a:cxnLst/>
              <a:rect l="l" t="t" r="r" b="b"/>
              <a:pathLst>
                <a:path w="4610100" h="660400" extrusionOk="0">
                  <a:moveTo>
                    <a:pt x="0" y="660400"/>
                  </a:moveTo>
                  <a:lnTo>
                    <a:pt x="4610100" y="660400"/>
                  </a:lnTo>
                  <a:lnTo>
                    <a:pt x="4610100" y="0"/>
                  </a:lnTo>
                  <a:lnTo>
                    <a:pt x="0" y="0"/>
                  </a:lnTo>
                  <a:lnTo>
                    <a:pt x="0" y="660400"/>
                  </a:lnTo>
                  <a:close/>
                </a:path>
              </a:pathLst>
            </a:custGeom>
            <a:solidFill>
              <a:srgbClr val="646464"/>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16" name="Google Shape;16;p8"/>
            <p:cNvSpPr/>
            <p:nvPr/>
          </p:nvSpPr>
          <p:spPr>
            <a:xfrm>
              <a:off x="8339276" y="-1782234"/>
              <a:ext cx="4944218" cy="14257864"/>
            </a:xfrm>
            <a:custGeom>
              <a:avLst/>
              <a:gdLst/>
              <a:ahLst/>
              <a:cxnLst/>
              <a:rect l="l" t="t" r="r" b="b"/>
              <a:pathLst>
                <a:path w="2387600" h="10693400" extrusionOk="0">
                  <a:moveTo>
                    <a:pt x="0" y="0"/>
                  </a:moveTo>
                  <a:lnTo>
                    <a:pt x="2387600" y="0"/>
                  </a:lnTo>
                  <a:lnTo>
                    <a:pt x="2387600" y="10693400"/>
                  </a:lnTo>
                  <a:lnTo>
                    <a:pt x="0" y="10693400"/>
                  </a:lnTo>
                  <a:lnTo>
                    <a:pt x="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grpSp>
      <p:pic>
        <p:nvPicPr>
          <p:cNvPr id="17" name="Google Shape;17;p8"/>
          <p:cNvPicPr preferRelativeResize="0"/>
          <p:nvPr/>
        </p:nvPicPr>
        <p:blipFill rotWithShape="1">
          <a:blip r:embed="rId2">
            <a:alphaModFix/>
          </a:blip>
          <a:srcRect/>
          <a:stretch/>
        </p:blipFill>
        <p:spPr>
          <a:xfrm>
            <a:off x="6826923" y="234877"/>
            <a:ext cx="2063449" cy="617000"/>
          </a:xfrm>
          <a:prstGeom prst="rect">
            <a:avLst/>
          </a:prstGeom>
          <a:noFill/>
          <a:ln>
            <a:noFill/>
          </a:ln>
        </p:spPr>
      </p:pic>
      <p:pic>
        <p:nvPicPr>
          <p:cNvPr id="18" name="Google Shape;18;p8"/>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9"/>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9"/>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 name="Google Shape;22;p9"/>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pic>
        <p:nvPicPr>
          <p:cNvPr id="23" name="Google Shape;23;p9"/>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24" name="Google Shape;24;p9"/>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dslide Layout">
  <p:cSld name="Endslide Layout">
    <p:spTree>
      <p:nvGrpSpPr>
        <p:cNvPr id="1" name="Shape 25"/>
        <p:cNvGrpSpPr/>
        <p:nvPr/>
      </p:nvGrpSpPr>
      <p:grpSpPr>
        <a:xfrm>
          <a:off x="0" y="0"/>
          <a:ext cx="0" cy="0"/>
          <a:chOff x="0" y="0"/>
          <a:chExt cx="0" cy="0"/>
        </a:xfrm>
      </p:grpSpPr>
      <p:pic>
        <p:nvPicPr>
          <p:cNvPr id="26" name="Google Shape;26;p11"/>
          <p:cNvPicPr preferRelativeResize="0"/>
          <p:nvPr/>
        </p:nvPicPr>
        <p:blipFill rotWithShape="1">
          <a:blip r:embed="rId2">
            <a:alphaModFix/>
          </a:blip>
          <a:srcRect/>
          <a:stretch/>
        </p:blipFill>
        <p:spPr>
          <a:xfrm>
            <a:off x="0" y="0"/>
            <a:ext cx="9144000" cy="68580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Layout">
  <p:cSld name="Content Layout">
    <p:spTree>
      <p:nvGrpSpPr>
        <p:cNvPr id="1" name="Shape 27"/>
        <p:cNvGrpSpPr/>
        <p:nvPr/>
      </p:nvGrpSpPr>
      <p:grpSpPr>
        <a:xfrm>
          <a:off x="0" y="0"/>
          <a:ext cx="0" cy="0"/>
          <a:chOff x="0" y="0"/>
          <a:chExt cx="0" cy="0"/>
        </a:xfrm>
      </p:grpSpPr>
      <p:sp>
        <p:nvSpPr>
          <p:cNvPr id="28" name="Google Shape;28;p10"/>
          <p:cNvSpPr/>
          <p:nvPr/>
        </p:nvSpPr>
        <p:spPr>
          <a:xfrm>
            <a:off x="1" y="6493764"/>
            <a:ext cx="9143999" cy="419100"/>
          </a:xfrm>
          <a:custGeom>
            <a:avLst/>
            <a:gdLst/>
            <a:ahLst/>
            <a:cxnLst/>
            <a:rect l="l" t="t" r="r" b="b"/>
            <a:pathLst>
              <a:path w="7556500" h="393700" extrusionOk="0">
                <a:moveTo>
                  <a:pt x="7556500" y="0"/>
                </a:moveTo>
                <a:lnTo>
                  <a:pt x="0" y="0"/>
                </a:lnTo>
                <a:lnTo>
                  <a:pt x="0" y="393700"/>
                </a:lnTo>
                <a:lnTo>
                  <a:pt x="7556500" y="393700"/>
                </a:lnTo>
                <a:lnTo>
                  <a:pt x="7556500" y="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29" name="Google Shape;29;p10"/>
          <p:cNvSpPr/>
          <p:nvPr/>
        </p:nvSpPr>
        <p:spPr>
          <a:xfrm>
            <a:off x="344873" y="3245670"/>
            <a:ext cx="2761065" cy="40305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154"/>
              <a:buFont typeface="Arial"/>
              <a:buNone/>
            </a:pPr>
            <a:r>
              <a:rPr lang="en-US" sz="1154" b="1" i="0" u="none" strike="noStrike" cap="none">
                <a:solidFill>
                  <a:schemeClr val="dk1"/>
                </a:solidFill>
                <a:latin typeface="Calibri"/>
                <a:ea typeface="Calibri"/>
                <a:cs typeface="Calibri"/>
                <a:sym typeface="Calibri"/>
              </a:rPr>
              <a:t> </a:t>
            </a:r>
            <a:r>
              <a:rPr lang="en-US" sz="864" b="0" i="0" u="none" strike="noStrike" cap="none">
                <a:solidFill>
                  <a:schemeClr val="dk1"/>
                </a:solidFill>
                <a:latin typeface="Calibri"/>
                <a:ea typeface="Calibri"/>
                <a:cs typeface="Calibri"/>
                <a:sym typeface="Calibri"/>
              </a:rPr>
              <a:t/>
            </a:r>
            <a:br>
              <a:rPr lang="en-US" sz="864" b="0" i="0" u="none" strike="noStrike" cap="none">
                <a:solidFill>
                  <a:schemeClr val="dk1"/>
                </a:solidFill>
                <a:latin typeface="Calibri"/>
                <a:ea typeface="Calibri"/>
                <a:cs typeface="Calibri"/>
                <a:sym typeface="Calibri"/>
              </a:rPr>
            </a:br>
            <a:endParaRPr sz="864" b="0" i="0" u="none" strike="noStrike" cap="none">
              <a:solidFill>
                <a:schemeClr val="dk1"/>
              </a:solidFill>
              <a:latin typeface="Calibri"/>
              <a:ea typeface="Calibri"/>
              <a:cs typeface="Calibri"/>
              <a:sym typeface="Calibri"/>
            </a:endParaRPr>
          </a:p>
        </p:txBody>
      </p:sp>
      <p:pic>
        <p:nvPicPr>
          <p:cNvPr id="30" name="Google Shape;30;p10"/>
          <p:cNvPicPr preferRelativeResize="0"/>
          <p:nvPr/>
        </p:nvPicPr>
        <p:blipFill rotWithShape="1">
          <a:blip r:embed="rId2">
            <a:alphaModFix/>
          </a:blip>
          <a:srcRect/>
          <a:stretch/>
        </p:blipFill>
        <p:spPr>
          <a:xfrm>
            <a:off x="6959885" y="344298"/>
            <a:ext cx="1837473" cy="410892"/>
          </a:xfrm>
          <a:prstGeom prst="rect">
            <a:avLst/>
          </a:prstGeom>
          <a:noFill/>
          <a:ln>
            <a:noFill/>
          </a:ln>
        </p:spPr>
      </p:pic>
      <p:pic>
        <p:nvPicPr>
          <p:cNvPr id="31" name="Google Shape;31;p10"/>
          <p:cNvPicPr preferRelativeResize="0"/>
          <p:nvPr/>
        </p:nvPicPr>
        <p:blipFill rotWithShape="1">
          <a:blip r:embed="rId3">
            <a:alphaModFix/>
          </a:blip>
          <a:srcRect/>
          <a:stretch/>
        </p:blipFill>
        <p:spPr>
          <a:xfrm>
            <a:off x="428625" y="381000"/>
            <a:ext cx="2799129" cy="374190"/>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6"/>
          <p:cNvSpPr txBox="1">
            <a:spLocks noGrp="1"/>
          </p:cNvSpPr>
          <p:nvPr>
            <p:ph type="title"/>
          </p:nvPr>
        </p:nvSpPr>
        <p:spPr>
          <a:xfrm>
            <a:off x="628650" y="934578"/>
            <a:ext cx="7886700" cy="1178001"/>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6"/>
          <p:cNvSpPr txBox="1">
            <a:spLocks noGrp="1"/>
          </p:cNvSpPr>
          <p:nvPr>
            <p:ph type="body" idx="1"/>
          </p:nvPr>
        </p:nvSpPr>
        <p:spPr>
          <a:xfrm>
            <a:off x="628650" y="2249992"/>
            <a:ext cx="7886700" cy="4095629"/>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1"/>
          <p:cNvSpPr/>
          <p:nvPr/>
        </p:nvSpPr>
        <p:spPr>
          <a:xfrm>
            <a:off x="4" y="1965470"/>
            <a:ext cx="9143999" cy="1935817"/>
          </a:xfrm>
          <a:custGeom>
            <a:avLst/>
            <a:gdLst/>
            <a:ahLst/>
            <a:cxnLst/>
            <a:rect l="l" t="t" r="r" b="b"/>
            <a:pathLst>
              <a:path w="7556500" h="2628900" extrusionOk="0">
                <a:moveTo>
                  <a:pt x="0" y="2628900"/>
                </a:moveTo>
                <a:lnTo>
                  <a:pt x="0" y="0"/>
                </a:lnTo>
                <a:lnTo>
                  <a:pt x="7556500" y="0"/>
                </a:lnTo>
                <a:lnTo>
                  <a:pt x="7556500" y="2628900"/>
                </a:lnTo>
                <a:lnTo>
                  <a:pt x="0" y="2628900"/>
                </a:lnTo>
                <a:close/>
              </a:path>
            </a:pathLst>
          </a:custGeom>
          <a:solidFill>
            <a:srgbClr val="1F487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864"/>
              <a:buFont typeface="Arial"/>
              <a:buNone/>
            </a:pPr>
            <a:endParaRPr sz="864" b="0" i="0" u="none" strike="noStrike" cap="none">
              <a:solidFill>
                <a:schemeClr val="dk1"/>
              </a:solidFill>
              <a:latin typeface="Calibri"/>
              <a:ea typeface="Calibri"/>
              <a:cs typeface="Calibri"/>
              <a:sym typeface="Calibri"/>
            </a:endParaRPr>
          </a:p>
        </p:txBody>
      </p:sp>
      <p:sp>
        <p:nvSpPr>
          <p:cNvPr id="37" name="Google Shape;37;p1"/>
          <p:cNvSpPr/>
          <p:nvPr/>
        </p:nvSpPr>
        <p:spPr>
          <a:xfrm>
            <a:off x="0" y="2366690"/>
            <a:ext cx="9144000" cy="1092566"/>
          </a:xfrm>
          <a:prstGeom prst="rect">
            <a:avLst/>
          </a:prstGeom>
          <a:noFill/>
          <a:ln>
            <a:noFill/>
          </a:ln>
        </p:spPr>
        <p:txBody>
          <a:bodyPr spcFirstLastPara="1" wrap="square" lIns="91425" tIns="45700" rIns="91425" bIns="45700" anchor="ctr" anchorCtr="0">
            <a:spAutoFit/>
          </a:bodyPr>
          <a:lstStyle/>
          <a:p>
            <a:pPr marL="0" marR="0" lvl="0" indent="0" algn="ctr" rtl="0">
              <a:lnSpc>
                <a:spcPct val="100000"/>
              </a:lnSpc>
              <a:spcBef>
                <a:spcPts val="0"/>
              </a:spcBef>
              <a:spcAft>
                <a:spcPts val="0"/>
              </a:spcAft>
              <a:buClr>
                <a:srgbClr val="000000"/>
              </a:buClr>
              <a:buSzPts val="3500"/>
              <a:buFont typeface="Arial"/>
              <a:buNone/>
            </a:pPr>
            <a:r>
              <a:rPr lang="en-US" sz="3500" b="1" dirty="0" smtClean="0">
                <a:solidFill>
                  <a:srgbClr val="FFFFFF"/>
                </a:solidFill>
                <a:latin typeface="Calibri"/>
                <a:ea typeface="Calibri"/>
                <a:cs typeface="Calibri"/>
                <a:sym typeface="Calibri"/>
              </a:rPr>
              <a:t>Enterprise Programming using JAVA</a:t>
            </a:r>
            <a:endParaRPr sz="3500" b="1" i="0" u="none" strike="noStrike" cap="none">
              <a:solidFill>
                <a:srgbClr val="FFFFFF"/>
              </a:solidFill>
              <a:latin typeface="Calibri"/>
              <a:ea typeface="Calibri"/>
              <a:cs typeface="Calibri"/>
              <a:sym typeface="Calibri"/>
            </a:endParaRPr>
          </a:p>
          <a:p>
            <a:pPr algn="ctr">
              <a:buSzPts val="3000"/>
            </a:pPr>
            <a:r>
              <a:rPr lang="en-US" sz="3000" b="1" i="0" u="none" strike="noStrike" cap="none" dirty="0" smtClean="0">
                <a:solidFill>
                  <a:srgbClr val="FFFFFF"/>
                </a:solidFill>
                <a:latin typeface="Calibri"/>
                <a:ea typeface="Calibri"/>
                <a:cs typeface="Calibri"/>
                <a:sym typeface="Calibri"/>
              </a:rPr>
              <a:t>Chapter-4: </a:t>
            </a:r>
            <a:r>
              <a:rPr lang="en-US" sz="3000" b="1" dirty="0" err="1" smtClean="0">
                <a:solidFill>
                  <a:srgbClr val="FFFFFF"/>
                </a:solidFill>
                <a:latin typeface="Calibri"/>
                <a:ea typeface="Calibri"/>
                <a:cs typeface="Calibri"/>
                <a:sym typeface="Calibri"/>
              </a:rPr>
              <a:t>Hibernet</a:t>
            </a:r>
            <a:r>
              <a:rPr lang="en-US" sz="3000" b="1" dirty="0" smtClean="0">
                <a:solidFill>
                  <a:srgbClr val="FFFFFF"/>
                </a:solidFill>
                <a:latin typeface="Calibri"/>
                <a:ea typeface="Calibri"/>
                <a:cs typeface="Calibri"/>
                <a:sym typeface="Calibri"/>
              </a:rPr>
              <a:t> (ORM)</a:t>
            </a:r>
            <a:endParaRPr sz="3000" b="1" i="0" u="none" strike="noStrike" cap="none">
              <a:solidFill>
                <a:srgbClr val="FFFFFF"/>
              </a:solidFill>
              <a:latin typeface="Calibri"/>
              <a:ea typeface="Calibri"/>
              <a:cs typeface="Calibri"/>
              <a:sym typeface="Calibri"/>
            </a:endParaRPr>
          </a:p>
        </p:txBody>
      </p:sp>
      <p:sp>
        <p:nvSpPr>
          <p:cNvPr id="38" name="Google Shape;38;p1"/>
          <p:cNvSpPr/>
          <p:nvPr/>
        </p:nvSpPr>
        <p:spPr>
          <a:xfrm>
            <a:off x="342741" y="5601409"/>
            <a:ext cx="3832829" cy="12156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1" i="0" u="none" strike="noStrike" cap="none" dirty="0">
                <a:solidFill>
                  <a:schemeClr val="dk1"/>
                </a:solidFill>
                <a:latin typeface="Calibri"/>
                <a:ea typeface="Calibri"/>
                <a:cs typeface="Calibri"/>
                <a:sym typeface="Calibri"/>
              </a:rPr>
              <a:t>Prof. </a:t>
            </a:r>
            <a:r>
              <a:rPr lang="en-US" sz="2200" b="1" i="0" u="none" strike="noStrike" cap="none" dirty="0" smtClean="0">
                <a:solidFill>
                  <a:schemeClr val="dk1"/>
                </a:solidFill>
                <a:latin typeface="Calibri"/>
                <a:ea typeface="Calibri"/>
                <a:cs typeface="Calibri"/>
                <a:sym typeface="Calibri"/>
              </a:rPr>
              <a:t>ARNIKA PATEL</a:t>
            </a:r>
            <a:r>
              <a:rPr lang="en-US" sz="2200" b="1" i="0" u="none" strike="noStrike" cap="none" dirty="0">
                <a:solidFill>
                  <a:schemeClr val="dk1"/>
                </a:solidFill>
                <a:latin typeface="Calibri"/>
                <a:ea typeface="Calibri"/>
                <a:cs typeface="Calibri"/>
                <a:sym typeface="Calibri"/>
              </a:rPr>
              <a:t/>
            </a:r>
            <a:br>
              <a:rPr lang="en-US" sz="2200" b="1" i="0" u="none" strike="noStrike" cap="none" dirty="0">
                <a:solidFill>
                  <a:schemeClr val="dk1"/>
                </a:solidFill>
                <a:latin typeface="Calibri"/>
                <a:ea typeface="Calibri"/>
                <a:cs typeface="Calibri"/>
                <a:sym typeface="Calibri"/>
              </a:rPr>
            </a:br>
            <a:r>
              <a:rPr lang="en-US" sz="1800" b="1" i="0" u="none" strike="noStrike" cap="none" dirty="0">
                <a:solidFill>
                  <a:schemeClr val="dk1"/>
                </a:solidFill>
                <a:latin typeface="Calibri"/>
                <a:ea typeface="Calibri"/>
                <a:cs typeface="Calibri"/>
                <a:sym typeface="Calibri"/>
              </a:rPr>
              <a:t>Assistant Professor </a:t>
            </a:r>
            <a:endParaRPr sz="18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r>
              <a:rPr lang="en-US" sz="1800" b="1" i="0" u="none" strike="noStrike" cap="none" dirty="0">
                <a:solidFill>
                  <a:schemeClr val="dk1"/>
                </a:solidFill>
                <a:latin typeface="Calibri"/>
                <a:ea typeface="Calibri"/>
                <a:cs typeface="Calibri"/>
                <a:sym typeface="Calibri"/>
              </a:rPr>
              <a:t>Department of </a:t>
            </a:r>
            <a:r>
              <a:rPr lang="en-US" sz="1800" b="1" i="0" u="none" strike="noStrike" cap="none" dirty="0" smtClean="0">
                <a:solidFill>
                  <a:schemeClr val="dk1"/>
                </a:solidFill>
                <a:latin typeface="Calibri"/>
                <a:ea typeface="Calibri"/>
                <a:cs typeface="Calibri"/>
                <a:sym typeface="Calibri"/>
              </a:rPr>
              <a:t>CSE</a:t>
            </a:r>
            <a:endParaRPr sz="1800" b="1"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2"/>
        <p:cNvGrpSpPr/>
        <p:nvPr/>
      </p:nvGrpSpPr>
      <p:grpSpPr>
        <a:xfrm>
          <a:off x="0" y="0"/>
          <a:ext cx="0" cy="0"/>
          <a:chOff x="0" y="0"/>
          <a:chExt cx="0" cy="0"/>
        </a:xfrm>
      </p:grpSpPr>
      <p:sp>
        <p:nvSpPr>
          <p:cNvPr id="43" name="Google Shape;43;p2"/>
          <p:cNvSpPr/>
          <p:nvPr/>
        </p:nvSpPr>
        <p:spPr>
          <a:xfrm>
            <a:off x="461900" y="2370175"/>
            <a:ext cx="6027900" cy="1200288"/>
          </a:xfrm>
          <a:prstGeom prst="rect">
            <a:avLst/>
          </a:prstGeom>
          <a:noFill/>
          <a:ln>
            <a:noFill/>
          </a:ln>
        </p:spPr>
        <p:txBody>
          <a:bodyPr spcFirstLastPara="1" wrap="square" lIns="91425" tIns="45700" rIns="91425" bIns="45700" anchor="t" anchorCtr="0">
            <a:spAutoFit/>
          </a:bodyPr>
          <a:lstStyle/>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Dialects…………………….…………………………...3</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Mapping……………………………………………….. 8</a:t>
            </a:r>
          </a:p>
          <a:p>
            <a:pPr marL="457200" lvl="0" indent="-368300">
              <a:buClr>
                <a:schemeClr val="dk1"/>
              </a:buClr>
              <a:buSzPts val="2200"/>
              <a:buFont typeface="Calibri"/>
              <a:buAutoNum type="arabicPeriod"/>
            </a:pPr>
            <a:r>
              <a:rPr lang="en-US" sz="2400" dirty="0" smtClean="0">
                <a:latin typeface="Calibri" pitchFamily="34" charset="0"/>
                <a:cs typeface="Calibri" pitchFamily="34" charset="0"/>
              </a:rPr>
              <a:t>Annotation……..…..</a:t>
            </a:r>
            <a:r>
              <a:rPr lang="en-US" sz="2400" dirty="0" smtClean="0">
                <a:solidFill>
                  <a:schemeClr val="dk1"/>
                </a:solidFill>
                <a:latin typeface="Calibri" pitchFamily="34" charset="0"/>
                <a:ea typeface="Calibri"/>
                <a:cs typeface="Calibri" pitchFamily="34" charset="0"/>
                <a:sym typeface="Calibri"/>
              </a:rPr>
              <a:t>……………………….………</a:t>
            </a:r>
            <a:r>
              <a:rPr lang="en-US" sz="2400" b="0" i="0" u="none" strike="noStrike" cap="none" dirty="0" smtClean="0">
                <a:solidFill>
                  <a:schemeClr val="dk1"/>
                </a:solidFill>
                <a:latin typeface="Calibri" pitchFamily="34" charset="0"/>
                <a:ea typeface="Calibri"/>
                <a:cs typeface="Calibri" pitchFamily="34" charset="0"/>
                <a:sym typeface="Calibri"/>
              </a:rPr>
              <a:t>	18</a:t>
            </a:r>
            <a:endParaRPr sz="2400" b="0" i="0" u="none" strike="noStrike" cap="none" dirty="0">
              <a:solidFill>
                <a:schemeClr val="dk1"/>
              </a:solidFill>
              <a:latin typeface="Calibri" pitchFamily="34" charset="0"/>
              <a:ea typeface="Calibri"/>
              <a:cs typeface="Calibri" pitchFamily="34" charset="0"/>
              <a:sym typeface="Calibri"/>
            </a:endParaRPr>
          </a:p>
        </p:txBody>
      </p:sp>
      <p:sp>
        <p:nvSpPr>
          <p:cNvPr id="44" name="Google Shape;44;p2"/>
          <p:cNvSpPr/>
          <p:nvPr/>
        </p:nvSpPr>
        <p:spPr>
          <a:xfrm>
            <a:off x="461889" y="1734925"/>
            <a:ext cx="33822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lt1"/>
                </a:solidFill>
                <a:latin typeface="Calibri"/>
                <a:ea typeface="Calibri"/>
                <a:cs typeface="Calibri"/>
                <a:sym typeface="Calibri"/>
              </a:rPr>
              <a:t>Content </a:t>
            </a:r>
            <a:endParaRPr sz="2400" b="0" i="0" u="none" strike="noStrike" cap="none">
              <a:solidFill>
                <a:schemeClr val="dk1"/>
              </a:solidFill>
              <a:latin typeface="Calibri"/>
              <a:ea typeface="Calibri"/>
              <a:cs typeface="Calibri"/>
              <a:sym typeface="Calibri"/>
            </a:endParaRPr>
          </a:p>
        </p:txBody>
      </p:sp>
      <p:sp>
        <p:nvSpPr>
          <p:cNvPr id="45" name="Google Shape;45;p2"/>
          <p:cNvSpPr/>
          <p:nvPr/>
        </p:nvSpPr>
        <p:spPr>
          <a:xfrm rot="5400000">
            <a:off x="6527840" y="5619817"/>
            <a:ext cx="1281120" cy="60016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300"/>
              <a:buFont typeface="Arial"/>
              <a:buNone/>
            </a:pPr>
            <a:r>
              <a:rPr lang="en-US" sz="3300" b="1" i="0" u="none" strike="noStrike" cap="none">
                <a:solidFill>
                  <a:schemeClr val="lt1"/>
                </a:solidFill>
                <a:latin typeface="Calibri"/>
                <a:ea typeface="Calibri"/>
                <a:cs typeface="Calibri"/>
                <a:sym typeface="Calibri"/>
              </a:rPr>
              <a:t>INDEX</a:t>
            </a:r>
            <a:endParaRPr sz="33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Dialects</a:t>
            </a:r>
          </a:p>
        </p:txBody>
      </p:sp>
      <p:sp>
        <p:nvSpPr>
          <p:cNvPr id="52" name="Google Shape;52;p3"/>
          <p:cNvSpPr/>
          <p:nvPr/>
        </p:nvSpPr>
        <p:spPr>
          <a:xfrm>
            <a:off x="383250" y="1626295"/>
            <a:ext cx="8533200" cy="4154943"/>
          </a:xfrm>
          <a:prstGeom prst="rect">
            <a:avLst/>
          </a:prstGeom>
          <a:noFill/>
          <a:ln>
            <a:noFill/>
          </a:ln>
        </p:spPr>
        <p:txBody>
          <a:bodyPr spcFirstLastPara="1" wrap="square" lIns="91425" tIns="45700" rIns="91425" bIns="45700" anchor="t" anchorCtr="0">
            <a:spAutoFit/>
          </a:bodyPr>
          <a:lstStyle/>
          <a:p>
            <a:pPr marL="355600" lvl="0" indent="-355600" algn="just">
              <a:buSzPts val="2200"/>
              <a:buFont typeface="Arial" pitchFamily="34" charset="0"/>
              <a:buChar char="•"/>
            </a:pPr>
            <a:r>
              <a:rPr lang="en-US" sz="2400" b="1" dirty="0" smtClean="0"/>
              <a:t>Dialect </a:t>
            </a:r>
            <a:r>
              <a:rPr lang="en-US" sz="2400" dirty="0" smtClean="0"/>
              <a:t>is a class that acts as a bridge between </a:t>
            </a:r>
            <a:r>
              <a:rPr lang="en-US" sz="2400" b="1" dirty="0" smtClean="0"/>
              <a:t>Java JDBC types</a:t>
            </a:r>
            <a:r>
              <a:rPr lang="en-US" sz="2400" dirty="0" smtClean="0"/>
              <a:t> and </a:t>
            </a:r>
            <a:r>
              <a:rPr lang="en-US" sz="2400" b="1" dirty="0" smtClean="0"/>
              <a:t>SQL types</a:t>
            </a:r>
            <a:r>
              <a:rPr lang="en-US" sz="2400" dirty="0" smtClean="0"/>
              <a:t>, which contains the mapping between java language data type and database </a:t>
            </a:r>
            <a:r>
              <a:rPr lang="en-US" sz="2400" dirty="0" err="1" smtClean="0"/>
              <a:t>datatype</a:t>
            </a:r>
            <a:r>
              <a:rPr lang="en-US" sz="2400" dirty="0" smtClean="0"/>
              <a:t>. </a:t>
            </a:r>
          </a:p>
          <a:p>
            <a:pPr marL="355600" lvl="0" indent="-355600" algn="just">
              <a:buSzPts val="2200"/>
              <a:buFont typeface="Arial" pitchFamily="34" charset="0"/>
              <a:buChar char="•"/>
            </a:pPr>
            <a:endParaRPr lang="en-US" sz="2400" dirty="0" smtClean="0"/>
          </a:p>
          <a:p>
            <a:pPr marL="355600" lvl="0" indent="-355600" algn="just">
              <a:buSzPts val="2200"/>
              <a:buFont typeface="Arial" pitchFamily="34" charset="0"/>
              <a:buChar char="•"/>
            </a:pPr>
            <a:r>
              <a:rPr lang="en-US" sz="2400" dirty="0" smtClean="0"/>
              <a:t>Dialect allows Hibernate to generate SQL optimized for a particular relational database. Hibernate generates queries for the specific database based on the </a:t>
            </a:r>
            <a:r>
              <a:rPr lang="en-US" sz="2400" b="1" dirty="0" smtClean="0"/>
              <a:t>Dialect </a:t>
            </a:r>
            <a:r>
              <a:rPr lang="en-US" sz="2400" dirty="0" smtClean="0"/>
              <a:t>class. </a:t>
            </a:r>
          </a:p>
          <a:p>
            <a:pPr marL="355600" lvl="0" indent="-355600" algn="just">
              <a:buSzPts val="2200"/>
              <a:buFont typeface="Arial" pitchFamily="34" charset="0"/>
              <a:buChar char="•"/>
            </a:pPr>
            <a:endParaRPr lang="en-US" sz="2400" dirty="0" smtClean="0"/>
          </a:p>
          <a:p>
            <a:pPr marL="355600" lvl="0" indent="-355600" algn="just">
              <a:buSzPts val="2200"/>
              <a:buFont typeface="Arial" pitchFamily="34" charset="0"/>
              <a:buChar char="•"/>
            </a:pPr>
            <a:r>
              <a:rPr lang="en-US" sz="2400" dirty="0" smtClean="0"/>
              <a:t>A hibernate dialect gives information to the framework of how to convert </a:t>
            </a:r>
            <a:r>
              <a:rPr lang="en-US" sz="2400" b="1" dirty="0" smtClean="0"/>
              <a:t>hibernate queries(HQL)</a:t>
            </a:r>
            <a:r>
              <a:rPr lang="en-US" sz="2400" dirty="0" smtClean="0"/>
              <a:t> into native </a:t>
            </a:r>
            <a:r>
              <a:rPr lang="en-US" sz="2400" b="1" dirty="0" smtClean="0"/>
              <a:t>SQL queries</a:t>
            </a:r>
            <a:r>
              <a:rPr lang="en-US" sz="2400" dirty="0" smtClean="0"/>
              <a:t>.</a:t>
            </a:r>
            <a:endParaRPr sz="2400" b="0" i="0" u="none" strike="noStrike" cap="none">
              <a:solidFill>
                <a:schemeClr val="dk1"/>
              </a:solidFill>
              <a:latin typeface="+mj-lt"/>
              <a:ea typeface="Calibri"/>
              <a:cs typeface="Calibri"/>
              <a:sym typeface="Calibri"/>
            </a:endParaRP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Dialects</a:t>
            </a:r>
          </a:p>
        </p:txBody>
      </p:sp>
      <p:sp>
        <p:nvSpPr>
          <p:cNvPr id="52" name="Google Shape;52;p3"/>
          <p:cNvSpPr/>
          <p:nvPr/>
        </p:nvSpPr>
        <p:spPr>
          <a:xfrm>
            <a:off x="383250" y="1626295"/>
            <a:ext cx="8533200" cy="2677616"/>
          </a:xfrm>
          <a:prstGeom prst="rect">
            <a:avLst/>
          </a:prstGeom>
          <a:noFill/>
          <a:ln>
            <a:noFill/>
          </a:ln>
        </p:spPr>
        <p:txBody>
          <a:bodyPr spcFirstLastPara="1" wrap="square" lIns="91425" tIns="45700" rIns="91425" bIns="45700" anchor="t" anchorCtr="0">
            <a:spAutoFit/>
          </a:bodyPr>
          <a:lstStyle/>
          <a:p>
            <a:pPr algn="just" fontAlgn="base"/>
            <a:r>
              <a:rPr lang="en-US" sz="2400" dirty="0" smtClean="0"/>
              <a:t>Dialects can be used in the following ways:</a:t>
            </a:r>
          </a:p>
          <a:p>
            <a:pPr marL="355600" indent="-355600" algn="just" fontAlgn="base">
              <a:buFont typeface="Arial" pitchFamily="34" charset="0"/>
              <a:buChar char="•"/>
            </a:pPr>
            <a:r>
              <a:rPr lang="en-US" sz="2400" dirty="0" smtClean="0"/>
              <a:t>To generate Optimized SQL queries</a:t>
            </a:r>
          </a:p>
          <a:p>
            <a:pPr marL="355600" indent="-355600" algn="just" fontAlgn="base">
              <a:buFont typeface="Arial" pitchFamily="34" charset="0"/>
              <a:buChar char="•"/>
            </a:pPr>
            <a:r>
              <a:rPr lang="en-US" sz="2400" dirty="0" smtClean="0"/>
              <a:t>To interact with a particular Database if the application works with the help of more than one Database.</a:t>
            </a:r>
          </a:p>
          <a:p>
            <a:pPr marL="355600" indent="-355600" algn="just" fontAlgn="base">
              <a:buFont typeface="Arial" pitchFamily="34" charset="0"/>
              <a:buChar char="•"/>
            </a:pPr>
            <a:r>
              <a:rPr lang="en-US" sz="2400" dirty="0" smtClean="0"/>
              <a:t>To set default values for hibernate configuration file properties based on the database software even though they are not specified in the configuration file.</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Dialects</a:t>
            </a:r>
          </a:p>
        </p:txBody>
      </p:sp>
      <p:sp>
        <p:nvSpPr>
          <p:cNvPr id="52" name="Google Shape;52;p3"/>
          <p:cNvSpPr/>
          <p:nvPr/>
        </p:nvSpPr>
        <p:spPr>
          <a:xfrm>
            <a:off x="383250" y="1626295"/>
            <a:ext cx="8533200" cy="3785611"/>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SQL Dialects Configuration</a:t>
            </a:r>
          </a:p>
          <a:p>
            <a:pPr algn="just" fontAlgn="base"/>
            <a:endParaRPr lang="en-US" sz="2400" dirty="0" smtClean="0"/>
          </a:p>
          <a:p>
            <a:pPr algn="just" fontAlgn="base"/>
            <a:r>
              <a:rPr lang="en-US" sz="2400" dirty="0" smtClean="0"/>
              <a:t>The SQL dialect converts the </a:t>
            </a:r>
            <a:r>
              <a:rPr lang="en-US" sz="2400" b="1" dirty="0" smtClean="0"/>
              <a:t>HQL query</a:t>
            </a:r>
            <a:r>
              <a:rPr lang="en-US" sz="2400" dirty="0" smtClean="0"/>
              <a:t> which we write in java or any other object-oriented program to the specific database SQL query. </a:t>
            </a:r>
          </a:p>
          <a:p>
            <a:pPr algn="just" fontAlgn="base"/>
            <a:endParaRPr lang="en-US" sz="2400" dirty="0" smtClean="0"/>
          </a:p>
          <a:p>
            <a:pPr algn="just" fontAlgn="base"/>
            <a:r>
              <a:rPr lang="en-US" sz="2400" dirty="0" smtClean="0"/>
              <a:t>For connecting any hibernate application with the database, it is required to provide the configuration of SQL dialect. </a:t>
            </a:r>
          </a:p>
          <a:p>
            <a:pPr algn="just" fontAlgn="base"/>
            <a:endParaRPr lang="en-US" sz="2400" dirty="0" smtClean="0"/>
          </a:p>
          <a:p>
            <a:pPr algn="just" fontAlgn="base"/>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Dialects</a:t>
            </a:r>
          </a:p>
        </p:txBody>
      </p:sp>
      <p:sp>
        <p:nvSpPr>
          <p:cNvPr id="52" name="Google Shape;52;p3"/>
          <p:cNvSpPr/>
          <p:nvPr/>
        </p:nvSpPr>
        <p:spPr>
          <a:xfrm>
            <a:off x="383250" y="1626295"/>
            <a:ext cx="8533200" cy="5632271"/>
          </a:xfrm>
          <a:prstGeom prst="rect">
            <a:avLst/>
          </a:prstGeom>
          <a:noFill/>
          <a:ln>
            <a:noFill/>
          </a:ln>
        </p:spPr>
        <p:txBody>
          <a:bodyPr spcFirstLastPara="1" wrap="square" lIns="91425" tIns="45700" rIns="91425" bIns="45700" anchor="t" anchorCtr="0">
            <a:spAutoFit/>
          </a:bodyPr>
          <a:lstStyle/>
          <a:p>
            <a:pPr algn="just" fontAlgn="base"/>
            <a:r>
              <a:rPr lang="en-US" sz="2400" b="1" dirty="0" smtClean="0"/>
              <a:t>SQL Dialects Configuration</a:t>
            </a:r>
          </a:p>
          <a:p>
            <a:pPr algn="just" fontAlgn="base"/>
            <a:r>
              <a:rPr lang="en-US" sz="2400" dirty="0" smtClean="0"/>
              <a:t>We can provide it in </a:t>
            </a:r>
            <a:r>
              <a:rPr lang="en-US" sz="2400" b="1" dirty="0" err="1" smtClean="0"/>
              <a:t>hibernate.cfg.xml</a:t>
            </a:r>
            <a:r>
              <a:rPr lang="en-US" sz="2400" dirty="0" smtClean="0"/>
              <a:t> </a:t>
            </a:r>
            <a:r>
              <a:rPr lang="en-US" sz="2400" b="1" dirty="0" smtClean="0"/>
              <a:t>(DB2 Dialect)</a:t>
            </a:r>
            <a:r>
              <a:rPr lang="en-US" sz="2400" dirty="0" smtClean="0"/>
              <a:t> as :</a:t>
            </a:r>
          </a:p>
          <a:p>
            <a:pPr fontAlgn="base"/>
            <a:r>
              <a:rPr lang="en-US" sz="2400" i="1" dirty="0" smtClean="0"/>
              <a:t>&lt;hibernate-configuration&gt;</a:t>
            </a:r>
          </a:p>
          <a:p>
            <a:pPr fontAlgn="base"/>
            <a:r>
              <a:rPr lang="en-US" sz="2400" i="1" dirty="0" smtClean="0"/>
              <a:t>        &lt;session-factory name="session-factory"&gt;</a:t>
            </a:r>
          </a:p>
          <a:p>
            <a:pPr fontAlgn="base"/>
            <a:r>
              <a:rPr lang="en-US" sz="2400" i="1" dirty="0" smtClean="0"/>
              <a:t>                 &lt;property name="</a:t>
            </a:r>
            <a:r>
              <a:rPr lang="en-US" sz="2400" i="1" dirty="0" err="1" smtClean="0"/>
              <a:t>hibernate.dialect</a:t>
            </a:r>
            <a:r>
              <a:rPr lang="en-US" sz="2400" i="1" dirty="0" smtClean="0"/>
              <a:t>"&gt;</a:t>
            </a:r>
            <a:r>
              <a:rPr lang="en-US" sz="2400" b="1" i="1" dirty="0" smtClean="0"/>
              <a:t>org.hibernate.dialect.DB2Dialect</a:t>
            </a:r>
            <a:r>
              <a:rPr lang="en-US" sz="2400" i="1" dirty="0" smtClean="0"/>
              <a:t>&lt;/property&gt;</a:t>
            </a:r>
          </a:p>
          <a:p>
            <a:pPr fontAlgn="base"/>
            <a:r>
              <a:rPr lang="en-US" sz="2400" i="1" dirty="0" smtClean="0"/>
              <a:t>        &lt;/session-factory&gt;</a:t>
            </a:r>
          </a:p>
          <a:p>
            <a:pPr fontAlgn="base"/>
            <a:r>
              <a:rPr lang="en-US" sz="2400" i="1" dirty="0" smtClean="0"/>
              <a:t>&lt;/hibernate-configuration&gt;</a:t>
            </a:r>
          </a:p>
          <a:p>
            <a:pPr fontAlgn="base"/>
            <a:endParaRPr lang="en-US" sz="2400" dirty="0" smtClean="0"/>
          </a:p>
          <a:p>
            <a:pPr fontAlgn="base"/>
            <a:r>
              <a:rPr lang="en-US" sz="2400" dirty="0" smtClean="0"/>
              <a:t>We can also specify in</a:t>
            </a:r>
            <a:r>
              <a:rPr lang="en-US" sz="2400" b="1" dirty="0" smtClean="0"/>
              <a:t> </a:t>
            </a:r>
            <a:r>
              <a:rPr lang="en-US" sz="2400" dirty="0" smtClean="0"/>
              <a:t>the properties file as :</a:t>
            </a:r>
            <a:br>
              <a:rPr lang="en-US" sz="2400" dirty="0" smtClean="0"/>
            </a:br>
            <a:r>
              <a:rPr lang="en-US" sz="2400" b="1" i="1" dirty="0" err="1" smtClean="0"/>
              <a:t>hibernate.dialect</a:t>
            </a:r>
            <a:r>
              <a:rPr lang="en-US" sz="2400" b="1" i="1" dirty="0" smtClean="0"/>
              <a:t>=org.hibernate.dialect.DB2Dialect</a:t>
            </a:r>
            <a:endParaRPr lang="en-US" sz="2400" i="1" dirty="0" smtClean="0"/>
          </a:p>
          <a:p>
            <a:r>
              <a:rPr lang="en-US" sz="2400" dirty="0" smtClean="0"/>
              <a:t/>
            </a:r>
            <a:br>
              <a:rPr lang="en-US" sz="2400" dirty="0" smtClean="0"/>
            </a:br>
            <a:endParaRPr lang="en-US" sz="2400" i="1" dirty="0" smtClean="0"/>
          </a:p>
          <a:p>
            <a:pPr algn="just" fontAlgn="base"/>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Dialects</a:t>
            </a:r>
          </a:p>
        </p:txBody>
      </p:sp>
      <p:sp>
        <p:nvSpPr>
          <p:cNvPr id="52" name="Google Shape;52;p3"/>
          <p:cNvSpPr/>
          <p:nvPr/>
        </p:nvSpPr>
        <p:spPr>
          <a:xfrm>
            <a:off x="383250" y="1626295"/>
            <a:ext cx="8533200" cy="4524275"/>
          </a:xfrm>
          <a:prstGeom prst="rect">
            <a:avLst/>
          </a:prstGeom>
          <a:noFill/>
          <a:ln>
            <a:noFill/>
          </a:ln>
        </p:spPr>
        <p:txBody>
          <a:bodyPr spcFirstLastPara="1" wrap="square" lIns="91425" tIns="45700" rIns="91425" bIns="45700" anchor="t" anchorCtr="0">
            <a:spAutoFit/>
          </a:bodyPr>
          <a:lstStyle/>
          <a:p>
            <a:pPr algn="just" fontAlgn="base"/>
            <a:r>
              <a:rPr lang="en-US" sz="2400" dirty="0" smtClean="0"/>
              <a:t>The </a:t>
            </a:r>
            <a:r>
              <a:rPr lang="en-US" sz="2400" b="1" dirty="0" err="1" smtClean="0"/>
              <a:t>hibernate.dialect</a:t>
            </a:r>
            <a:r>
              <a:rPr lang="en-US" sz="2400" dirty="0" smtClean="0"/>
              <a:t> property should be set to the correct </a:t>
            </a:r>
            <a:r>
              <a:rPr lang="en-US" sz="2400" dirty="0" err="1" smtClean="0"/>
              <a:t>org.hibernate.dialect</a:t>
            </a:r>
            <a:r>
              <a:rPr lang="en-US" sz="2400" dirty="0" smtClean="0"/>
              <a:t>.</a:t>
            </a:r>
          </a:p>
          <a:p>
            <a:pPr algn="just" fontAlgn="base"/>
            <a:endParaRPr lang="en-US" sz="2400" dirty="0" smtClean="0"/>
          </a:p>
          <a:p>
            <a:pPr algn="just" fontAlgn="base"/>
            <a:r>
              <a:rPr lang="en-US" sz="2400" dirty="0" smtClean="0"/>
              <a:t>Dialect subclass for the application database. If the Dialect class is not specified in the configuration, for most of the databases, Hibernate tries to resolve dialect names from the database connections. </a:t>
            </a:r>
          </a:p>
          <a:p>
            <a:pPr algn="just" fontAlgn="base"/>
            <a:endParaRPr lang="en-US" sz="2400" dirty="0" smtClean="0"/>
          </a:p>
          <a:p>
            <a:pPr algn="just" fontAlgn="base"/>
            <a:r>
              <a:rPr lang="en-US" sz="2400" dirty="0" smtClean="0"/>
              <a:t>But It is best to provide dialect so that Hibernate identifies the appropriate Dialect class for specific database versions.</a:t>
            </a:r>
          </a:p>
          <a:p>
            <a:pPr algn="just"/>
            <a:r>
              <a:rPr lang="en-US" sz="2400" dirty="0" smtClean="0"/>
              <a:t/>
            </a:r>
            <a:br>
              <a:rPr lang="en-US" sz="2400" dirty="0" smtClean="0"/>
            </a:b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Mapping </a:t>
            </a:r>
          </a:p>
        </p:txBody>
      </p:sp>
      <p:sp>
        <p:nvSpPr>
          <p:cNvPr id="52" name="Google Shape;52;p3"/>
          <p:cNvSpPr/>
          <p:nvPr/>
        </p:nvSpPr>
        <p:spPr>
          <a:xfrm>
            <a:off x="383250" y="1626295"/>
            <a:ext cx="8533200" cy="3046948"/>
          </a:xfrm>
          <a:prstGeom prst="rect">
            <a:avLst/>
          </a:prstGeom>
          <a:noFill/>
          <a:ln>
            <a:noFill/>
          </a:ln>
        </p:spPr>
        <p:txBody>
          <a:bodyPr spcFirstLastPara="1" wrap="square" lIns="91425" tIns="45700" rIns="91425" bIns="45700" anchor="t" anchorCtr="0">
            <a:spAutoFit/>
          </a:bodyPr>
          <a:lstStyle/>
          <a:p>
            <a:pPr algn="just" fontAlgn="base"/>
            <a:r>
              <a:rPr lang="en-US" sz="2400" dirty="0" smtClean="0"/>
              <a:t>The hibernate works to link the JAVA language to the database table along with this link we can establish relations/mappings. </a:t>
            </a:r>
          </a:p>
          <a:p>
            <a:pPr algn="just" fontAlgn="base"/>
            <a:r>
              <a:rPr lang="en-US" sz="2400" b="1" dirty="0" smtClean="0"/>
              <a:t>The main basic types of mapping are: </a:t>
            </a:r>
            <a:endParaRPr lang="en-US" sz="2400" dirty="0" smtClean="0"/>
          </a:p>
          <a:p>
            <a:pPr algn="just" fontAlgn="base"/>
            <a:r>
              <a:rPr lang="en-US" sz="2400" dirty="0" smtClean="0"/>
              <a:t>Primitive Types</a:t>
            </a:r>
          </a:p>
          <a:p>
            <a:pPr algn="just" fontAlgn="base"/>
            <a:r>
              <a:rPr lang="en-US" sz="2400" dirty="0" smtClean="0"/>
              <a:t>Date and Time Types</a:t>
            </a:r>
          </a:p>
          <a:p>
            <a:pPr algn="just" fontAlgn="base"/>
            <a:r>
              <a:rPr lang="en-US" sz="2400" dirty="0" smtClean="0"/>
              <a:t>Binary and Large Object Types</a:t>
            </a:r>
          </a:p>
          <a:p>
            <a:pPr algn="just" fontAlgn="base"/>
            <a:r>
              <a:rPr lang="en-US" sz="2400" dirty="0" smtClean="0"/>
              <a:t>JDK-related Types</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Mapping </a:t>
            </a:r>
          </a:p>
        </p:txBody>
      </p:sp>
      <p:sp>
        <p:nvSpPr>
          <p:cNvPr id="52" name="Google Shape;52;p3"/>
          <p:cNvSpPr/>
          <p:nvPr/>
        </p:nvSpPr>
        <p:spPr>
          <a:xfrm>
            <a:off x="383250" y="1626295"/>
            <a:ext cx="8533200" cy="830956"/>
          </a:xfrm>
          <a:prstGeom prst="rect">
            <a:avLst/>
          </a:prstGeom>
          <a:noFill/>
          <a:ln>
            <a:noFill/>
          </a:ln>
        </p:spPr>
        <p:txBody>
          <a:bodyPr spcFirstLastPara="1" wrap="square" lIns="91425" tIns="45700" rIns="91425" bIns="45700" anchor="t" anchorCtr="0">
            <a:spAutoFit/>
          </a:bodyPr>
          <a:lstStyle/>
          <a:p>
            <a:pPr algn="just" fontAlgn="base"/>
            <a:r>
              <a:rPr lang="en-US" sz="2400" dirty="0" smtClean="0"/>
              <a:t>Primitive Types</a:t>
            </a:r>
          </a:p>
          <a:p>
            <a:pPr algn="just" fontAlgn="base"/>
            <a:endParaRPr lang="en-US" sz="2400"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graphicFrame>
        <p:nvGraphicFramePr>
          <p:cNvPr id="5" name="Table 4"/>
          <p:cNvGraphicFramePr>
            <a:graphicFrameLocks noGrp="1"/>
          </p:cNvGraphicFramePr>
          <p:nvPr/>
        </p:nvGraphicFramePr>
        <p:xfrm>
          <a:off x="2768177" y="1730091"/>
          <a:ext cx="5879205" cy="4071589"/>
        </p:xfrm>
        <a:graphic>
          <a:graphicData uri="http://schemas.openxmlformats.org/drawingml/2006/table">
            <a:tbl>
              <a:tblPr/>
              <a:tblGrid>
                <a:gridCol w="1959735"/>
                <a:gridCol w="1959735"/>
                <a:gridCol w="1959735"/>
              </a:tblGrid>
              <a:tr h="328256">
                <a:tc>
                  <a:txBody>
                    <a:bodyPr/>
                    <a:lstStyle/>
                    <a:p>
                      <a:pPr algn="ctr" fontAlgn="base"/>
                      <a:r>
                        <a:rPr lang="en-US" sz="1400" b="1" dirty="0"/>
                        <a:t>Mapping Type</a:t>
                      </a:r>
                    </a:p>
                  </a:txBody>
                  <a:tcPr marL="36745" marR="36745" marT="61242" marB="61242"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t>Java Type</a:t>
                      </a:r>
                    </a:p>
                  </a:txBody>
                  <a:tcPr marL="61242" marR="61242" marT="61242" marB="61242"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t>ANSI SQL Type</a:t>
                      </a:r>
                    </a:p>
                  </a:txBody>
                  <a:tcPr marL="61242" marR="61242" marT="61242" marB="61242"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r>
              <a:tr h="355202">
                <a:tc>
                  <a:txBody>
                    <a:bodyPr/>
                    <a:lstStyle/>
                    <a:p>
                      <a:pPr algn="ctr" fontAlgn="ctr"/>
                      <a:r>
                        <a:rPr lang="en-US" sz="1200" b="0"/>
                        <a:t>integer</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int or java.lang.Integer</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INTEGER</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355202">
                <a:tc>
                  <a:txBody>
                    <a:bodyPr/>
                    <a:lstStyle/>
                    <a:p>
                      <a:pPr algn="ctr" fontAlgn="ctr"/>
                      <a:r>
                        <a:rPr lang="en-US" sz="1200" b="0"/>
                        <a:t>character</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java.lang.String</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CHAR(1)</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355202">
                <a:tc>
                  <a:txBody>
                    <a:bodyPr/>
                    <a:lstStyle/>
                    <a:p>
                      <a:pPr algn="ctr" fontAlgn="ctr"/>
                      <a:r>
                        <a:rPr lang="en-US" sz="1200" b="0"/>
                        <a:t>float</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float or java.lang.Float</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FLOAT</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355202">
                <a:tc>
                  <a:txBody>
                    <a:bodyPr/>
                    <a:lstStyle/>
                    <a:p>
                      <a:pPr algn="ctr" fontAlgn="ctr"/>
                      <a:r>
                        <a:rPr lang="en-US" sz="1200" b="0"/>
                        <a:t>string</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java.lang.String</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VARCHAR</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355202">
                <a:tc>
                  <a:txBody>
                    <a:bodyPr/>
                    <a:lstStyle/>
                    <a:p>
                      <a:pPr algn="ctr" fontAlgn="ctr"/>
                      <a:r>
                        <a:rPr lang="en-US" sz="1200" b="0"/>
                        <a:t>double</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double or java.lang.Double</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DOUBLE</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538927">
                <a:tc>
                  <a:txBody>
                    <a:bodyPr/>
                    <a:lstStyle/>
                    <a:p>
                      <a:pPr algn="ctr" fontAlgn="ctr"/>
                      <a:r>
                        <a:rPr lang="en-US" sz="1200" b="0" dirty="0" err="1"/>
                        <a:t>boolean</a:t>
                      </a:r>
                      <a:endParaRPr lang="en-US" sz="1200" b="0" dirty="0"/>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err="1"/>
                        <a:t>boolean</a:t>
                      </a:r>
                      <a:r>
                        <a:rPr lang="en-US" sz="1200" b="0" dirty="0"/>
                        <a:t> or </a:t>
                      </a:r>
                      <a:r>
                        <a:rPr lang="en-US" sz="1200" b="0" dirty="0" err="1"/>
                        <a:t>java.lang.Boolean</a:t>
                      </a:r>
                      <a:endParaRPr lang="en-US" sz="1200" b="0" dirty="0"/>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BIT</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355202">
                <a:tc>
                  <a:txBody>
                    <a:bodyPr/>
                    <a:lstStyle/>
                    <a:p>
                      <a:pPr algn="ctr" fontAlgn="ctr"/>
                      <a:r>
                        <a:rPr lang="en-US" sz="1200" b="0" dirty="0"/>
                        <a:t>short</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t>short or </a:t>
                      </a:r>
                      <a:r>
                        <a:rPr lang="en-US" sz="1200" b="0" dirty="0" err="1"/>
                        <a:t>java.lang.Short</a:t>
                      </a:r>
                      <a:endParaRPr lang="en-US" sz="1200" b="0" dirty="0"/>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SMALLINT</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355202">
                <a:tc>
                  <a:txBody>
                    <a:bodyPr/>
                    <a:lstStyle/>
                    <a:p>
                      <a:pPr algn="ctr" fontAlgn="ctr"/>
                      <a:r>
                        <a:rPr lang="en-US" sz="1200" b="0"/>
                        <a:t>long</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long or java.lang.Long</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BIGINT</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355202">
                <a:tc>
                  <a:txBody>
                    <a:bodyPr/>
                    <a:lstStyle/>
                    <a:p>
                      <a:pPr algn="ctr" fontAlgn="ctr"/>
                      <a:r>
                        <a:rPr lang="en-US" sz="1200" b="0"/>
                        <a:t>byte</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byte or java.lang.Byte</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TINYINT</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355202">
                <a:tc>
                  <a:txBody>
                    <a:bodyPr/>
                    <a:lstStyle/>
                    <a:p>
                      <a:pPr algn="ctr" fontAlgn="ctr"/>
                      <a:r>
                        <a:rPr lang="en-US" sz="1200" b="0"/>
                        <a:t>big_decimal</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a:t>java.math.BigDecimal</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00" b="0" dirty="0"/>
                        <a:t>NUMERIC</a:t>
                      </a:r>
                    </a:p>
                  </a:txBody>
                  <a:tcPr marL="61242" marR="61242" marT="85738" marB="8573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Mapping </a:t>
            </a:r>
          </a:p>
        </p:txBody>
      </p:sp>
      <p:sp>
        <p:nvSpPr>
          <p:cNvPr id="52" name="Google Shape;52;p3"/>
          <p:cNvSpPr/>
          <p:nvPr/>
        </p:nvSpPr>
        <p:spPr>
          <a:xfrm>
            <a:off x="383250" y="1626295"/>
            <a:ext cx="8533200" cy="830956"/>
          </a:xfrm>
          <a:prstGeom prst="rect">
            <a:avLst/>
          </a:prstGeom>
          <a:noFill/>
          <a:ln>
            <a:noFill/>
          </a:ln>
        </p:spPr>
        <p:txBody>
          <a:bodyPr spcFirstLastPara="1" wrap="square" lIns="91425" tIns="45700" rIns="91425" bIns="45700" anchor="t" anchorCtr="0">
            <a:spAutoFit/>
          </a:bodyPr>
          <a:lstStyle/>
          <a:p>
            <a:pPr fontAlgn="base"/>
            <a:r>
              <a:rPr lang="en-US" sz="2400" b="1" dirty="0" smtClean="0"/>
              <a:t>Date and Time</a:t>
            </a:r>
          </a:p>
          <a:p>
            <a:pPr algn="just" fontAlgn="base"/>
            <a:endParaRPr lang="en-US" sz="2400"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graphicFrame>
        <p:nvGraphicFramePr>
          <p:cNvPr id="6" name="Table 5"/>
          <p:cNvGraphicFramePr>
            <a:graphicFrameLocks noGrp="1"/>
          </p:cNvGraphicFramePr>
          <p:nvPr/>
        </p:nvGraphicFramePr>
        <p:xfrm>
          <a:off x="1812758" y="2668337"/>
          <a:ext cx="6096000" cy="2753360"/>
        </p:xfrm>
        <a:graphic>
          <a:graphicData uri="http://schemas.openxmlformats.org/drawingml/2006/table">
            <a:tbl>
              <a:tblPr/>
              <a:tblGrid>
                <a:gridCol w="2032000"/>
                <a:gridCol w="2032000"/>
                <a:gridCol w="2032000"/>
              </a:tblGrid>
              <a:tr h="0">
                <a:tc>
                  <a:txBody>
                    <a:bodyPr/>
                    <a:lstStyle/>
                    <a:p>
                      <a:pPr algn="ctr" fontAlgn="base"/>
                      <a:r>
                        <a:rPr lang="en-US" sz="1400" b="1" dirty="0"/>
                        <a:t>Mapping type</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t>Java type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t>ANSI SQL Type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r>
              <a:tr h="0">
                <a:tc>
                  <a:txBody>
                    <a:bodyPr/>
                    <a:lstStyle/>
                    <a:p>
                      <a:pPr algn="ctr" fontAlgn="ctr"/>
                      <a:r>
                        <a:rPr lang="en-US" sz="1250" b="0" dirty="0"/>
                        <a:t>date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java.util.Date or java.sql.Date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DATE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time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java.util.Date or java.sql.Time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TIME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calendar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java.util.Calendar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TIMESTAMP</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timestamp</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java.util.Date or java.sql.Timestamp</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TIMESTAMP</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calendar_date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java.util.Calendar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dirty="0"/>
                        <a:t>DATE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Mapping </a:t>
            </a:r>
          </a:p>
        </p:txBody>
      </p:sp>
      <p:sp>
        <p:nvSpPr>
          <p:cNvPr id="52" name="Google Shape;52;p3"/>
          <p:cNvSpPr/>
          <p:nvPr/>
        </p:nvSpPr>
        <p:spPr>
          <a:xfrm>
            <a:off x="383250" y="1626295"/>
            <a:ext cx="8533200" cy="830956"/>
          </a:xfrm>
          <a:prstGeom prst="rect">
            <a:avLst/>
          </a:prstGeom>
          <a:noFill/>
          <a:ln>
            <a:noFill/>
          </a:ln>
        </p:spPr>
        <p:txBody>
          <a:bodyPr spcFirstLastPara="1" wrap="square" lIns="91425" tIns="45700" rIns="91425" bIns="45700" anchor="t" anchorCtr="0">
            <a:spAutoFit/>
          </a:bodyPr>
          <a:lstStyle/>
          <a:p>
            <a:pPr fontAlgn="base"/>
            <a:r>
              <a:rPr lang="en-US" sz="2400" b="1" dirty="0" smtClean="0"/>
              <a:t>Binary and large objects </a:t>
            </a:r>
          </a:p>
          <a:p>
            <a:pPr algn="just" fontAlgn="base"/>
            <a:endParaRPr lang="en-US" sz="2400"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graphicFrame>
        <p:nvGraphicFramePr>
          <p:cNvPr id="7" name="Table 6"/>
          <p:cNvGraphicFramePr>
            <a:graphicFrameLocks noGrp="1"/>
          </p:cNvGraphicFramePr>
          <p:nvPr/>
        </p:nvGraphicFramePr>
        <p:xfrm>
          <a:off x="1446998" y="2571082"/>
          <a:ext cx="6096000" cy="2562860"/>
        </p:xfrm>
        <a:graphic>
          <a:graphicData uri="http://schemas.openxmlformats.org/drawingml/2006/table">
            <a:tbl>
              <a:tblPr/>
              <a:tblGrid>
                <a:gridCol w="2032000"/>
                <a:gridCol w="2032000"/>
                <a:gridCol w="2032000"/>
              </a:tblGrid>
              <a:tr h="0">
                <a:tc>
                  <a:txBody>
                    <a:bodyPr/>
                    <a:lstStyle/>
                    <a:p>
                      <a:pPr algn="ctr" fontAlgn="base"/>
                      <a:r>
                        <a:rPr lang="en-US" sz="1400" b="1" dirty="0"/>
                        <a:t>Mapping type</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dirty="0"/>
                        <a:t>Java type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t>ANSI SQL Type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r>
              <a:tr h="0">
                <a:tc>
                  <a:txBody>
                    <a:bodyPr/>
                    <a:lstStyle/>
                    <a:p>
                      <a:pPr algn="ctr" fontAlgn="ctr"/>
                      <a:r>
                        <a:rPr lang="en-US" sz="1250" b="0"/>
                        <a:t>clob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java.sql.Clob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CLOB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blob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java.sql.Blob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BLOB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binary</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byte[]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VARBINARY (or BLOB)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text</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java.lang.String</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CLOB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serializable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dirty="0"/>
                        <a:t>any Java class that implements </a:t>
                      </a:r>
                      <a:r>
                        <a:rPr lang="en-US" sz="1250" b="0" dirty="0" err="1"/>
                        <a:t>java.io.Serializable</a:t>
                      </a:r>
                      <a:endParaRPr lang="en-US" sz="1250" b="0" dirty="0"/>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dirty="0"/>
                        <a:t>VARBINARY (or BLOB)</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Mapping </a:t>
            </a:r>
          </a:p>
        </p:txBody>
      </p:sp>
      <p:sp>
        <p:nvSpPr>
          <p:cNvPr id="52" name="Google Shape;52;p3"/>
          <p:cNvSpPr/>
          <p:nvPr/>
        </p:nvSpPr>
        <p:spPr>
          <a:xfrm>
            <a:off x="383250" y="1626295"/>
            <a:ext cx="8533200" cy="830956"/>
          </a:xfrm>
          <a:prstGeom prst="rect">
            <a:avLst/>
          </a:prstGeom>
          <a:noFill/>
          <a:ln>
            <a:noFill/>
          </a:ln>
        </p:spPr>
        <p:txBody>
          <a:bodyPr spcFirstLastPara="1" wrap="square" lIns="91425" tIns="45700" rIns="91425" bIns="45700" anchor="t" anchorCtr="0">
            <a:spAutoFit/>
          </a:bodyPr>
          <a:lstStyle/>
          <a:p>
            <a:pPr fontAlgn="base"/>
            <a:r>
              <a:rPr lang="en-US" sz="2400" b="1" dirty="0" smtClean="0"/>
              <a:t>JDK linked</a:t>
            </a:r>
          </a:p>
          <a:p>
            <a:pPr algn="just" fontAlgn="base"/>
            <a:endParaRPr lang="en-US" sz="2400" dirty="0" smtClean="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graphicFrame>
        <p:nvGraphicFramePr>
          <p:cNvPr id="6" name="Table 5"/>
          <p:cNvGraphicFramePr>
            <a:graphicFrameLocks noGrp="1"/>
          </p:cNvGraphicFramePr>
          <p:nvPr/>
        </p:nvGraphicFramePr>
        <p:xfrm>
          <a:off x="1524000" y="2522220"/>
          <a:ext cx="6096000" cy="1813560"/>
        </p:xfrm>
        <a:graphic>
          <a:graphicData uri="http://schemas.openxmlformats.org/drawingml/2006/table">
            <a:tbl>
              <a:tblPr/>
              <a:tblGrid>
                <a:gridCol w="2032000"/>
                <a:gridCol w="2032000"/>
                <a:gridCol w="2032000"/>
              </a:tblGrid>
              <a:tr h="0">
                <a:tc>
                  <a:txBody>
                    <a:bodyPr/>
                    <a:lstStyle/>
                    <a:p>
                      <a:pPr algn="ctr" fontAlgn="base"/>
                      <a:r>
                        <a:rPr lang="en-US" sz="1400" b="1"/>
                        <a:t>Mapping type</a:t>
                      </a:r>
                    </a:p>
                  </a:txBody>
                  <a:tcPr marL="38100" marR="381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t>Java type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t>ANSI SQL Type</a:t>
                      </a:r>
                    </a:p>
                  </a:txBody>
                  <a:tcPr marL="63500" marR="63500" marT="63500" marB="635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r>
              <a:tr h="0">
                <a:tc>
                  <a:txBody>
                    <a:bodyPr/>
                    <a:lstStyle/>
                    <a:p>
                      <a:pPr algn="ctr" fontAlgn="ctr"/>
                      <a:r>
                        <a:rPr lang="en-US" sz="1250" b="0"/>
                        <a:t>class</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java.lang.Class </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VARCHAR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locale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java.util.Locale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VARCHAR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currency</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java.util.Currency</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VARCHAR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0">
                <a:tc>
                  <a:txBody>
                    <a:bodyPr/>
                    <a:lstStyle/>
                    <a:p>
                      <a:pPr algn="ctr" fontAlgn="ctr"/>
                      <a:r>
                        <a:rPr lang="en-US" sz="1250" b="0"/>
                        <a:t>timezone</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a:t>java.util.Currency</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250" b="0" dirty="0"/>
                        <a:t>VARCHAR</a:t>
                      </a:r>
                    </a:p>
                  </a:txBody>
                  <a:tcPr marL="63500" marR="63500" marT="88900" marB="88900"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Annotations</a:t>
            </a:r>
          </a:p>
        </p:txBody>
      </p:sp>
      <p:sp>
        <p:nvSpPr>
          <p:cNvPr id="52" name="Google Shape;52;p3"/>
          <p:cNvSpPr/>
          <p:nvPr/>
        </p:nvSpPr>
        <p:spPr>
          <a:xfrm>
            <a:off x="383250" y="1626295"/>
            <a:ext cx="8533200" cy="4154943"/>
          </a:xfrm>
          <a:prstGeom prst="rect">
            <a:avLst/>
          </a:prstGeom>
          <a:noFill/>
          <a:ln>
            <a:noFill/>
          </a:ln>
        </p:spPr>
        <p:txBody>
          <a:bodyPr spcFirstLastPara="1" wrap="square" lIns="91425" tIns="45700" rIns="91425" bIns="45700" anchor="t" anchorCtr="0">
            <a:spAutoFit/>
          </a:bodyPr>
          <a:lstStyle/>
          <a:p>
            <a:pPr algn="just" fontAlgn="base"/>
            <a:r>
              <a:rPr lang="en-US" sz="2400" dirty="0" smtClean="0"/>
              <a:t>Annotation in JAVA is used to represent supplemental information. As you have seen @override, @inherited, etc are an example of annotations in general Java language</a:t>
            </a:r>
          </a:p>
          <a:p>
            <a:pPr algn="just" fontAlgn="base"/>
            <a:r>
              <a:rPr lang="en-US" sz="2400" dirty="0" smtClean="0"/>
              <a:t>The motive of using a hibernate is to skip the SQL part and focus on core java concepts. </a:t>
            </a:r>
          </a:p>
          <a:p>
            <a:pPr algn="just" fontAlgn="base"/>
            <a:r>
              <a:rPr lang="en-US" sz="2400" dirty="0" smtClean="0"/>
              <a:t>Generally, in hibernate, we use XML mapping files for converting our POJO classes data to database data and vice-versa. </a:t>
            </a:r>
          </a:p>
          <a:p>
            <a:pPr algn="just" fontAlgn="base"/>
            <a:r>
              <a:rPr lang="en-US" sz="2400" dirty="0" smtClean="0"/>
              <a:t>But using XML becomes a little confusing so, in replacement of using XML, we use annotations inside our POJO classes directly to declare the changes. </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Annotations</a:t>
            </a:r>
          </a:p>
        </p:txBody>
      </p:sp>
      <p:sp>
        <p:nvSpPr>
          <p:cNvPr id="52" name="Google Shape;52;p3"/>
          <p:cNvSpPr/>
          <p:nvPr/>
        </p:nvSpPr>
        <p:spPr>
          <a:xfrm>
            <a:off x="383250" y="1626295"/>
            <a:ext cx="8533200" cy="2308284"/>
          </a:xfrm>
          <a:prstGeom prst="rect">
            <a:avLst/>
          </a:prstGeom>
          <a:noFill/>
          <a:ln>
            <a:noFill/>
          </a:ln>
        </p:spPr>
        <p:txBody>
          <a:bodyPr spcFirstLastPara="1" wrap="square" lIns="91425" tIns="45700" rIns="91425" bIns="45700" anchor="t" anchorCtr="0">
            <a:spAutoFit/>
          </a:bodyPr>
          <a:lstStyle/>
          <a:p>
            <a:pPr algn="just" fontAlgn="base"/>
            <a:r>
              <a:rPr lang="en-US" sz="2400" dirty="0" smtClean="0"/>
              <a:t>Also using annotations inside out POJO classes makes things simple to remember and easy to use. </a:t>
            </a:r>
          </a:p>
          <a:p>
            <a:pPr algn="just" fontAlgn="base"/>
            <a:r>
              <a:rPr lang="en-US" sz="2400" dirty="0" smtClean="0"/>
              <a:t>Annotation is a powerful method of providing metadata for the database tables and also it gives brief information about the database table structure and also POJO classes simultaneously. </a:t>
            </a:r>
            <a:endParaRPr lang="en-US" sz="2400" dirty="0"/>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Annotations</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graphicFrame>
        <p:nvGraphicFramePr>
          <p:cNvPr id="8" name="Table 7"/>
          <p:cNvGraphicFramePr>
            <a:graphicFrameLocks noGrp="1"/>
          </p:cNvGraphicFramePr>
          <p:nvPr/>
        </p:nvGraphicFramePr>
        <p:xfrm>
          <a:off x="941135" y="1601803"/>
          <a:ext cx="7440330" cy="3350586"/>
        </p:xfrm>
        <a:graphic>
          <a:graphicData uri="http://schemas.openxmlformats.org/drawingml/2006/table">
            <a:tbl>
              <a:tblPr/>
              <a:tblGrid>
                <a:gridCol w="3720165"/>
                <a:gridCol w="3720165"/>
              </a:tblGrid>
              <a:tr h="147622">
                <a:tc>
                  <a:txBody>
                    <a:bodyPr/>
                    <a:lstStyle/>
                    <a:p>
                      <a:pPr algn="ctr" fontAlgn="base"/>
                      <a:r>
                        <a:rPr lang="en-US" sz="1400" b="1" dirty="0"/>
                        <a:t>Annotations</a:t>
                      </a:r>
                    </a:p>
                  </a:txBody>
                  <a:tcPr marL="16525" marR="16525" marT="27541" marB="2754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t>Use of annotations</a:t>
                      </a:r>
                    </a:p>
                  </a:txBody>
                  <a:tcPr marL="27541" marR="27541" marT="27541" marB="2754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r>
              <a:tr h="242364">
                <a:tc>
                  <a:txBody>
                    <a:bodyPr/>
                    <a:lstStyle/>
                    <a:p>
                      <a:pPr algn="ctr" fontAlgn="ctr"/>
                      <a:r>
                        <a:rPr lang="en-US" sz="1400" b="1" dirty="0"/>
                        <a:t>@Entity </a:t>
                      </a:r>
                      <a:endParaRPr lang="en-US" sz="1400" b="0" dirty="0"/>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a:t>Used for declaring any POJO class as an entity for a database</a:t>
                      </a:r>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572860">
                <a:tc>
                  <a:txBody>
                    <a:bodyPr/>
                    <a:lstStyle/>
                    <a:p>
                      <a:pPr algn="ctr" fontAlgn="ctr"/>
                      <a:r>
                        <a:rPr lang="en-US" sz="1400" b="1" dirty="0"/>
                        <a:t>@Table</a:t>
                      </a:r>
                      <a:endParaRPr lang="en-US" sz="1400" b="0" dirty="0"/>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400" b="0" dirty="0"/>
                        <a:t>Used to change table details, some of the attributes are-</a:t>
                      </a:r>
                    </a:p>
                    <a:p>
                      <a:pPr algn="l" fontAlgn="base">
                        <a:buFont typeface="Arial"/>
                        <a:buChar char="•"/>
                      </a:pPr>
                      <a:r>
                        <a:rPr lang="en-US" sz="1400" b="0" dirty="0">
                          <a:solidFill>
                            <a:srgbClr val="273239"/>
                          </a:solidFill>
                        </a:rPr>
                        <a:t>name – override the table name</a:t>
                      </a:r>
                    </a:p>
                    <a:p>
                      <a:pPr algn="l" fontAlgn="base">
                        <a:buFont typeface="Arial"/>
                        <a:buChar char="•"/>
                      </a:pPr>
                      <a:r>
                        <a:rPr lang="en-US" sz="1400" b="0" dirty="0">
                          <a:solidFill>
                            <a:srgbClr val="273239"/>
                          </a:solidFill>
                        </a:rPr>
                        <a:t>schema</a:t>
                      </a:r>
                    </a:p>
                    <a:p>
                      <a:pPr algn="l" fontAlgn="base">
                        <a:buFont typeface="Arial"/>
                        <a:buChar char="•"/>
                      </a:pPr>
                      <a:r>
                        <a:rPr lang="en-US" sz="1400" b="0" dirty="0">
                          <a:solidFill>
                            <a:srgbClr val="273239"/>
                          </a:solidFill>
                        </a:rPr>
                        <a:t>catalogue</a:t>
                      </a:r>
                    </a:p>
                    <a:p>
                      <a:pPr algn="l" fontAlgn="base">
                        <a:buFont typeface="Arial"/>
                        <a:buChar char="•"/>
                      </a:pPr>
                      <a:r>
                        <a:rPr lang="en-US" sz="1400" b="0" dirty="0">
                          <a:solidFill>
                            <a:srgbClr val="273239"/>
                          </a:solidFill>
                        </a:rPr>
                        <a:t>enforce unique constraints</a:t>
                      </a:r>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242364">
                <a:tc>
                  <a:txBody>
                    <a:bodyPr/>
                    <a:lstStyle/>
                    <a:p>
                      <a:pPr algn="ctr" fontAlgn="ctr"/>
                      <a:r>
                        <a:rPr lang="en-US" sz="1400" b="1" dirty="0"/>
                        <a:t>@Id</a:t>
                      </a:r>
                      <a:endParaRPr lang="en-US" sz="1400" b="0" dirty="0"/>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a:t>Used for declaring a primary key inside our POJO class</a:t>
                      </a:r>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407612">
                <a:tc>
                  <a:txBody>
                    <a:bodyPr/>
                    <a:lstStyle/>
                    <a:p>
                      <a:pPr algn="ctr" fontAlgn="ctr"/>
                      <a:r>
                        <a:rPr lang="en-US" sz="1400" b="1" dirty="0"/>
                        <a:t>@</a:t>
                      </a:r>
                      <a:r>
                        <a:rPr lang="en-US" sz="1400" b="1" dirty="0" err="1"/>
                        <a:t>GeneratedValue</a:t>
                      </a:r>
                      <a:endParaRPr lang="en-US" sz="1400" b="0" dirty="0"/>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t>Hibernate automatically generate the values with reference to the internal sequence and we don’t need to set the values manually.</a:t>
                      </a:r>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3"/>
          <p:cNvSpPr/>
          <p:nvPr/>
        </p:nvSpPr>
        <p:spPr>
          <a:xfrm>
            <a:off x="354577" y="1023576"/>
            <a:ext cx="5740289"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dirty="0" smtClean="0">
                <a:solidFill>
                  <a:schemeClr val="dk2"/>
                </a:solidFill>
                <a:latin typeface="Calibri"/>
                <a:cs typeface="Calibri"/>
                <a:sym typeface="Calibri"/>
              </a:rPr>
              <a:t>Annotations</a:t>
            </a:r>
          </a:p>
        </p:txBody>
      </p:sp>
      <p:cxnSp>
        <p:nvCxnSpPr>
          <p:cNvPr id="53" name="Google Shape;53;p3"/>
          <p:cNvCxnSpPr/>
          <p:nvPr/>
        </p:nvCxnSpPr>
        <p:spPr>
          <a:xfrm>
            <a:off x="7950" y="868825"/>
            <a:ext cx="9186600" cy="0"/>
          </a:xfrm>
          <a:prstGeom prst="straightConnector1">
            <a:avLst/>
          </a:prstGeom>
          <a:noFill/>
          <a:ln w="38100" cap="flat" cmpd="sng">
            <a:solidFill>
              <a:srgbClr val="1F487C"/>
            </a:solidFill>
            <a:prstDash val="solid"/>
            <a:round/>
            <a:headEnd type="none" w="sm" len="sm"/>
            <a:tailEnd type="none" w="sm" len="sm"/>
          </a:ln>
        </p:spPr>
      </p:cxnSp>
      <p:graphicFrame>
        <p:nvGraphicFramePr>
          <p:cNvPr id="8" name="Table 7"/>
          <p:cNvGraphicFramePr>
            <a:graphicFrameLocks noGrp="1"/>
          </p:cNvGraphicFramePr>
          <p:nvPr/>
        </p:nvGraphicFramePr>
        <p:xfrm>
          <a:off x="950760" y="1418923"/>
          <a:ext cx="7440330" cy="4913130"/>
        </p:xfrm>
        <a:graphic>
          <a:graphicData uri="http://schemas.openxmlformats.org/drawingml/2006/table">
            <a:tbl>
              <a:tblPr/>
              <a:tblGrid>
                <a:gridCol w="3720165"/>
                <a:gridCol w="3720165"/>
              </a:tblGrid>
              <a:tr h="147622">
                <a:tc>
                  <a:txBody>
                    <a:bodyPr/>
                    <a:lstStyle/>
                    <a:p>
                      <a:pPr algn="ctr" fontAlgn="base"/>
                      <a:r>
                        <a:rPr lang="en-US" sz="1400" b="1" dirty="0"/>
                        <a:t>Annotations</a:t>
                      </a:r>
                    </a:p>
                  </a:txBody>
                  <a:tcPr marL="16525" marR="16525" marT="27541" marB="2754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c>
                  <a:txBody>
                    <a:bodyPr/>
                    <a:lstStyle/>
                    <a:p>
                      <a:pPr algn="ctr" fontAlgn="base"/>
                      <a:r>
                        <a:rPr lang="en-US" sz="1400" b="1"/>
                        <a:t>Use of annotations</a:t>
                      </a:r>
                    </a:p>
                  </a:txBody>
                  <a:tcPr marL="27541" marR="27541" marT="27541" marB="27541"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9F9F9"/>
                    </a:solidFill>
                  </a:tcPr>
                </a:tc>
              </a:tr>
              <a:tr h="242364">
                <a:tc>
                  <a:txBody>
                    <a:bodyPr/>
                    <a:lstStyle/>
                    <a:p>
                      <a:pPr algn="ctr" fontAlgn="ctr"/>
                      <a:r>
                        <a:rPr lang="en-US" sz="1400" b="1" dirty="0"/>
                        <a:t>@Column</a:t>
                      </a:r>
                      <a:endParaRPr lang="en-US" sz="1400" b="0" dirty="0"/>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base"/>
                      <a:r>
                        <a:rPr lang="en-US" sz="1400" b="0" dirty="0"/>
                        <a:t>It is used to specify column mappings. It means if in case we don’t need the name of the column that we declare in POJO but we need to refer to that entity you can change the name for the database table. Some attributes are-</a:t>
                      </a:r>
                    </a:p>
                    <a:p>
                      <a:pPr algn="l" fontAlgn="base">
                        <a:buFont typeface="Arial"/>
                        <a:buChar char="•"/>
                      </a:pPr>
                      <a:r>
                        <a:rPr lang="en-US" sz="1400" b="0" dirty="0">
                          <a:solidFill>
                            <a:srgbClr val="273239"/>
                          </a:solidFill>
                        </a:rPr>
                        <a:t>Name – We can change the name of the entity for the database</a:t>
                      </a:r>
                    </a:p>
                    <a:p>
                      <a:pPr algn="l" fontAlgn="base">
                        <a:buFont typeface="Arial"/>
                        <a:buChar char="•"/>
                      </a:pPr>
                      <a:r>
                        <a:rPr lang="en-US" sz="1400" b="0" dirty="0">
                          <a:solidFill>
                            <a:srgbClr val="273239"/>
                          </a:solidFill>
                        </a:rPr>
                        <a:t>length – the size of the column mostly used in strings</a:t>
                      </a:r>
                    </a:p>
                    <a:p>
                      <a:pPr algn="l" fontAlgn="base">
                        <a:buFont typeface="Arial"/>
                        <a:buChar char="•"/>
                      </a:pPr>
                      <a:r>
                        <a:rPr lang="en-US" sz="1400" b="0" dirty="0">
                          <a:solidFill>
                            <a:srgbClr val="273239"/>
                          </a:solidFill>
                        </a:rPr>
                        <a:t>unique – the column is marked for containing only unique values</a:t>
                      </a:r>
                    </a:p>
                    <a:p>
                      <a:pPr algn="l" fontAlgn="base">
                        <a:buFont typeface="Arial"/>
                        <a:buChar char="•"/>
                      </a:pPr>
                      <a:r>
                        <a:rPr lang="en-US" sz="1400" b="0" dirty="0" err="1">
                          <a:solidFill>
                            <a:srgbClr val="273239"/>
                          </a:solidFill>
                        </a:rPr>
                        <a:t>nullable</a:t>
                      </a:r>
                      <a:r>
                        <a:rPr lang="en-US" sz="1400" b="0" dirty="0">
                          <a:solidFill>
                            <a:srgbClr val="273239"/>
                          </a:solidFill>
                        </a:rPr>
                        <a:t> – The column values should not be null. It’s marked as NOT</a:t>
                      </a:r>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572860">
                <a:tc>
                  <a:txBody>
                    <a:bodyPr/>
                    <a:lstStyle/>
                    <a:p>
                      <a:pPr algn="ctr" fontAlgn="ctr"/>
                      <a:r>
                        <a:rPr lang="en-US" sz="1400" b="1" dirty="0"/>
                        <a:t>@Transient</a:t>
                      </a:r>
                      <a:endParaRPr lang="en-US" sz="1400" b="0" dirty="0"/>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t>Tells the hibernate, not to add this particular column</a:t>
                      </a:r>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242364">
                <a:tc>
                  <a:txBody>
                    <a:bodyPr/>
                    <a:lstStyle/>
                    <a:p>
                      <a:pPr algn="ctr" fontAlgn="ctr"/>
                      <a:r>
                        <a:rPr lang="en-US" sz="1400" b="1" dirty="0"/>
                        <a:t>@Temporal</a:t>
                      </a:r>
                      <a:endParaRPr lang="en-US" sz="1400" b="0" dirty="0"/>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t>This annotation is used to format the date for storing in the database</a:t>
                      </a:r>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r h="407612">
                <a:tc>
                  <a:txBody>
                    <a:bodyPr/>
                    <a:lstStyle/>
                    <a:p>
                      <a:pPr algn="ctr" fontAlgn="ctr"/>
                      <a:r>
                        <a:rPr lang="en-US" sz="1400" b="1"/>
                        <a:t>@Lob</a:t>
                      </a:r>
                      <a:endParaRPr lang="en-US" sz="1400" b="0"/>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c>
                  <a:txBody>
                    <a:bodyPr/>
                    <a:lstStyle/>
                    <a:p>
                      <a:pPr algn="ctr" fontAlgn="ctr"/>
                      <a:r>
                        <a:rPr lang="en-US" sz="1400" b="0" dirty="0"/>
                        <a:t>Used to tell hibernate that it’s a large object and is not a simple object</a:t>
                      </a:r>
                    </a:p>
                  </a:txBody>
                  <a:tcPr marL="27541" marR="27541" marT="38558" marB="38558" anchor="ctr">
                    <a:lnL w="1905" cap="flat" cmpd="sng" algn="ctr">
                      <a:solidFill>
                        <a:srgbClr val="DFDFDF"/>
                      </a:solidFill>
                      <a:prstDash val="solid"/>
                      <a:round/>
                      <a:headEnd type="none" w="med" len="med"/>
                      <a:tailEnd type="none" w="med" len="med"/>
                    </a:lnL>
                    <a:lnR w="1905" cap="flat" cmpd="sng" algn="ctr">
                      <a:solidFill>
                        <a:srgbClr val="DFDFDF"/>
                      </a:solidFill>
                      <a:prstDash val="solid"/>
                      <a:round/>
                      <a:headEnd type="none" w="med" len="med"/>
                      <a:tailEnd type="none" w="med" len="med"/>
                    </a:lnR>
                    <a:lnT w="1905" cap="flat" cmpd="sng" algn="ctr">
                      <a:solidFill>
                        <a:srgbClr val="DFDFDF"/>
                      </a:solidFill>
                      <a:prstDash val="solid"/>
                      <a:round/>
                      <a:headEnd type="none" w="med" len="med"/>
                      <a:tailEnd type="none" w="med" len="med"/>
                    </a:lnT>
                    <a:lnB w="1905" cap="flat" cmpd="sng" algn="ctr">
                      <a:solidFill>
                        <a:srgbClr val="DFDFDF"/>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g3264a707208_0_9"/>
          <p:cNvSpPr/>
          <p:nvPr/>
        </p:nvSpPr>
        <p:spPr>
          <a:xfrm>
            <a:off x="354577" y="1023576"/>
            <a:ext cx="5740200" cy="584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2"/>
                </a:solidFill>
                <a:latin typeface="Calibri"/>
                <a:ea typeface="Calibri"/>
                <a:cs typeface="Calibri"/>
                <a:sym typeface="Calibri"/>
              </a:rPr>
              <a:t>PPT Content Resources Reference Sample: </a:t>
            </a:r>
            <a:endParaRPr sz="2400" b="1" i="0" u="none" strike="noStrike" cap="none">
              <a:solidFill>
                <a:srgbClr val="000000"/>
              </a:solidFill>
              <a:latin typeface="Arial"/>
              <a:ea typeface="Arial"/>
              <a:cs typeface="Arial"/>
              <a:sym typeface="Arial"/>
            </a:endParaRPr>
          </a:p>
        </p:txBody>
      </p:sp>
      <p:cxnSp>
        <p:nvCxnSpPr>
          <p:cNvPr id="86" name="Google Shape;86;g3264a707208_0_9"/>
          <p:cNvCxnSpPr/>
          <p:nvPr/>
        </p:nvCxnSpPr>
        <p:spPr>
          <a:xfrm rot="10800000" flipH="1">
            <a:off x="-8250" y="794900"/>
            <a:ext cx="9160500" cy="47100"/>
          </a:xfrm>
          <a:prstGeom prst="straightConnector1">
            <a:avLst/>
          </a:prstGeom>
          <a:noFill/>
          <a:ln w="38100" cap="flat" cmpd="sng">
            <a:solidFill>
              <a:srgbClr val="1F487C"/>
            </a:solidFill>
            <a:prstDash val="solid"/>
            <a:round/>
            <a:headEnd type="none" w="sm" len="sm"/>
            <a:tailEnd type="none" w="sm" len="sm"/>
          </a:ln>
        </p:spPr>
      </p:cxnSp>
      <p:sp>
        <p:nvSpPr>
          <p:cNvPr id="87" name="Google Shape;87;g3264a707208_0_9"/>
          <p:cNvSpPr/>
          <p:nvPr/>
        </p:nvSpPr>
        <p:spPr>
          <a:xfrm>
            <a:off x="383250" y="1789925"/>
            <a:ext cx="8395500" cy="4527748"/>
          </a:xfrm>
          <a:prstGeom prst="rect">
            <a:avLst/>
          </a:prstGeom>
          <a:noFill/>
          <a:ln>
            <a:noFill/>
          </a:ln>
        </p:spPr>
        <p:txBody>
          <a:bodyPr spcFirstLastPara="1" wrap="square" lIns="91425" tIns="45700" rIns="91425" bIns="45700" anchor="t" anchorCtr="0">
            <a:noAutofit/>
          </a:bodyPr>
          <a:lstStyle/>
          <a:p>
            <a:pPr marL="457200" indent="-304800">
              <a:lnSpc>
                <a:spcPct val="150000"/>
              </a:lnSpc>
              <a:buClr>
                <a:schemeClr val="dk1"/>
              </a:buClr>
              <a:buSzPts val="1200"/>
              <a:buFont typeface="Arial"/>
              <a:buAutoNum type="arabicPeriod"/>
            </a:pPr>
            <a:r>
              <a:rPr lang="en-US" sz="1200" b="1" dirty="0" smtClean="0">
                <a:solidFill>
                  <a:srgbClr val="FF0000"/>
                </a:solidFill>
              </a:rPr>
              <a:t>Book Reference</a:t>
            </a:r>
            <a:br>
              <a:rPr lang="en-US" sz="1200" b="1" dirty="0" smtClean="0">
                <a:solidFill>
                  <a:srgbClr val="FF0000"/>
                </a:solidFill>
              </a:rPr>
            </a:br>
            <a:r>
              <a:rPr lang="en-US" sz="1200" dirty="0" smtClean="0">
                <a:solidFill>
                  <a:srgbClr val="FF0000"/>
                </a:solidFill>
              </a:rPr>
              <a:t>Jim Farley, William Crawford, David Flanagan. Java Enterprise in a Nutshell, O'Reilly</a:t>
            </a:r>
          </a:p>
          <a:p>
            <a:pPr marL="457200" lvl="0" indent="-304800">
              <a:lnSpc>
                <a:spcPct val="150000"/>
              </a:lnSpc>
              <a:buClr>
                <a:schemeClr val="dk1"/>
              </a:buClr>
              <a:buSzPts val="1200"/>
              <a:buFont typeface="Arial"/>
              <a:buAutoNum type="arabicPeriod"/>
            </a:pPr>
            <a:r>
              <a:rPr lang="en-US" sz="1200" b="1" dirty="0" smtClean="0">
                <a:solidFill>
                  <a:srgbClr val="FF0000"/>
                </a:solidFill>
              </a:rPr>
              <a:t>Book Reference</a:t>
            </a:r>
          </a:p>
          <a:p>
            <a:pPr marL="457200" lvl="0">
              <a:lnSpc>
                <a:spcPct val="150000"/>
              </a:lnSpc>
              <a:buSzPts val="1200"/>
            </a:pPr>
            <a:r>
              <a:rPr lang="en-US" sz="1200" dirty="0" smtClean="0">
                <a:solidFill>
                  <a:srgbClr val="FF0000"/>
                </a:solidFill>
              </a:rPr>
              <a:t>Rocha, R., </a:t>
            </a:r>
            <a:r>
              <a:rPr lang="en-US" sz="1200" dirty="0" err="1" smtClean="0">
                <a:solidFill>
                  <a:srgbClr val="FF0000"/>
                </a:solidFill>
              </a:rPr>
              <a:t>Purificação</a:t>
            </a:r>
            <a:r>
              <a:rPr lang="en-US" sz="1200" dirty="0" smtClean="0">
                <a:solidFill>
                  <a:srgbClr val="FF0000"/>
                </a:solidFill>
              </a:rPr>
              <a:t>, J. (2018). Java EE 8 Design Patterns and Best Practices: Build Enterprise-ready Scalable Applications with Architectural Design Patterns. Germany: </a:t>
            </a:r>
            <a:r>
              <a:rPr lang="en-US" sz="1200" dirty="0" err="1" smtClean="0">
                <a:solidFill>
                  <a:srgbClr val="FF0000"/>
                </a:solidFill>
              </a:rPr>
              <a:t>Packt</a:t>
            </a:r>
            <a:r>
              <a:rPr lang="en-US" sz="1200" dirty="0" smtClean="0">
                <a:solidFill>
                  <a:srgbClr val="FF0000"/>
                </a:solidFill>
              </a:rPr>
              <a:t> Publishing..</a:t>
            </a:r>
            <a:endParaRPr lang="en-US" sz="1200" b="1" dirty="0" smtClean="0">
              <a:solidFill>
                <a:srgbClr val="FF0000"/>
              </a:solidFill>
            </a:endParaRPr>
          </a:p>
          <a:p>
            <a:pPr marL="457200" lvl="0" indent="-304800">
              <a:lnSpc>
                <a:spcPct val="150000"/>
              </a:lnSpc>
              <a:buClr>
                <a:schemeClr val="dk1"/>
              </a:buClr>
              <a:buSzPts val="1200"/>
              <a:buFont typeface="+mj-lt"/>
              <a:buAutoNum type="arabicPeriod" startAt="3"/>
            </a:pPr>
            <a:r>
              <a:rPr lang="en-US" sz="1200" b="1" dirty="0" smtClean="0">
                <a:solidFill>
                  <a:srgbClr val="FF0000"/>
                </a:solidFill>
              </a:rPr>
              <a:t>Website Reference</a:t>
            </a:r>
          </a:p>
          <a:p>
            <a:pPr marL="457200" lvl="0">
              <a:lnSpc>
                <a:spcPct val="150000"/>
              </a:lnSpc>
              <a:buSzPts val="1200"/>
            </a:pPr>
            <a:r>
              <a:rPr lang="en-US" sz="1200" dirty="0" smtClean="0">
                <a:solidFill>
                  <a:srgbClr val="FF0000"/>
                </a:solidFill>
              </a:rPr>
              <a:t>https://www.scribd.com/document/268349254/Java-8-Programming-Black-Book .</a:t>
            </a:r>
          </a:p>
          <a:p>
            <a:pPr marL="457200" lvl="0" indent="-304800">
              <a:lnSpc>
                <a:spcPct val="150000"/>
              </a:lnSpc>
              <a:buClr>
                <a:schemeClr val="dk1"/>
              </a:buClr>
              <a:buSzPts val="1200"/>
              <a:buFont typeface="Arial"/>
              <a:buAutoNum type="arabicPeriod" startAt="4"/>
            </a:pPr>
            <a:r>
              <a:rPr lang="en-US" sz="1200" b="1" dirty="0" smtClean="0">
                <a:solidFill>
                  <a:srgbClr val="FF0000"/>
                </a:solidFill>
              </a:rPr>
              <a:t>Sources</a:t>
            </a:r>
          </a:p>
          <a:p>
            <a:pPr marL="452438" lvl="2">
              <a:lnSpc>
                <a:spcPct val="150000"/>
              </a:lnSpc>
              <a:buClr>
                <a:schemeClr val="dk1"/>
              </a:buClr>
              <a:buSzPts val="1200"/>
            </a:pPr>
            <a:r>
              <a:rPr lang="en-US" sz="1200" dirty="0" smtClean="0">
                <a:solidFill>
                  <a:srgbClr val="FF0000"/>
                </a:solidFill>
              </a:rPr>
              <a:t>https://developers.redhat.com/topics/enterprise-java</a:t>
            </a:r>
            <a:endParaRPr lang="en-US" sz="1200" b="1" dirty="0" smtClean="0">
              <a:solidFill>
                <a:srgbClr val="FF0000"/>
              </a:solidFill>
            </a:endParaRPr>
          </a:p>
          <a:p>
            <a:pPr marL="457200" lvl="0" indent="-304800">
              <a:lnSpc>
                <a:spcPct val="150000"/>
              </a:lnSpc>
              <a:buClr>
                <a:schemeClr val="dk1"/>
              </a:buClr>
              <a:buSzPts val="1200"/>
              <a:buFont typeface="Arial"/>
              <a:buAutoNum type="arabicPeriod" startAt="4"/>
            </a:pPr>
            <a:r>
              <a:rPr lang="en-US" sz="1200" b="1" dirty="0" smtClean="0">
                <a:solidFill>
                  <a:srgbClr val="FF0000"/>
                </a:solidFill>
              </a:rPr>
              <a:t>Article</a:t>
            </a:r>
            <a:endParaRPr lang="en-US" sz="1200" dirty="0" smtClean="0">
              <a:solidFill>
                <a:srgbClr val="FF0000"/>
              </a:solidFill>
            </a:endParaRPr>
          </a:p>
          <a:p>
            <a:pPr marL="452438" lvl="0">
              <a:lnSpc>
                <a:spcPct val="150000"/>
              </a:lnSpc>
              <a:buClr>
                <a:schemeClr val="dk1"/>
              </a:buClr>
              <a:buSzPts val="1200"/>
            </a:pPr>
            <a:r>
              <a:rPr lang="en-US" sz="1200" smtClean="0">
                <a:solidFill>
                  <a:srgbClr val="FF0000"/>
                </a:solidFill>
              </a:rPr>
              <a:t>https://www.researchgate.net/publication/276412369_Advanced_Java_Programming</a:t>
            </a:r>
          </a:p>
          <a:p>
            <a:pPr marL="457200" lvl="0">
              <a:lnSpc>
                <a:spcPct val="150000"/>
              </a:lnSpc>
              <a:buSzPts val="1200"/>
            </a:pPr>
            <a:endParaRPr lang="en-US" sz="1200" dirty="0" smtClean="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629</TotalTime>
  <Words>657</Words>
  <Application>Microsoft Office PowerPoint</Application>
  <PresentationFormat>On-screen Show (4:3)</PresentationFormat>
  <Paragraphs>191</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key</cp:lastModifiedBy>
  <cp:revision>164</cp:revision>
  <dcterms:created xsi:type="dcterms:W3CDTF">2024-12-13T07:18:04Z</dcterms:created>
  <dcterms:modified xsi:type="dcterms:W3CDTF">2025-05-17T05:26:03Z</dcterms:modified>
</cp:coreProperties>
</file>