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88" r:id="rId4"/>
    <p:sldId id="330" r:id="rId5"/>
    <p:sldId id="331" r:id="rId6"/>
    <p:sldId id="347" r:id="rId7"/>
    <p:sldId id="348" r:id="rId8"/>
    <p:sldId id="349" r:id="rId9"/>
    <p:sldId id="350" r:id="rId10"/>
    <p:sldId id="351" r:id="rId11"/>
    <p:sldId id="332" r:id="rId12"/>
    <p:sldId id="352" r:id="rId13"/>
    <p:sldId id="353" r:id="rId14"/>
    <p:sldId id="354" r:id="rId15"/>
    <p:sldId id="355" r:id="rId16"/>
    <p:sldId id="356" r:id="rId17"/>
    <p:sldId id="357" r:id="rId18"/>
    <p:sldId id="358" r:id="rId19"/>
    <p:sldId id="359" r:id="rId20"/>
    <p:sldId id="360" r:id="rId21"/>
    <p:sldId id="361" r:id="rId22"/>
    <p:sldId id="362" r:id="rId23"/>
    <p:sldId id="363" r:id="rId24"/>
    <p:sldId id="262" r:id="rId25"/>
    <p:sldId id="263"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2" d="100"/>
          <a:sy n="62" d="100"/>
        </p:scale>
        <p:origin x="-1324" y="-6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 name="Google Shape;4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3"/>
        <p:cNvGrpSpPr/>
        <p:nvPr/>
      </p:nvGrpSpPr>
      <p:grpSpPr>
        <a:xfrm>
          <a:off x="0" y="0"/>
          <a:ext cx="0" cy="0"/>
          <a:chOff x="0" y="0"/>
          <a:chExt cx="0" cy="0"/>
        </a:xfrm>
      </p:grpSpPr>
      <p:grpSp>
        <p:nvGrpSpPr>
          <p:cNvPr id="14" name="Google Shape;14;p8"/>
          <p:cNvGrpSpPr/>
          <p:nvPr/>
        </p:nvGrpSpPr>
        <p:grpSpPr>
          <a:xfrm>
            <a:off x="445191" y="0"/>
            <a:ext cx="8698811" cy="6857999"/>
            <a:chOff x="-4801433" y="-1782234"/>
            <a:chExt cx="18084927" cy="14257864"/>
          </a:xfrm>
        </p:grpSpPr>
        <p:sp>
          <p:nvSpPr>
            <p:cNvPr id="15" name="Google Shape;15;p8"/>
            <p:cNvSpPr/>
            <p:nvPr/>
          </p:nvSpPr>
          <p:spPr>
            <a:xfrm>
              <a:off x="-4801433" y="1790698"/>
              <a:ext cx="12600815" cy="983099"/>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6" name="Google Shape;16;p8"/>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grpSp>
      <p:pic>
        <p:nvPicPr>
          <p:cNvPr id="17" name="Google Shape;17;p8"/>
          <p:cNvPicPr preferRelativeResize="0"/>
          <p:nvPr/>
        </p:nvPicPr>
        <p:blipFill rotWithShape="1">
          <a:blip r:embed="rId2">
            <a:alphaModFix/>
          </a:blip>
          <a:srcRect/>
          <a:stretch/>
        </p:blipFill>
        <p:spPr>
          <a:xfrm>
            <a:off x="6826923" y="234877"/>
            <a:ext cx="2063449" cy="617000"/>
          </a:xfrm>
          <a:prstGeom prst="rect">
            <a:avLst/>
          </a:prstGeom>
          <a:noFill/>
          <a:ln>
            <a:noFill/>
          </a:ln>
        </p:spPr>
      </p:pic>
      <p:pic>
        <p:nvPicPr>
          <p:cNvPr id="18" name="Google Shape;18;p8"/>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r>
              <a:rPr lang="en-US" sz="864" b="0" i="0" u="none" strike="noStrike" cap="none">
                <a:solidFill>
                  <a:schemeClr val="dk1"/>
                </a:solidFill>
                <a:latin typeface="Calibri"/>
                <a:ea typeface="Calibri"/>
                <a:cs typeface="Calibri"/>
                <a:sym typeface="Calibri"/>
              </a:rPr>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www.tutorialspoint.com/spring/spring_required_annotation.htm"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hyperlink" Target="https://www.tutorialspoint.com/spring/spring_jsr250_annotations.htm" TargetMode="External"/><Relationship Id="rId5" Type="http://schemas.openxmlformats.org/officeDocument/2006/relationships/hyperlink" Target="https://www.tutorialspoint.com/spring/spring_qualifier_annotation.htm" TargetMode="External"/><Relationship Id="rId4" Type="http://schemas.openxmlformats.org/officeDocument/2006/relationships/hyperlink" Target="https://www.tutorialspoint.com/spring/spring_autowired_annotation.htm"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65470"/>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0" y="2366690"/>
            <a:ext cx="9144000" cy="109256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500"/>
              <a:buFont typeface="Arial"/>
              <a:buNone/>
            </a:pPr>
            <a:r>
              <a:rPr lang="en-US" sz="3500" b="1" dirty="0" smtClean="0">
                <a:solidFill>
                  <a:srgbClr val="FFFFFF"/>
                </a:solidFill>
                <a:latin typeface="Calibri"/>
                <a:ea typeface="Calibri"/>
                <a:cs typeface="Calibri"/>
                <a:sym typeface="Calibri"/>
              </a:rPr>
              <a:t>Enterprise Programming using JAVA</a:t>
            </a:r>
            <a:endParaRPr sz="3500" b="1" i="0" u="none" strike="noStrike" cap="none">
              <a:solidFill>
                <a:srgbClr val="FFFFFF"/>
              </a:solidFill>
              <a:latin typeface="Calibri"/>
              <a:ea typeface="Calibri"/>
              <a:cs typeface="Calibri"/>
              <a:sym typeface="Calibri"/>
            </a:endParaRPr>
          </a:p>
          <a:p>
            <a:pPr algn="ctr">
              <a:buSzPts val="3000"/>
            </a:pPr>
            <a:r>
              <a:rPr lang="en-US" sz="3000" b="1" i="0" u="none" strike="noStrike" cap="none" dirty="0" smtClean="0">
                <a:solidFill>
                  <a:srgbClr val="FFFFFF"/>
                </a:solidFill>
                <a:latin typeface="Calibri"/>
                <a:ea typeface="Calibri"/>
                <a:cs typeface="Calibri"/>
                <a:sym typeface="Calibri"/>
              </a:rPr>
              <a:t>Chapter-5: Spring</a:t>
            </a:r>
            <a:endParaRPr sz="3000" b="1" i="0" u="none" strike="noStrike" cap="none">
              <a:solidFill>
                <a:srgbClr val="FFFFFF"/>
              </a:solidFill>
              <a:latin typeface="Calibri"/>
              <a:ea typeface="Calibri"/>
              <a:cs typeface="Calibri"/>
              <a:sym typeface="Calibri"/>
            </a:endParaRPr>
          </a:p>
        </p:txBody>
      </p:sp>
      <p:sp>
        <p:nvSpPr>
          <p:cNvPr id="38" name="Google Shape;38;p1"/>
          <p:cNvSpPr/>
          <p:nvPr/>
        </p:nvSpPr>
        <p:spPr>
          <a:xfrm>
            <a:off x="342741" y="5601409"/>
            <a:ext cx="3832829" cy="12156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a:t>
            </a:r>
            <a:r>
              <a:rPr lang="en-US" sz="2200" b="1" i="0" u="none" strike="noStrike" cap="none" dirty="0" smtClean="0">
                <a:solidFill>
                  <a:schemeClr val="dk1"/>
                </a:solidFill>
                <a:latin typeface="Calibri"/>
                <a:ea typeface="Calibri"/>
                <a:cs typeface="Calibri"/>
                <a:sym typeface="Calibri"/>
              </a:rPr>
              <a:t>ARNIKA PATEL</a:t>
            </a:r>
            <a:r>
              <a:rPr lang="en-US" sz="2200" b="1" i="0" u="none" strike="noStrike" cap="none" dirty="0">
                <a:solidFill>
                  <a:schemeClr val="dk1"/>
                </a:solidFill>
                <a:latin typeface="Calibri"/>
                <a:ea typeface="Calibri"/>
                <a:cs typeface="Calibri"/>
                <a:sym typeface="Calibri"/>
              </a:rPr>
              <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i="0" u="none" strike="noStrike" cap="none" dirty="0" smtClean="0">
                <a:solidFill>
                  <a:schemeClr val="dk1"/>
                </a:solidFill>
                <a:latin typeface="Calibri"/>
                <a:ea typeface="Calibri"/>
                <a:cs typeface="Calibri"/>
                <a:sym typeface="Calibri"/>
              </a:rPr>
              <a:t>CSE</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p:nvPr/>
        </p:nvSpPr>
        <p:spPr>
          <a:xfrm>
            <a:off x="461900" y="2370175"/>
            <a:ext cx="6027900" cy="1200288"/>
          </a:xfrm>
          <a:prstGeom prst="rect">
            <a:avLst/>
          </a:prstGeom>
          <a:noFill/>
          <a:ln>
            <a:noFill/>
          </a:ln>
        </p:spPr>
        <p:txBody>
          <a:bodyPr spcFirstLastPara="1" wrap="square" lIns="91425" tIns="45700" rIns="91425" bIns="45700" anchor="t" anchorCtr="0">
            <a:spAutoFit/>
          </a:bodyPr>
          <a:lstStyle/>
          <a:p>
            <a:pPr marL="457200" lvl="0" indent="-368300">
              <a:buClr>
                <a:schemeClr val="dk1"/>
              </a:buClr>
              <a:buSzPts val="2200"/>
              <a:buFont typeface="Calibri"/>
              <a:buAutoNum type="arabicPeriod"/>
            </a:pPr>
            <a:r>
              <a:rPr lang="en-US" sz="2400" dirty="0" err="1" smtClean="0">
                <a:latin typeface="Calibri" pitchFamily="34" charset="0"/>
                <a:cs typeface="Calibri" pitchFamily="34" charset="0"/>
              </a:rPr>
              <a:t>Autowire</a:t>
            </a:r>
            <a:r>
              <a:rPr lang="en-US" sz="2400" dirty="0" smtClean="0">
                <a:latin typeface="Calibri" pitchFamily="34" charset="0"/>
                <a:cs typeface="Calibri" pitchFamily="34" charset="0"/>
              </a:rPr>
              <a:t>………………….……………………………. 3</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Application Context……………………………….. 7</a:t>
            </a:r>
          </a:p>
          <a:p>
            <a:pPr marL="457200" indent="-368300">
              <a:buClr>
                <a:schemeClr val="dk1"/>
              </a:buClr>
              <a:buSzPts val="2200"/>
              <a:buFont typeface="Calibri"/>
              <a:buAutoNum type="arabicPeriod"/>
            </a:pPr>
            <a:r>
              <a:rPr lang="en-US" sz="2400" dirty="0" smtClean="0">
                <a:latin typeface="Calibri" pitchFamily="34" charset="0"/>
                <a:cs typeface="Calibri" pitchFamily="34" charset="0"/>
              </a:rPr>
              <a:t>Annotation based Configuration.</a:t>
            </a:r>
            <a:r>
              <a:rPr lang="en-US" sz="2400" dirty="0" smtClean="0">
                <a:solidFill>
                  <a:schemeClr val="dk1"/>
                </a:solidFill>
                <a:latin typeface="Calibri" pitchFamily="34" charset="0"/>
                <a:ea typeface="Calibri"/>
                <a:cs typeface="Calibri" pitchFamily="34" charset="0"/>
                <a:sym typeface="Calibri"/>
              </a:rPr>
              <a:t>…………....8</a:t>
            </a:r>
            <a:endParaRPr lang="en-US" sz="2400" dirty="0" smtClean="0">
              <a:latin typeface="Calibri" pitchFamily="34" charset="0"/>
              <a:cs typeface="Calibri" pitchFamily="34" charset="0"/>
            </a:endParaRPr>
          </a:p>
        </p:txBody>
      </p:sp>
      <p:sp>
        <p:nvSpPr>
          <p:cNvPr id="44" name="Google Shape;44;p2"/>
          <p:cNvSpPr/>
          <p:nvPr/>
        </p:nvSpPr>
        <p:spPr>
          <a:xfrm>
            <a:off x="461889" y="1734925"/>
            <a:ext cx="338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Content </a:t>
            </a:r>
            <a:endParaRPr sz="2400" b="0" i="0" u="none" strike="noStrike" cap="none">
              <a:solidFill>
                <a:schemeClr val="dk1"/>
              </a:solidFill>
              <a:latin typeface="Calibri"/>
              <a:ea typeface="Calibri"/>
              <a:cs typeface="Calibri"/>
              <a:sym typeface="Calibri"/>
            </a:endParaRPr>
          </a:p>
        </p:txBody>
      </p:sp>
      <p:sp>
        <p:nvSpPr>
          <p:cNvPr id="45" name="Google Shape;45;p2"/>
          <p:cNvSpPr/>
          <p:nvPr/>
        </p:nvSpPr>
        <p:spPr>
          <a:xfrm rot="5400000">
            <a:off x="6527840" y="5619817"/>
            <a:ext cx="1281120" cy="600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chemeClr val="lt1"/>
                </a:solidFill>
                <a:latin typeface="Calibri"/>
                <a:ea typeface="Calibri"/>
                <a:cs typeface="Calibri"/>
                <a:sym typeface="Calibri"/>
              </a:rPr>
              <a:t>INDEX</a:t>
            </a:r>
            <a:endParaRPr sz="3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err="1" smtClean="0">
                <a:solidFill>
                  <a:schemeClr val="dk2"/>
                </a:solidFill>
                <a:latin typeface="Calibri"/>
                <a:cs typeface="Calibri"/>
                <a:sym typeface="Calibri"/>
              </a:rPr>
              <a:t>Autowiring</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marL="355600" lvl="0" indent="-355600" algn="just">
              <a:buSzPts val="2200"/>
              <a:buFont typeface="Arial" pitchFamily="34" charset="0"/>
              <a:buChar char="•"/>
            </a:pPr>
            <a:r>
              <a:rPr lang="en-US" sz="2400" b="1" dirty="0" err="1" smtClean="0"/>
              <a:t>Autowiring</a:t>
            </a:r>
            <a:r>
              <a:rPr lang="en-US" sz="2400" dirty="0" smtClean="0"/>
              <a:t> in the Spring framework can inject dependencies automatically. The Spring container detects those dependencies specified in the configuration file and the relationship between the beans. This is referred to as </a:t>
            </a:r>
            <a:r>
              <a:rPr lang="en-US" sz="2400" b="1" dirty="0" err="1" smtClean="0"/>
              <a:t>Autowiring</a:t>
            </a:r>
            <a:r>
              <a:rPr lang="en-US" sz="2400" b="1" dirty="0" smtClean="0"/>
              <a:t> in Spring</a:t>
            </a:r>
            <a:r>
              <a:rPr lang="en-US" sz="2400" dirty="0" smtClean="0"/>
              <a:t>. </a:t>
            </a:r>
          </a:p>
          <a:p>
            <a:pPr marL="355600" lvl="0" indent="-355600" algn="just">
              <a:buSzPts val="2200"/>
              <a:buFont typeface="Arial" pitchFamily="34" charset="0"/>
              <a:buChar char="•"/>
            </a:pPr>
            <a:r>
              <a:rPr lang="en-US" sz="2400" dirty="0" smtClean="0"/>
              <a:t>To enable </a:t>
            </a:r>
            <a:r>
              <a:rPr lang="en-US" sz="2400" dirty="0" err="1" smtClean="0"/>
              <a:t>Autowiring</a:t>
            </a:r>
            <a:r>
              <a:rPr lang="en-US" sz="2400" dirty="0" smtClean="0"/>
              <a:t> in the Spring application we should use</a:t>
            </a:r>
            <a:r>
              <a:rPr lang="en-US" sz="2400" b="1" dirty="0" smtClean="0"/>
              <a:t> @</a:t>
            </a:r>
            <a:r>
              <a:rPr lang="en-US" sz="2400" b="1" dirty="0" err="1" smtClean="0"/>
              <a:t>Autowired</a:t>
            </a:r>
            <a:r>
              <a:rPr lang="en-US" sz="2400" b="1" dirty="0" smtClean="0"/>
              <a:t> </a:t>
            </a:r>
            <a:r>
              <a:rPr lang="en-US" sz="2400" dirty="0" smtClean="0"/>
              <a:t>annotation. </a:t>
            </a:r>
            <a:r>
              <a:rPr lang="en-US" sz="2400" dirty="0" err="1" smtClean="0"/>
              <a:t>Autowiring</a:t>
            </a:r>
            <a:r>
              <a:rPr lang="en-US" sz="2400" dirty="0" smtClean="0"/>
              <a:t> in Spring internally uses constructor injection. An </a:t>
            </a:r>
            <a:r>
              <a:rPr lang="en-US" sz="2400" dirty="0" err="1" smtClean="0"/>
              <a:t>autowired</a:t>
            </a:r>
            <a:r>
              <a:rPr lang="en-US" sz="2400" dirty="0" smtClean="0"/>
              <a:t> application requires fewer lines of code comparatively but at the same time, it provides very little flexibility to the programmer.</a:t>
            </a:r>
            <a:endParaRPr sz="2400" b="0" i="0" u="none" strike="noStrike" cap="none">
              <a:solidFill>
                <a:schemeClr val="dk1"/>
              </a:solidFill>
              <a:latin typeface="+mj-lt"/>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a:buSzPts val="2400"/>
            </a:pPr>
            <a:r>
              <a:rPr lang="en-US" sz="2400" b="1" dirty="0" smtClean="0">
                <a:solidFill>
                  <a:schemeClr val="dk2"/>
                </a:solidFill>
                <a:latin typeface="Calibri"/>
                <a:cs typeface="Calibri"/>
                <a:sym typeface="Calibri"/>
              </a:rPr>
              <a:t>Modes of </a:t>
            </a:r>
            <a:r>
              <a:rPr lang="en-US" sz="2400" b="1" dirty="0" err="1" smtClean="0">
                <a:solidFill>
                  <a:schemeClr val="dk2"/>
                </a:solidFill>
                <a:latin typeface="Calibri"/>
                <a:cs typeface="Calibri"/>
                <a:sym typeface="Calibri"/>
              </a:rPr>
              <a:t>Autowiring</a:t>
            </a:r>
            <a:endParaRPr lang="en-US" sz="2400" b="1" dirty="0" smtClean="0">
              <a:solidFill>
                <a:schemeClr val="dk2"/>
              </a:solidFill>
              <a:latin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5" name="Table 4"/>
          <p:cNvGraphicFramePr>
            <a:graphicFrameLocks noGrp="1"/>
          </p:cNvGraphicFramePr>
          <p:nvPr/>
        </p:nvGraphicFramePr>
        <p:xfrm>
          <a:off x="529386" y="1472665"/>
          <a:ext cx="7892718" cy="5001639"/>
        </p:xfrm>
        <a:graphic>
          <a:graphicData uri="http://schemas.openxmlformats.org/drawingml/2006/table">
            <a:tbl>
              <a:tblPr/>
              <a:tblGrid>
                <a:gridCol w="1761427"/>
                <a:gridCol w="6131291"/>
              </a:tblGrid>
              <a:tr h="407973">
                <a:tc>
                  <a:txBody>
                    <a:bodyPr/>
                    <a:lstStyle/>
                    <a:p>
                      <a:pPr algn="ctr" rtl="0" fontAlgn="base"/>
                      <a:r>
                        <a:rPr lang="en-US" sz="2000" b="1" dirty="0"/>
                        <a:t>Modes</a:t>
                      </a:r>
                    </a:p>
                  </a:txBody>
                  <a:tcPr marL="34656" marR="34656" marT="57760" marB="5776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2000" b="1"/>
                        <a:t>Description</a:t>
                      </a:r>
                    </a:p>
                  </a:txBody>
                  <a:tcPr marL="57760" marR="57760" marT="57760" marB="5776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r>
              <a:tr h="1206724">
                <a:tc>
                  <a:txBody>
                    <a:bodyPr/>
                    <a:lstStyle/>
                    <a:p>
                      <a:pPr algn="ctr" rtl="0" fontAlgn="base"/>
                      <a:r>
                        <a:rPr lang="en-US" sz="2000" b="0" dirty="0"/>
                        <a:t>No</a:t>
                      </a:r>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t>This mode tells the framework that autowiring is not supposed to be done. It is the default mode used by Spring.</a:t>
                      </a:r>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748671">
                <a:tc>
                  <a:txBody>
                    <a:bodyPr/>
                    <a:lstStyle/>
                    <a:p>
                      <a:pPr algn="ctr" rtl="0" fontAlgn="base"/>
                      <a:r>
                        <a:rPr lang="en-US" sz="2000" b="0" dirty="0" err="1"/>
                        <a:t>byName</a:t>
                      </a:r>
                      <a:endParaRPr lang="en-US" sz="2000" b="0" dirty="0"/>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t>It uses the name of the bean for injecting dependencies.</a:t>
                      </a:r>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799962">
                <a:tc>
                  <a:txBody>
                    <a:bodyPr/>
                    <a:lstStyle/>
                    <a:p>
                      <a:pPr algn="ctr" rtl="0" fontAlgn="base"/>
                      <a:r>
                        <a:rPr lang="en-US" sz="2000" b="0" dirty="0" err="1"/>
                        <a:t>byType</a:t>
                      </a:r>
                      <a:endParaRPr lang="en-US" sz="2000" b="0" dirty="0"/>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dirty="0"/>
                        <a:t>It injects the dependency according to the type of bean.</a:t>
                      </a:r>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799962">
                <a:tc>
                  <a:txBody>
                    <a:bodyPr/>
                    <a:lstStyle/>
                    <a:p>
                      <a:pPr algn="ctr" rtl="0" fontAlgn="base"/>
                      <a:r>
                        <a:rPr lang="en-US" sz="2000" b="0"/>
                        <a:t>Constructor</a:t>
                      </a:r>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dirty="0"/>
                        <a:t>It injects the required dependencies by invoking the constructor.</a:t>
                      </a:r>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1003343">
                <a:tc>
                  <a:txBody>
                    <a:bodyPr/>
                    <a:lstStyle/>
                    <a:p>
                      <a:pPr algn="ctr" rtl="0" fontAlgn="base"/>
                      <a:r>
                        <a:rPr lang="en-US" sz="2000" b="0"/>
                        <a:t>Autodetect</a:t>
                      </a:r>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dirty="0"/>
                        <a:t>The </a:t>
                      </a:r>
                      <a:r>
                        <a:rPr lang="en-US" sz="2000" b="0" dirty="0" err="1"/>
                        <a:t>autodetect</a:t>
                      </a:r>
                      <a:r>
                        <a:rPr lang="en-US" sz="2000" b="0" dirty="0"/>
                        <a:t> mode uses two other modes for </a:t>
                      </a:r>
                      <a:r>
                        <a:rPr lang="en-US" sz="2000" b="0" dirty="0" err="1"/>
                        <a:t>autowiring</a:t>
                      </a:r>
                      <a:r>
                        <a:rPr lang="en-US" sz="2000" b="0" dirty="0"/>
                        <a:t> - constructor and </a:t>
                      </a:r>
                      <a:r>
                        <a:rPr lang="en-US" sz="2000" b="0" dirty="0" err="1"/>
                        <a:t>byType</a:t>
                      </a:r>
                      <a:r>
                        <a:rPr lang="en-US" sz="2000" b="0" dirty="0"/>
                        <a:t>.</a:t>
                      </a:r>
                    </a:p>
                  </a:txBody>
                  <a:tcPr marL="57760" marR="57760" marT="80864" marB="8086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Modes of </a:t>
            </a:r>
            <a:r>
              <a:rPr lang="en-US" sz="2400" b="1" dirty="0" err="1" smtClean="0">
                <a:solidFill>
                  <a:schemeClr val="dk2"/>
                </a:solidFill>
                <a:latin typeface="Calibri"/>
                <a:cs typeface="Calibri"/>
                <a:sym typeface="Calibri"/>
              </a:rPr>
              <a:t>Autowiring</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597420"/>
            <a:ext cx="8533200" cy="2677616"/>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1. No</a:t>
            </a:r>
          </a:p>
          <a:p>
            <a:pPr algn="just" fontAlgn="base"/>
            <a:r>
              <a:rPr lang="en-US" sz="2400" dirty="0" smtClean="0"/>
              <a:t>This mode tells the framework that </a:t>
            </a:r>
            <a:r>
              <a:rPr lang="en-US" sz="2400" dirty="0" err="1" smtClean="0"/>
              <a:t>autowiring</a:t>
            </a:r>
            <a:r>
              <a:rPr lang="en-US" sz="2400" dirty="0" smtClean="0"/>
              <a:t> is not supposed to be done. It is the default mode used by Spring.</a:t>
            </a:r>
          </a:p>
          <a:p>
            <a:pPr fontAlgn="base"/>
            <a:r>
              <a:rPr lang="en-US" sz="2400" dirty="0" smtClean="0"/>
              <a:t>&lt;bean id="state" class="</a:t>
            </a:r>
            <a:r>
              <a:rPr lang="en-US" sz="2400" dirty="0" err="1" smtClean="0"/>
              <a:t>sample.State</a:t>
            </a:r>
            <a:r>
              <a:rPr lang="en-US" sz="2400" dirty="0" smtClean="0"/>
              <a:t>"&gt;</a:t>
            </a:r>
            <a:br>
              <a:rPr lang="en-US" sz="2400" dirty="0" smtClean="0"/>
            </a:br>
            <a:r>
              <a:rPr lang="en-US" sz="2400" dirty="0" smtClean="0"/>
              <a:t>	&lt;property name="name" value="UP" /&gt;</a:t>
            </a:r>
            <a:br>
              <a:rPr lang="en-US" sz="2400" dirty="0" smtClean="0"/>
            </a:br>
            <a:r>
              <a:rPr lang="en-US" sz="2400" dirty="0" smtClean="0"/>
              <a:t>&lt;/bean&gt;</a:t>
            </a:r>
            <a:br>
              <a:rPr lang="en-US" sz="2400" dirty="0" smtClean="0"/>
            </a:br>
            <a:r>
              <a:rPr lang="en-US" sz="2400" dirty="0" smtClean="0"/>
              <a:t>&lt;bean id="city" class="</a:t>
            </a:r>
            <a:r>
              <a:rPr lang="en-US" sz="2400" dirty="0" err="1" smtClean="0"/>
              <a:t>sample.City</a:t>
            </a:r>
            <a:r>
              <a:rPr lang="en-US" sz="2400" dirty="0" smtClean="0"/>
              <a:t>"&gt;&lt;/bean&gt;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Modes of </a:t>
            </a:r>
            <a:r>
              <a:rPr lang="en-US" sz="2400" b="1" dirty="0" err="1" smtClean="0">
                <a:solidFill>
                  <a:schemeClr val="dk2"/>
                </a:solidFill>
                <a:latin typeface="Calibri"/>
                <a:cs typeface="Calibri"/>
                <a:sym typeface="Calibri"/>
              </a:rPr>
              <a:t>Autowiring</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597420"/>
            <a:ext cx="8533200" cy="3785611"/>
          </a:xfrm>
          <a:prstGeom prst="rect">
            <a:avLst/>
          </a:prstGeom>
          <a:noFill/>
          <a:ln>
            <a:noFill/>
          </a:ln>
        </p:spPr>
        <p:txBody>
          <a:bodyPr spcFirstLastPara="1" wrap="square" lIns="91425" tIns="45700" rIns="91425" bIns="45700" anchor="t" anchorCtr="0">
            <a:spAutoFit/>
          </a:bodyPr>
          <a:lstStyle/>
          <a:p>
            <a:pPr fontAlgn="base"/>
            <a:r>
              <a:rPr lang="en-US" sz="2400" b="1" dirty="0" smtClean="0"/>
              <a:t>2. </a:t>
            </a:r>
            <a:r>
              <a:rPr lang="en-US" sz="2400" b="1" dirty="0" err="1" smtClean="0"/>
              <a:t>byName</a:t>
            </a:r>
            <a:endParaRPr lang="en-US" sz="2400" b="1" dirty="0" smtClean="0"/>
          </a:p>
          <a:p>
            <a:pPr algn="just" fontAlgn="base"/>
            <a:r>
              <a:rPr lang="en-US" sz="2400" dirty="0" smtClean="0"/>
              <a:t>It uses the name of the bean for injecting dependencies. However, it requires that the name of the property and bean must be the same. It invokes the setter method internally for </a:t>
            </a:r>
            <a:r>
              <a:rPr lang="en-US" sz="2400" dirty="0" err="1" smtClean="0"/>
              <a:t>autowiring</a:t>
            </a:r>
            <a:r>
              <a:rPr lang="en-US" sz="2400" dirty="0" smtClean="0"/>
              <a:t>.</a:t>
            </a:r>
          </a:p>
          <a:p>
            <a:r>
              <a:rPr lang="en-US" sz="2400" dirty="0" smtClean="0"/>
              <a:t>&lt;bean id="state" class="</a:t>
            </a:r>
            <a:r>
              <a:rPr lang="en-US" sz="2400" dirty="0" err="1" smtClean="0"/>
              <a:t>sample.State</a:t>
            </a:r>
            <a:r>
              <a:rPr lang="en-US" sz="2400" dirty="0" smtClean="0"/>
              <a:t>"&gt;</a:t>
            </a:r>
            <a:br>
              <a:rPr lang="en-US" sz="2400" dirty="0" smtClean="0"/>
            </a:br>
            <a:r>
              <a:rPr lang="en-US" sz="2400" dirty="0" smtClean="0"/>
              <a:t>&lt;property name="name" value="UP" /&gt;</a:t>
            </a:r>
            <a:br>
              <a:rPr lang="en-US" sz="2400" dirty="0" smtClean="0"/>
            </a:br>
            <a:r>
              <a:rPr lang="en-US" sz="2400" dirty="0" smtClean="0"/>
              <a:t>&lt;/bean&gt;</a:t>
            </a:r>
            <a:br>
              <a:rPr lang="en-US" sz="2400" dirty="0" smtClean="0"/>
            </a:br>
            <a:r>
              <a:rPr lang="en-US" sz="2400" dirty="0" smtClean="0"/>
              <a:t>&lt;bean id="city" class="</a:t>
            </a:r>
            <a:r>
              <a:rPr lang="en-US" sz="2400" dirty="0" err="1" smtClean="0"/>
              <a:t>sample.City</a:t>
            </a:r>
            <a:r>
              <a:rPr lang="en-US" sz="2400" dirty="0" smtClean="0"/>
              <a:t>" </a:t>
            </a:r>
            <a:r>
              <a:rPr lang="en-US" sz="2400" dirty="0" err="1" smtClean="0"/>
              <a:t>autowire</a:t>
            </a:r>
            <a:r>
              <a:rPr lang="en-US" sz="2400" dirty="0" smtClean="0"/>
              <a:t>="</a:t>
            </a:r>
            <a:r>
              <a:rPr lang="en-US" sz="2400" dirty="0" err="1" smtClean="0"/>
              <a:t>byName</a:t>
            </a:r>
            <a:r>
              <a:rPr lang="en-US" sz="2400" dirty="0" smtClean="0"/>
              <a:t>"&gt;&lt;/bean&gt;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Modes of </a:t>
            </a:r>
            <a:r>
              <a:rPr lang="en-US" sz="2400" b="1" dirty="0" err="1" smtClean="0">
                <a:solidFill>
                  <a:schemeClr val="dk2"/>
                </a:solidFill>
                <a:latin typeface="Calibri"/>
                <a:cs typeface="Calibri"/>
                <a:sym typeface="Calibri"/>
              </a:rPr>
              <a:t>Autowiring</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597420"/>
            <a:ext cx="8533200" cy="4524275"/>
          </a:xfrm>
          <a:prstGeom prst="rect">
            <a:avLst/>
          </a:prstGeom>
          <a:noFill/>
          <a:ln>
            <a:noFill/>
          </a:ln>
        </p:spPr>
        <p:txBody>
          <a:bodyPr spcFirstLastPara="1" wrap="square" lIns="91425" tIns="45700" rIns="91425" bIns="45700" anchor="t" anchorCtr="0">
            <a:spAutoFit/>
          </a:bodyPr>
          <a:lstStyle/>
          <a:p>
            <a:pPr fontAlgn="base"/>
            <a:r>
              <a:rPr lang="en-US" sz="2400" b="1" dirty="0" smtClean="0"/>
              <a:t>3. </a:t>
            </a:r>
            <a:r>
              <a:rPr lang="en-US" sz="2400" b="1" dirty="0" err="1" smtClean="0"/>
              <a:t>byType</a:t>
            </a:r>
            <a:endParaRPr lang="en-US" sz="2400" b="1" dirty="0" smtClean="0"/>
          </a:p>
          <a:p>
            <a:pPr algn="just" fontAlgn="base"/>
            <a:r>
              <a:rPr lang="en-US" sz="2400" dirty="0" smtClean="0"/>
              <a:t>It injects the dependency according to the type of the bean. It looks up in the configuration file for the class type of the property. If it finds a bean that matches, it injects the property. If not, the program throws an error. The names of the property and bean can be different in this case. It invokes the setter method internally for </a:t>
            </a:r>
            <a:r>
              <a:rPr lang="en-US" sz="2400" dirty="0" err="1" smtClean="0"/>
              <a:t>autowiring</a:t>
            </a:r>
            <a:r>
              <a:rPr lang="en-US" sz="2400" dirty="0" smtClean="0"/>
              <a:t>.</a:t>
            </a:r>
          </a:p>
          <a:p>
            <a:r>
              <a:rPr lang="en-US" sz="2400" dirty="0" smtClean="0"/>
              <a:t>&lt;bean id="state" class="</a:t>
            </a:r>
            <a:r>
              <a:rPr lang="en-US" sz="2400" dirty="0" err="1" smtClean="0"/>
              <a:t>sample.State</a:t>
            </a:r>
            <a:r>
              <a:rPr lang="en-US" sz="2400" dirty="0" smtClean="0"/>
              <a:t>"&gt;</a:t>
            </a:r>
            <a:br>
              <a:rPr lang="en-US" sz="2400" dirty="0" smtClean="0"/>
            </a:br>
            <a:r>
              <a:rPr lang="en-US" sz="2400" dirty="0" smtClean="0"/>
              <a:t>&lt;property name="name" value="UP" /&gt;</a:t>
            </a:r>
            <a:br>
              <a:rPr lang="en-US" sz="2400" dirty="0" smtClean="0"/>
            </a:br>
            <a:r>
              <a:rPr lang="en-US" sz="2400" dirty="0" smtClean="0"/>
              <a:t>&lt;/bean&gt;</a:t>
            </a:r>
            <a:br>
              <a:rPr lang="en-US" sz="2400" dirty="0" smtClean="0"/>
            </a:br>
            <a:r>
              <a:rPr lang="en-US" sz="2400" dirty="0" smtClean="0"/>
              <a:t>&lt;bean id="city" class="</a:t>
            </a:r>
            <a:r>
              <a:rPr lang="en-US" sz="2400" dirty="0" err="1" smtClean="0"/>
              <a:t>sample.City</a:t>
            </a:r>
            <a:r>
              <a:rPr lang="en-US" sz="2400" dirty="0" smtClean="0"/>
              <a:t>" </a:t>
            </a:r>
            <a:r>
              <a:rPr lang="en-US" sz="2400" dirty="0" err="1" smtClean="0"/>
              <a:t>autowire</a:t>
            </a:r>
            <a:r>
              <a:rPr lang="en-US" sz="2400" dirty="0" smtClean="0"/>
              <a:t>="</a:t>
            </a:r>
            <a:r>
              <a:rPr lang="en-US" sz="2400" dirty="0" err="1" smtClean="0"/>
              <a:t>byType</a:t>
            </a:r>
            <a:r>
              <a:rPr lang="en-US" sz="2400" dirty="0" smtClean="0"/>
              <a:t>"&gt;&lt;/bean&gt;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Modes of </a:t>
            </a:r>
            <a:r>
              <a:rPr lang="en-US" sz="2400" b="1" dirty="0" err="1" smtClean="0">
                <a:solidFill>
                  <a:schemeClr val="dk2"/>
                </a:solidFill>
                <a:latin typeface="Calibri"/>
                <a:cs typeface="Calibri"/>
                <a:sym typeface="Calibri"/>
              </a:rPr>
              <a:t>Autowiring</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597420"/>
            <a:ext cx="8533200" cy="4524275"/>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4. constructor</a:t>
            </a:r>
          </a:p>
          <a:p>
            <a:pPr algn="just" fontAlgn="base"/>
            <a:r>
              <a:rPr lang="en-US" sz="2400" dirty="0" smtClean="0"/>
              <a:t>It injects the required dependencies by invoking the constructor. It works similar to the “</a:t>
            </a:r>
            <a:r>
              <a:rPr lang="en-US" sz="2400" dirty="0" err="1" smtClean="0"/>
              <a:t>byType</a:t>
            </a:r>
            <a:r>
              <a:rPr lang="en-US" sz="2400" dirty="0" smtClean="0"/>
              <a:t>” mode but it looks for the class type of the constructor arguments. If none or more than one bean are detected, then it throws an error, otherwise, it </a:t>
            </a:r>
            <a:r>
              <a:rPr lang="en-US" sz="2400" dirty="0" err="1" smtClean="0"/>
              <a:t>autowires</a:t>
            </a:r>
            <a:r>
              <a:rPr lang="en-US" sz="2400" dirty="0" smtClean="0"/>
              <a:t> the “</a:t>
            </a:r>
            <a:r>
              <a:rPr lang="en-US" sz="2400" dirty="0" err="1" smtClean="0"/>
              <a:t>byType</a:t>
            </a:r>
            <a:r>
              <a:rPr lang="en-US" sz="2400" dirty="0" smtClean="0"/>
              <a:t>” on all constructor arguments.</a:t>
            </a:r>
          </a:p>
          <a:p>
            <a:r>
              <a:rPr lang="en-US" sz="2400" dirty="0" smtClean="0"/>
              <a:t>&lt;bean id="state" class="</a:t>
            </a:r>
            <a:r>
              <a:rPr lang="en-US" sz="2400" dirty="0" err="1" smtClean="0"/>
              <a:t>sample.State</a:t>
            </a:r>
            <a:r>
              <a:rPr lang="en-US" sz="2400" dirty="0" smtClean="0"/>
              <a:t>"&gt;</a:t>
            </a:r>
            <a:br>
              <a:rPr lang="en-US" sz="2400" dirty="0" smtClean="0"/>
            </a:br>
            <a:r>
              <a:rPr lang="en-US" sz="2400" dirty="0" smtClean="0"/>
              <a:t>&lt;property name="name" value="UP" /&gt;</a:t>
            </a:r>
            <a:br>
              <a:rPr lang="en-US" sz="2400" dirty="0" smtClean="0"/>
            </a:br>
            <a:r>
              <a:rPr lang="en-US" sz="2400" dirty="0" smtClean="0"/>
              <a:t>&lt;/bean&gt;</a:t>
            </a:r>
            <a:br>
              <a:rPr lang="en-US" sz="2400" dirty="0" smtClean="0"/>
            </a:br>
            <a:r>
              <a:rPr lang="en-US" sz="2400" dirty="0" smtClean="0"/>
              <a:t>&lt;bean id="city" class="</a:t>
            </a:r>
            <a:r>
              <a:rPr lang="en-US" sz="2400" dirty="0" err="1" smtClean="0"/>
              <a:t>sample.City</a:t>
            </a:r>
            <a:r>
              <a:rPr lang="en-US" sz="2400" dirty="0" smtClean="0"/>
              <a:t>" </a:t>
            </a:r>
            <a:r>
              <a:rPr lang="en-US" sz="2400" dirty="0" err="1" smtClean="0"/>
              <a:t>autowire</a:t>
            </a:r>
            <a:r>
              <a:rPr lang="en-US" sz="2400" dirty="0" smtClean="0"/>
              <a:t>="constructor"&gt;&lt;/bean&gt;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Modes of </a:t>
            </a:r>
            <a:r>
              <a:rPr lang="en-US" sz="2400" b="1" dirty="0" err="1" smtClean="0">
                <a:solidFill>
                  <a:schemeClr val="dk2"/>
                </a:solidFill>
                <a:latin typeface="Calibri"/>
                <a:cs typeface="Calibri"/>
                <a:sym typeface="Calibri"/>
              </a:rPr>
              <a:t>Autowiring</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597420"/>
            <a:ext cx="8533200" cy="4154943"/>
          </a:xfrm>
          <a:prstGeom prst="rect">
            <a:avLst/>
          </a:prstGeom>
          <a:noFill/>
          <a:ln>
            <a:noFill/>
          </a:ln>
        </p:spPr>
        <p:txBody>
          <a:bodyPr spcFirstLastPara="1" wrap="square" lIns="91425" tIns="45700" rIns="91425" bIns="45700" anchor="t" anchorCtr="0">
            <a:spAutoFit/>
          </a:bodyPr>
          <a:lstStyle/>
          <a:p>
            <a:pPr fontAlgn="base"/>
            <a:r>
              <a:rPr lang="en-US" sz="2400" b="1" dirty="0" smtClean="0"/>
              <a:t>5. </a:t>
            </a:r>
            <a:r>
              <a:rPr lang="en-US" sz="2400" b="1" dirty="0" err="1" smtClean="0"/>
              <a:t>autodetect</a:t>
            </a:r>
            <a:endParaRPr lang="en-US" sz="2400" b="1" dirty="0" smtClean="0"/>
          </a:p>
          <a:p>
            <a:pPr algn="just" fontAlgn="base"/>
            <a:r>
              <a:rPr lang="en-US" sz="2400" dirty="0" smtClean="0"/>
              <a:t>The </a:t>
            </a:r>
            <a:r>
              <a:rPr lang="en-US" sz="2400" dirty="0" err="1" smtClean="0"/>
              <a:t>autodetect</a:t>
            </a:r>
            <a:r>
              <a:rPr lang="en-US" sz="2400" dirty="0" smtClean="0"/>
              <a:t> mode uses two other modes for </a:t>
            </a:r>
            <a:r>
              <a:rPr lang="en-US" sz="2400" dirty="0" err="1" smtClean="0"/>
              <a:t>autowiring</a:t>
            </a:r>
            <a:r>
              <a:rPr lang="en-US" sz="2400" dirty="0" smtClean="0"/>
              <a:t> - constructor and </a:t>
            </a:r>
            <a:r>
              <a:rPr lang="en-US" sz="2400" dirty="0" err="1" smtClean="0"/>
              <a:t>byType</a:t>
            </a:r>
            <a:r>
              <a:rPr lang="en-US" sz="2400" dirty="0" smtClean="0"/>
              <a:t>. It first tries to </a:t>
            </a:r>
            <a:r>
              <a:rPr lang="en-US" sz="2400" dirty="0" err="1" smtClean="0"/>
              <a:t>autowire</a:t>
            </a:r>
            <a:r>
              <a:rPr lang="en-US" sz="2400" dirty="0" smtClean="0"/>
              <a:t> via the constructor mode and if it fails, it uses the </a:t>
            </a:r>
            <a:r>
              <a:rPr lang="en-US" sz="2400" dirty="0" err="1" smtClean="0"/>
              <a:t>byType</a:t>
            </a:r>
            <a:r>
              <a:rPr lang="en-US" sz="2400" dirty="0" smtClean="0"/>
              <a:t> mode for </a:t>
            </a:r>
            <a:r>
              <a:rPr lang="en-US" sz="2400" dirty="0" err="1" smtClean="0"/>
              <a:t>autowiring</a:t>
            </a:r>
            <a:r>
              <a:rPr lang="en-US" sz="2400" dirty="0" smtClean="0"/>
              <a:t>. It works in Spring 2.0 and 2.5 but is deprecated from Spring 3.0 onwards.</a:t>
            </a:r>
          </a:p>
          <a:p>
            <a:r>
              <a:rPr lang="en-US" sz="2400" dirty="0" smtClean="0"/>
              <a:t>&lt;bean id="state" class="</a:t>
            </a:r>
            <a:r>
              <a:rPr lang="en-US" sz="2400" dirty="0" err="1" smtClean="0"/>
              <a:t>sample.State</a:t>
            </a:r>
            <a:r>
              <a:rPr lang="en-US" sz="2400" dirty="0" smtClean="0"/>
              <a:t>"&gt;</a:t>
            </a:r>
            <a:br>
              <a:rPr lang="en-US" sz="2400" dirty="0" smtClean="0"/>
            </a:br>
            <a:r>
              <a:rPr lang="en-US" sz="2400" dirty="0" smtClean="0"/>
              <a:t>&lt;property name="name" value="UP" /&gt;</a:t>
            </a:r>
            <a:br>
              <a:rPr lang="en-US" sz="2400" dirty="0" smtClean="0"/>
            </a:br>
            <a:r>
              <a:rPr lang="en-US" sz="2400" dirty="0" smtClean="0"/>
              <a:t>&lt;/bean&gt;</a:t>
            </a:r>
            <a:br>
              <a:rPr lang="en-US" sz="2400" dirty="0" smtClean="0"/>
            </a:br>
            <a:r>
              <a:rPr lang="en-US" sz="2400" dirty="0" smtClean="0"/>
              <a:t>&lt;bean id="city" class="</a:t>
            </a:r>
            <a:r>
              <a:rPr lang="en-US" sz="2400" dirty="0" err="1" smtClean="0"/>
              <a:t>sample.City</a:t>
            </a:r>
            <a:r>
              <a:rPr lang="en-US" sz="2400" dirty="0" smtClean="0"/>
              <a:t>" </a:t>
            </a:r>
            <a:r>
              <a:rPr lang="en-US" sz="2400" dirty="0" err="1" smtClean="0"/>
              <a:t>autowire</a:t>
            </a:r>
            <a:r>
              <a:rPr lang="en-US" sz="2400" dirty="0" smtClean="0"/>
              <a:t>="</a:t>
            </a:r>
            <a:r>
              <a:rPr lang="en-US" sz="2400" dirty="0" err="1" smtClean="0"/>
              <a:t>autodetect</a:t>
            </a:r>
            <a:r>
              <a:rPr lang="en-US" sz="2400" dirty="0" smtClean="0"/>
              <a:t>"&gt;&lt;/bean&gt;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err="1" smtClean="0">
                <a:solidFill>
                  <a:schemeClr val="dk2"/>
                </a:solidFill>
                <a:latin typeface="Calibri"/>
                <a:cs typeface="Calibri"/>
                <a:sym typeface="Calibri"/>
              </a:rPr>
              <a:t>Autowiring</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597420"/>
            <a:ext cx="8533200" cy="2677616"/>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Advantage of </a:t>
            </a:r>
            <a:r>
              <a:rPr lang="en-US" sz="2400" b="1" dirty="0" err="1" smtClean="0"/>
              <a:t>Autowiring</a:t>
            </a:r>
            <a:r>
              <a:rPr lang="en-US" sz="2400" b="1" dirty="0" smtClean="0"/>
              <a:t>:</a:t>
            </a:r>
            <a:r>
              <a:rPr lang="en-US" sz="2400" dirty="0" smtClean="0"/>
              <a:t> It requires less code because we don't need to write the code to inject the dependency explicitly.</a:t>
            </a:r>
          </a:p>
          <a:p>
            <a:pPr algn="just" fontAlgn="base"/>
            <a:endParaRPr lang="en-US" sz="2400" b="1" dirty="0" smtClean="0"/>
          </a:p>
          <a:p>
            <a:pPr algn="just" fontAlgn="base"/>
            <a:endParaRPr lang="en-US" sz="2400" b="1" dirty="0" smtClean="0"/>
          </a:p>
          <a:p>
            <a:pPr algn="just" fontAlgn="base"/>
            <a:r>
              <a:rPr lang="en-US" sz="2400" b="1" dirty="0" smtClean="0"/>
              <a:t>Disadvantage of </a:t>
            </a:r>
            <a:r>
              <a:rPr lang="en-US" sz="2400" b="1" dirty="0" err="1" smtClean="0"/>
              <a:t>Autowiring</a:t>
            </a:r>
            <a:r>
              <a:rPr lang="en-US" sz="2400" b="1" dirty="0" smtClean="0"/>
              <a:t>:</a:t>
            </a:r>
            <a:r>
              <a:rPr lang="en-US" sz="2400" dirty="0" smtClean="0"/>
              <a:t> No control of the programmer and It can't be used for primitive and string values.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marL="361950" indent="-361950" algn="just" fontAlgn="base">
              <a:buFont typeface="Arial" pitchFamily="34" charset="0"/>
              <a:buChar char="•"/>
            </a:pPr>
            <a:r>
              <a:rPr lang="en-US" sz="2400" b="1" dirty="0" err="1" smtClean="0"/>
              <a:t>ApplicationContext</a:t>
            </a:r>
            <a:r>
              <a:rPr lang="en-US" sz="2400" dirty="0" smtClean="0"/>
              <a:t> belongs to the </a:t>
            </a:r>
            <a:r>
              <a:rPr lang="en-US" sz="2400" b="1" dirty="0" smtClean="0"/>
              <a:t>Spring </a:t>
            </a:r>
            <a:r>
              <a:rPr lang="en-US" sz="2400" dirty="0" smtClean="0"/>
              <a:t>framework. </a:t>
            </a:r>
          </a:p>
          <a:p>
            <a:pPr marL="361950" indent="-361950" algn="just" fontAlgn="base">
              <a:buFont typeface="Arial" pitchFamily="34" charset="0"/>
              <a:buChar char="•"/>
            </a:pPr>
            <a:r>
              <a:rPr lang="en-US" sz="2400" b="1" dirty="0" smtClean="0"/>
              <a:t>Spring </a:t>
            </a:r>
            <a:r>
              <a:rPr lang="en-US" sz="2400" b="1" dirty="0" err="1" smtClean="0"/>
              <a:t>IoC</a:t>
            </a:r>
            <a:r>
              <a:rPr lang="en-US" sz="2400" b="1" dirty="0" smtClean="0"/>
              <a:t> contain</a:t>
            </a:r>
            <a:r>
              <a:rPr lang="en-US" sz="2400" dirty="0" smtClean="0"/>
              <a:t>er is responsible for instantiating, wiring, configuring, and managing the entire life cycle of beans or objects. </a:t>
            </a:r>
          </a:p>
          <a:p>
            <a:pPr marL="361950" indent="-361950" algn="just" fontAlgn="base">
              <a:buFont typeface="Arial" pitchFamily="34" charset="0"/>
              <a:buChar char="•"/>
            </a:pPr>
            <a:r>
              <a:rPr lang="en-US" sz="2400" b="1" dirty="0" err="1" smtClean="0"/>
              <a:t>BeanFactory</a:t>
            </a:r>
            <a:r>
              <a:rPr lang="en-US" sz="2400" dirty="0" smtClean="0"/>
              <a:t> and </a:t>
            </a:r>
            <a:r>
              <a:rPr lang="en-US" sz="2400" b="1" dirty="0" err="1" smtClean="0"/>
              <a:t>ApplicationContext</a:t>
            </a:r>
            <a:r>
              <a:rPr lang="en-US" sz="2400" b="1" dirty="0" smtClean="0"/>
              <a:t> </a:t>
            </a:r>
            <a:r>
              <a:rPr lang="en-US" sz="2400" dirty="0" smtClean="0"/>
              <a:t>represent the Spring </a:t>
            </a:r>
            <a:r>
              <a:rPr lang="en-US" sz="2400" dirty="0" err="1" smtClean="0"/>
              <a:t>IoC</a:t>
            </a:r>
            <a:r>
              <a:rPr lang="en-US" sz="2400" dirty="0" smtClean="0"/>
              <a:t> Containers. </a:t>
            </a:r>
          </a:p>
          <a:p>
            <a:pPr marL="361950" indent="-361950" algn="just" fontAlgn="base">
              <a:buFont typeface="Arial" pitchFamily="34" charset="0"/>
              <a:buChar char="•"/>
            </a:pPr>
            <a:r>
              <a:rPr lang="en-US" sz="2400" b="1" dirty="0" err="1" smtClean="0"/>
              <a:t>ApplicationContext</a:t>
            </a:r>
            <a:r>
              <a:rPr lang="en-US" sz="2400" dirty="0" smtClean="0"/>
              <a:t> is the sub-interface of </a:t>
            </a:r>
            <a:r>
              <a:rPr lang="en-US" sz="2400" dirty="0" err="1" smtClean="0"/>
              <a:t>BeanFactory</a:t>
            </a:r>
            <a:r>
              <a:rPr lang="en-US" sz="2400" dirty="0" smtClean="0"/>
              <a:t>. It is used when we are creating an enterprise-level application or web application. </a:t>
            </a:r>
            <a:r>
              <a:rPr lang="en-US" sz="2400" dirty="0" err="1" smtClean="0"/>
              <a:t>ApplicationContext</a:t>
            </a:r>
            <a:r>
              <a:rPr lang="en-US" sz="2400" dirty="0" smtClean="0"/>
              <a:t> is the superset of </a:t>
            </a:r>
            <a:r>
              <a:rPr lang="en-US" sz="2400" dirty="0" err="1" smtClean="0"/>
              <a:t>BeanFactory</a:t>
            </a:r>
            <a:r>
              <a:rPr lang="en-US" sz="2400" dirty="0" smtClean="0"/>
              <a:t>, whatever features provided by </a:t>
            </a:r>
            <a:r>
              <a:rPr lang="en-US" sz="2400" dirty="0" err="1" smtClean="0"/>
              <a:t>BeanFactory</a:t>
            </a:r>
            <a:r>
              <a:rPr lang="en-US" sz="2400" dirty="0" smtClean="0"/>
              <a:t> are also provided by </a:t>
            </a:r>
            <a:r>
              <a:rPr lang="en-US" sz="2400" dirty="0" err="1" smtClean="0"/>
              <a:t>ApplicationContext</a:t>
            </a:r>
            <a:r>
              <a:rPr lang="en-US" sz="2400" dirty="0" smtClean="0"/>
              <a: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83250" y="1789925"/>
            <a:ext cx="8533200" cy="3046948"/>
          </a:xfrm>
          <a:prstGeom prst="rect">
            <a:avLst/>
          </a:prstGeom>
          <a:noFill/>
          <a:ln>
            <a:noFill/>
          </a:ln>
        </p:spPr>
        <p:txBody>
          <a:bodyPr spcFirstLastPara="1" wrap="square" lIns="91425" tIns="45700" rIns="91425" bIns="45700" anchor="t" anchorCtr="0">
            <a:spAutoFit/>
          </a:bodyPr>
          <a:lstStyle/>
          <a:p>
            <a:pPr algn="just" fontAlgn="base"/>
            <a:r>
              <a:rPr lang="en-US" sz="2400" b="1" dirty="0" err="1" smtClean="0"/>
              <a:t>ApplicationContext</a:t>
            </a:r>
            <a:r>
              <a:rPr lang="en-US" sz="2400" b="1" dirty="0" smtClean="0"/>
              <a:t> Features</a:t>
            </a:r>
          </a:p>
          <a:p>
            <a:pPr algn="just" fontAlgn="base"/>
            <a:r>
              <a:rPr lang="en-US" sz="2400" dirty="0" err="1" smtClean="0"/>
              <a:t>ApplicationContext</a:t>
            </a:r>
            <a:r>
              <a:rPr lang="en-US" sz="2400" dirty="0" smtClean="0"/>
              <a:t> provides basic features in addition to enterprise-specific functionalities which are as follows:</a:t>
            </a:r>
          </a:p>
          <a:p>
            <a:pPr marL="360363" indent="-360363" algn="just" fontAlgn="base">
              <a:buFont typeface="Arial" pitchFamily="34" charset="0"/>
              <a:buChar char="•"/>
            </a:pPr>
            <a:r>
              <a:rPr lang="en-US" sz="2400" dirty="0" smtClean="0"/>
              <a:t>Publishing events to registered listeners by resolving property files.</a:t>
            </a:r>
          </a:p>
          <a:p>
            <a:pPr marL="360363" indent="-360363" algn="just" fontAlgn="base">
              <a:buFont typeface="Arial" pitchFamily="34" charset="0"/>
              <a:buChar char="•"/>
            </a:pPr>
            <a:r>
              <a:rPr lang="en-US" sz="2400" dirty="0" smtClean="0"/>
              <a:t>Methods for accessing application components.</a:t>
            </a:r>
          </a:p>
          <a:p>
            <a:pPr marL="360363" indent="-360363" algn="just" fontAlgn="base">
              <a:buFont typeface="Arial" pitchFamily="34" charset="0"/>
              <a:buChar char="•"/>
            </a:pPr>
            <a:r>
              <a:rPr lang="en-US" sz="2400" dirty="0" smtClean="0"/>
              <a:t>Supports Internationalization.</a:t>
            </a:r>
          </a:p>
          <a:p>
            <a:pPr marL="360363" indent="-360363" algn="just" fontAlgn="base">
              <a:buFont typeface="Arial" pitchFamily="34" charset="0"/>
              <a:buChar char="•"/>
            </a:pPr>
            <a:r>
              <a:rPr lang="en-US" sz="2400" dirty="0" smtClean="0"/>
              <a:t>Loading File resources in a generic fashion.</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83250" y="1789925"/>
            <a:ext cx="8533200" cy="2677616"/>
          </a:xfrm>
          <a:prstGeom prst="rect">
            <a:avLst/>
          </a:prstGeom>
          <a:noFill/>
          <a:ln>
            <a:noFill/>
          </a:ln>
        </p:spPr>
        <p:txBody>
          <a:bodyPr spcFirstLastPara="1" wrap="square" lIns="91425" tIns="45700" rIns="91425" bIns="45700" anchor="t" anchorCtr="0">
            <a:spAutoFit/>
          </a:bodyPr>
          <a:lstStyle/>
          <a:p>
            <a:pPr algn="just" fontAlgn="base"/>
            <a:r>
              <a:rPr lang="en-US" sz="2400" b="1" dirty="0" err="1" smtClean="0"/>
              <a:t>ApplicationContext</a:t>
            </a:r>
            <a:r>
              <a:rPr lang="en-US" sz="2400" b="1" dirty="0" smtClean="0"/>
              <a:t> Implementation Classes</a:t>
            </a:r>
          </a:p>
          <a:p>
            <a:pPr algn="just" fontAlgn="base"/>
            <a:endParaRPr lang="en-US" sz="2400" dirty="0" smtClean="0"/>
          </a:p>
          <a:p>
            <a:pPr marL="457200" indent="-457200" algn="just" fontAlgn="base">
              <a:buFont typeface="+mj-lt"/>
              <a:buAutoNum type="arabicPeriod"/>
            </a:pPr>
            <a:r>
              <a:rPr lang="en-US" sz="2400" dirty="0" err="1" smtClean="0"/>
              <a:t>AnnotationConfigApplicationContext</a:t>
            </a:r>
            <a:r>
              <a:rPr lang="en-US" sz="2400" dirty="0" smtClean="0"/>
              <a:t> container </a:t>
            </a:r>
          </a:p>
          <a:p>
            <a:pPr marL="457200" indent="-457200" algn="just" fontAlgn="base">
              <a:buFont typeface="+mj-lt"/>
              <a:buAutoNum type="arabicPeriod"/>
            </a:pPr>
            <a:r>
              <a:rPr lang="en-US" sz="2400" dirty="0" err="1" smtClean="0"/>
              <a:t>AnnotationConfigWebApplicationContext</a:t>
            </a:r>
            <a:endParaRPr lang="en-US" sz="2400" dirty="0" smtClean="0"/>
          </a:p>
          <a:p>
            <a:pPr marL="457200" indent="-457200" algn="just" fontAlgn="base">
              <a:buFont typeface="+mj-lt"/>
              <a:buAutoNum type="arabicPeriod"/>
            </a:pPr>
            <a:r>
              <a:rPr lang="en-US" sz="2400" dirty="0" err="1" smtClean="0"/>
              <a:t>XmlWebApplicationContext</a:t>
            </a:r>
            <a:endParaRPr lang="en-US" sz="2400" dirty="0" smtClean="0"/>
          </a:p>
          <a:p>
            <a:pPr marL="457200" indent="-457200" algn="just" fontAlgn="base">
              <a:buFont typeface="+mj-lt"/>
              <a:buAutoNum type="arabicPeriod"/>
            </a:pPr>
            <a:r>
              <a:rPr lang="en-US" sz="2400" dirty="0" err="1" smtClean="0"/>
              <a:t>FileSystemXmlApplicationContext</a:t>
            </a:r>
            <a:endParaRPr lang="en-US" sz="2400" dirty="0" smtClean="0"/>
          </a:p>
          <a:p>
            <a:pPr marL="457200" indent="-457200" algn="just" fontAlgn="base">
              <a:buFont typeface="+mj-lt"/>
              <a:buAutoNum type="arabicPeriod"/>
            </a:pPr>
            <a:r>
              <a:rPr lang="en-US" sz="2400" dirty="0" err="1" smtClean="0"/>
              <a:t>ClassPathXmlApplicationContext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83250" y="1789925"/>
            <a:ext cx="8533200" cy="4524275"/>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Container 1: </a:t>
            </a:r>
            <a:r>
              <a:rPr lang="en-US" sz="2400" b="1" dirty="0" err="1" smtClean="0"/>
              <a:t>AnnotationConfigApplicationContext</a:t>
            </a:r>
            <a:endParaRPr lang="en-US" sz="2400" b="1" dirty="0" smtClean="0"/>
          </a:p>
          <a:p>
            <a:pPr algn="just"/>
            <a:r>
              <a:rPr lang="en-US" sz="2400" dirty="0" smtClean="0"/>
              <a:t/>
            </a:r>
            <a:br>
              <a:rPr lang="en-US" sz="2400" dirty="0" smtClean="0"/>
            </a:br>
            <a:r>
              <a:rPr lang="en-US" sz="2400" dirty="0" err="1" smtClean="0"/>
              <a:t>AnnotationConfigApplicationContext</a:t>
            </a:r>
            <a:r>
              <a:rPr lang="en-US" sz="2400" dirty="0" smtClean="0"/>
              <a:t> class was introduced in Spring 3.0. It accepts classes annotated with @Configuration, @Component</a:t>
            </a:r>
            <a:r>
              <a:rPr lang="en-US" sz="2400" b="1" dirty="0" smtClean="0"/>
              <a:t>,</a:t>
            </a:r>
            <a:r>
              <a:rPr lang="en-US" sz="2400" dirty="0" smtClean="0"/>
              <a:t> and JSR-330 compliant classes. The constructor of </a:t>
            </a:r>
            <a:r>
              <a:rPr lang="en-US" sz="2400" dirty="0" err="1" smtClean="0"/>
              <a:t>AnnotationConfigApplicationContext</a:t>
            </a:r>
            <a:r>
              <a:rPr lang="en-US" sz="2400" dirty="0" smtClean="0"/>
              <a:t> accepts one or more classes. </a:t>
            </a:r>
          </a:p>
          <a:p>
            <a:endParaRPr lang="en-US" sz="2400" dirty="0" smtClean="0"/>
          </a:p>
          <a:p>
            <a:r>
              <a:rPr lang="en-US" sz="2400" dirty="0" err="1" smtClean="0"/>
              <a:t>ApplicationContext</a:t>
            </a:r>
            <a:r>
              <a:rPr lang="en-US" sz="2400" dirty="0" smtClean="0"/>
              <a:t> context = new </a:t>
            </a:r>
            <a:r>
              <a:rPr lang="en-US" sz="2400" dirty="0" err="1" smtClean="0"/>
              <a:t>AnnotationConfigApplicationContext</a:t>
            </a:r>
            <a:r>
              <a:rPr lang="en-US" sz="2400" dirty="0" smtClean="0"/>
              <a:t>(</a:t>
            </a:r>
            <a:r>
              <a:rPr lang="en-US" sz="2400" dirty="0" err="1" smtClean="0"/>
              <a:t>AppConfig.class</a:t>
            </a:r>
            <a:r>
              <a:rPr lang="en-US" sz="2400" dirty="0" smtClean="0"/>
              <a:t>, AppConfig1.class);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83250" y="1789925"/>
            <a:ext cx="8533200" cy="3416279"/>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Container 2: </a:t>
            </a:r>
            <a:r>
              <a:rPr lang="en-US" sz="2400" b="1" dirty="0" err="1" smtClean="0"/>
              <a:t>AnnotationConfigWebApplicationContext</a:t>
            </a:r>
            <a:endParaRPr lang="en-US" sz="2400" b="1" dirty="0" smtClean="0"/>
          </a:p>
          <a:p>
            <a:pPr algn="just"/>
            <a:r>
              <a:rPr lang="en-US" sz="2400" dirty="0" smtClean="0"/>
              <a:t/>
            </a:r>
            <a:br>
              <a:rPr lang="en-US" sz="2400" dirty="0" smtClean="0"/>
            </a:br>
            <a:r>
              <a:rPr lang="en-US" sz="2400" dirty="0" err="1" smtClean="0"/>
              <a:t>AnnotationConfigWebApplicationContext</a:t>
            </a:r>
            <a:r>
              <a:rPr lang="en-US" sz="2400" dirty="0" smtClean="0"/>
              <a:t> class was introduced in Spring 3.0. It is similar to </a:t>
            </a:r>
            <a:r>
              <a:rPr lang="en-US" sz="2400" dirty="0" err="1" smtClean="0"/>
              <a:t>AnnotationConfigApplicationContext</a:t>
            </a:r>
            <a:r>
              <a:rPr lang="en-US" sz="2400" dirty="0" smtClean="0"/>
              <a:t> for a web environment. It accepts classes annotated with @Configuration, @Component, and JSR-330 compliant classes. These classes can be registered via </a:t>
            </a:r>
            <a:r>
              <a:rPr lang="en-US" sz="2400" b="1" i="1" dirty="0" smtClean="0"/>
              <a:t>register() method</a:t>
            </a:r>
            <a:r>
              <a:rPr lang="en-US" sz="2400" b="1" dirty="0" smtClean="0"/>
              <a:t> </a:t>
            </a:r>
            <a:r>
              <a:rPr lang="en-US" sz="2400" dirty="0" smtClean="0"/>
              <a:t>or passing base packages to </a:t>
            </a:r>
            <a:r>
              <a:rPr lang="en-US" sz="2400" b="1" i="1" dirty="0" smtClean="0"/>
              <a:t>scan() method</a:t>
            </a:r>
            <a:r>
              <a:rPr lang="en-US" sz="2400" dirty="0" smtClean="0"/>
              <a:t>. </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93524" y="1481700"/>
            <a:ext cx="8533200" cy="5262939"/>
          </a:xfrm>
          <a:prstGeom prst="rect">
            <a:avLst/>
          </a:prstGeom>
          <a:noFill/>
          <a:ln>
            <a:noFill/>
          </a:ln>
        </p:spPr>
        <p:txBody>
          <a:bodyPr spcFirstLastPara="1" wrap="square" lIns="91425" tIns="45700" rIns="91425" bIns="45700" anchor="t" anchorCtr="0">
            <a:spAutoFit/>
          </a:bodyPr>
          <a:lstStyle/>
          <a:p>
            <a:pPr fontAlgn="base"/>
            <a:r>
              <a:rPr lang="en-US" sz="2400" b="1" dirty="0" smtClean="0"/>
              <a:t>Container 2: </a:t>
            </a:r>
            <a:r>
              <a:rPr lang="en-US" sz="2400" b="1" dirty="0" err="1" smtClean="0"/>
              <a:t>AnnotationConfigWebApplicationContext</a:t>
            </a:r>
            <a:endParaRPr lang="en-US" sz="2400" b="1" dirty="0" smtClean="0"/>
          </a:p>
          <a:p>
            <a:pPr fontAlgn="base"/>
            <a:endParaRPr lang="en-US" sz="2400" dirty="0" smtClean="0"/>
          </a:p>
          <a:p>
            <a:pPr fontAlgn="base"/>
            <a:r>
              <a:rPr lang="en-US" sz="2400" dirty="0" smtClean="0"/>
              <a:t>// Implementing </a:t>
            </a:r>
            <a:r>
              <a:rPr lang="en-US" sz="2400" dirty="0" err="1" smtClean="0"/>
              <a:t>WebApplicationInitializer</a:t>
            </a:r>
            <a:r>
              <a:rPr lang="en-US" sz="2400" dirty="0" smtClean="0"/>
              <a:t> </a:t>
            </a:r>
          </a:p>
          <a:p>
            <a:pPr fontAlgn="base"/>
            <a:r>
              <a:rPr lang="en-US" sz="2400" dirty="0" smtClean="0"/>
              <a:t>public class </a:t>
            </a:r>
            <a:r>
              <a:rPr lang="en-US" sz="2400" dirty="0" err="1" smtClean="0"/>
              <a:t>MyWebApplicationInitializer</a:t>
            </a:r>
            <a:r>
              <a:rPr lang="en-US" sz="2400" dirty="0" smtClean="0"/>
              <a:t> implements </a:t>
            </a:r>
            <a:r>
              <a:rPr lang="en-US" sz="2400" dirty="0" err="1" smtClean="0"/>
              <a:t>WebApplicationInitializer</a:t>
            </a:r>
            <a:r>
              <a:rPr lang="en-US" sz="2400" dirty="0" smtClean="0"/>
              <a:t> { </a:t>
            </a:r>
          </a:p>
          <a:p>
            <a:pPr fontAlgn="base"/>
            <a:r>
              <a:rPr lang="en-US" sz="2400" dirty="0" smtClean="0"/>
              <a:t>// </a:t>
            </a:r>
            <a:r>
              <a:rPr lang="en-US" sz="2400" dirty="0" err="1" smtClean="0"/>
              <a:t>Servlet</a:t>
            </a:r>
            <a:r>
              <a:rPr lang="en-US" sz="2400" dirty="0" smtClean="0"/>
              <a:t> container</a:t>
            </a:r>
          </a:p>
          <a:p>
            <a:pPr fontAlgn="base"/>
            <a:r>
              <a:rPr lang="en-US" sz="2400" dirty="0" smtClean="0"/>
              <a:t> public void </a:t>
            </a:r>
            <a:r>
              <a:rPr lang="en-US" sz="2400" dirty="0" err="1" smtClean="0"/>
              <a:t>onStartup</a:t>
            </a:r>
            <a:r>
              <a:rPr lang="en-US" sz="2400" dirty="0" smtClean="0"/>
              <a:t>(</a:t>
            </a:r>
            <a:r>
              <a:rPr lang="en-US" sz="2400" dirty="0" err="1" smtClean="0"/>
              <a:t>ServletContext</a:t>
            </a:r>
            <a:r>
              <a:rPr lang="en-US" sz="2400" dirty="0" smtClean="0"/>
              <a:t> container) throws </a:t>
            </a:r>
            <a:r>
              <a:rPr lang="en-US" sz="2400" dirty="0" err="1" smtClean="0"/>
              <a:t>ServletException</a:t>
            </a:r>
            <a:r>
              <a:rPr lang="en-US" sz="2400" dirty="0" smtClean="0"/>
              <a:t> { </a:t>
            </a:r>
          </a:p>
          <a:p>
            <a:pPr fontAlgn="base"/>
            <a:r>
              <a:rPr lang="en-US" sz="2400" dirty="0" err="1" smtClean="0"/>
              <a:t>AnnotationConfigWebApplicationContext</a:t>
            </a:r>
            <a:r>
              <a:rPr lang="en-US" sz="2400" dirty="0" smtClean="0"/>
              <a:t> context = new </a:t>
            </a:r>
            <a:r>
              <a:rPr lang="en-US" sz="2400" dirty="0" err="1" smtClean="0"/>
              <a:t>AnnotationConfigWebApplicationContext</a:t>
            </a:r>
            <a:r>
              <a:rPr lang="en-US" sz="2400" dirty="0" smtClean="0"/>
              <a:t>(); </a:t>
            </a:r>
            <a:r>
              <a:rPr lang="en-US" sz="2400" dirty="0" err="1" smtClean="0"/>
              <a:t>context.register</a:t>
            </a:r>
            <a:r>
              <a:rPr lang="en-US" sz="2400" dirty="0" smtClean="0"/>
              <a:t>(</a:t>
            </a:r>
            <a:r>
              <a:rPr lang="en-US" sz="2400" dirty="0" err="1" smtClean="0"/>
              <a:t>AppConfig.class</a:t>
            </a:r>
            <a:r>
              <a:rPr lang="en-US" sz="2400" dirty="0" smtClean="0"/>
              <a:t>); </a:t>
            </a:r>
            <a:r>
              <a:rPr lang="en-US" sz="2400" dirty="0" err="1" smtClean="0"/>
              <a:t>context.setServletContext</a:t>
            </a:r>
            <a:r>
              <a:rPr lang="en-US" sz="2400" dirty="0" smtClean="0"/>
              <a:t>(container); </a:t>
            </a:r>
          </a:p>
          <a:p>
            <a:pPr fontAlgn="base"/>
            <a:r>
              <a:rPr lang="en-US" sz="2400" dirty="0" smtClean="0"/>
              <a:t>// </a:t>
            </a:r>
            <a:r>
              <a:rPr lang="en-US" sz="2400" dirty="0" err="1" smtClean="0"/>
              <a:t>Servlet</a:t>
            </a:r>
            <a:r>
              <a:rPr lang="en-US" sz="2400" dirty="0" smtClean="0"/>
              <a:t> configuration } }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93524" y="1481700"/>
            <a:ext cx="8533200" cy="6001603"/>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Container 3: </a:t>
            </a:r>
            <a:r>
              <a:rPr lang="en-US" sz="2400" b="1" dirty="0" err="1" smtClean="0"/>
              <a:t>XmlWebApplicationContext</a:t>
            </a:r>
            <a:endParaRPr lang="en-US" sz="2400" b="1" dirty="0" smtClean="0"/>
          </a:p>
          <a:p>
            <a:pPr algn="just" fontAlgn="base"/>
            <a:r>
              <a:rPr lang="en-US" sz="2400" dirty="0" smtClean="0"/>
              <a:t/>
            </a:r>
            <a:br>
              <a:rPr lang="en-US" sz="2400" dirty="0" smtClean="0"/>
            </a:br>
            <a:r>
              <a:rPr lang="en-US" sz="2400" dirty="0" smtClean="0"/>
              <a:t>Spring MVC Web-based application can be configured completely using XML or Java code. Configuring this container is similar to the </a:t>
            </a:r>
            <a:r>
              <a:rPr lang="en-US" sz="2400" dirty="0" err="1" smtClean="0"/>
              <a:t>AnnotationConfigWebApplicationContext</a:t>
            </a:r>
            <a:r>
              <a:rPr lang="en-US" sz="2400" dirty="0" smtClean="0"/>
              <a:t> container, which implies we can configure it in web.xml or using java code.</a:t>
            </a:r>
          </a:p>
          <a:p>
            <a:pPr fontAlgn="base"/>
            <a:endParaRPr lang="en-US" sz="2400" dirty="0" smtClean="0"/>
          </a:p>
          <a:p>
            <a:pPr fontAlgn="base"/>
            <a:r>
              <a:rPr lang="en-US" sz="2400" dirty="0" err="1" smtClean="0"/>
              <a:t>XmlWebApplicationContext</a:t>
            </a:r>
            <a:r>
              <a:rPr lang="en-US" sz="2400" dirty="0" smtClean="0"/>
              <a:t> context = new </a:t>
            </a:r>
            <a:r>
              <a:rPr lang="en-US" sz="2400" dirty="0" err="1" smtClean="0"/>
              <a:t>XmlWebApplicationContext</a:t>
            </a:r>
            <a:r>
              <a:rPr lang="en-US" sz="2400" dirty="0" smtClean="0"/>
              <a:t>(); </a:t>
            </a:r>
            <a:r>
              <a:rPr lang="en-US" sz="2400" dirty="0" err="1" smtClean="0"/>
              <a:t>context.setConfigLocation</a:t>
            </a:r>
            <a:r>
              <a:rPr lang="en-US" sz="2400" dirty="0" smtClean="0"/>
              <a:t>("/WEB-INF/spring/applicationContext.xml"); </a:t>
            </a:r>
            <a:r>
              <a:rPr lang="en-US" sz="2400" dirty="0" err="1" smtClean="0"/>
              <a:t>context.setServletContext</a:t>
            </a:r>
            <a:r>
              <a:rPr lang="en-US" sz="2400" dirty="0" smtClean="0"/>
              <a:t>(container); </a:t>
            </a:r>
            <a:br>
              <a:rPr lang="en-US" sz="2400" dirty="0" smtClean="0"/>
            </a:br>
            <a:endParaRPr lang="en-US" sz="2400" dirty="0" smtClean="0"/>
          </a:p>
          <a:p>
            <a:pPr algn="just"/>
            <a:r>
              <a:rPr lang="en-US" sz="2400" dirty="0" smtClean="0"/>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93524" y="1481700"/>
            <a:ext cx="8533200" cy="5262939"/>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Container 4: </a:t>
            </a:r>
            <a:r>
              <a:rPr lang="en-US" sz="2400" b="1" dirty="0" err="1" smtClean="0"/>
              <a:t>FileSystemXmlApplicationContext</a:t>
            </a:r>
            <a:endParaRPr lang="en-US" sz="2400" b="1" dirty="0" smtClean="0"/>
          </a:p>
          <a:p>
            <a:pPr algn="just" fontAlgn="base"/>
            <a:r>
              <a:rPr lang="en-US" sz="2400" dirty="0" smtClean="0"/>
              <a:t/>
            </a:r>
            <a:br>
              <a:rPr lang="en-US" sz="2400" dirty="0" smtClean="0"/>
            </a:br>
            <a:r>
              <a:rPr lang="en-US" sz="2400" dirty="0" err="1" smtClean="0"/>
              <a:t>FileSystemXmlApplicationContext</a:t>
            </a:r>
            <a:r>
              <a:rPr lang="en-US" sz="2400" dirty="0" smtClean="0"/>
              <a:t> is used to load XML-based Spring Configuration files from the file system or from URL. We can get the application context using Java code. It is useful for standalone environments and test harnesses. The following code shows how to create a container and use the XML as metadata information to load the beans.</a:t>
            </a:r>
          </a:p>
          <a:p>
            <a:pPr fontAlgn="base"/>
            <a:endParaRPr lang="en-US" sz="2400" dirty="0" smtClean="0"/>
          </a:p>
          <a:p>
            <a:pPr fontAlgn="base"/>
            <a:r>
              <a:rPr lang="en-US" sz="2400" dirty="0" err="1" smtClean="0"/>
              <a:t>ApplicationContext</a:t>
            </a:r>
            <a:r>
              <a:rPr lang="en-US" sz="2400" dirty="0" smtClean="0"/>
              <a:t> context = new </a:t>
            </a:r>
            <a:r>
              <a:rPr lang="en-US" sz="2400" dirty="0" err="1" smtClean="0"/>
              <a:t>FileSystemXmlApplicationContext</a:t>
            </a:r>
            <a:r>
              <a:rPr lang="en-US" sz="2400" dirty="0" smtClean="0"/>
              <a:t>(path); </a:t>
            </a:r>
            <a:br>
              <a:rPr lang="en-US" sz="2400" dirty="0" smtClean="0"/>
            </a:br>
            <a:endParaRPr lang="en-US" sz="2400" dirty="0" smtClean="0"/>
          </a:p>
          <a:p>
            <a:pPr algn="just"/>
            <a:r>
              <a:rPr lang="en-US" sz="2400" dirty="0" smtClean="0"/>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Application Context</a:t>
            </a:r>
          </a:p>
        </p:txBody>
      </p:sp>
      <p:sp>
        <p:nvSpPr>
          <p:cNvPr id="52" name="Google Shape;52;p3"/>
          <p:cNvSpPr/>
          <p:nvPr/>
        </p:nvSpPr>
        <p:spPr>
          <a:xfrm>
            <a:off x="393524" y="1481700"/>
            <a:ext cx="8533200" cy="4893607"/>
          </a:xfrm>
          <a:prstGeom prst="rect">
            <a:avLst/>
          </a:prstGeom>
          <a:noFill/>
          <a:ln>
            <a:noFill/>
          </a:ln>
        </p:spPr>
        <p:txBody>
          <a:bodyPr spcFirstLastPara="1" wrap="square" lIns="91425" tIns="45700" rIns="91425" bIns="45700" anchor="t" anchorCtr="0">
            <a:spAutoFit/>
          </a:bodyPr>
          <a:lstStyle/>
          <a:p>
            <a:pPr fontAlgn="base"/>
            <a:r>
              <a:rPr lang="en-US" sz="2400" b="1" dirty="0" smtClean="0"/>
              <a:t>Container 5: </a:t>
            </a:r>
            <a:r>
              <a:rPr lang="en-US" sz="2400" b="1" dirty="0" err="1" smtClean="0"/>
              <a:t>ClassPathXmlApplicationContext</a:t>
            </a:r>
            <a:endParaRPr lang="en-US" sz="2400" b="1" dirty="0" smtClean="0"/>
          </a:p>
          <a:p>
            <a:pPr algn="just" fontAlgn="base"/>
            <a:r>
              <a:rPr lang="en-US" sz="2400" dirty="0" smtClean="0"/>
              <a:t/>
            </a:r>
            <a:br>
              <a:rPr lang="en-US" sz="2400" dirty="0" smtClean="0"/>
            </a:br>
            <a:r>
              <a:rPr lang="en-US" sz="2400" dirty="0" err="1" smtClean="0"/>
              <a:t>FileSystemXmlApplicationContext</a:t>
            </a:r>
            <a:r>
              <a:rPr lang="en-US" sz="2400" dirty="0" smtClean="0"/>
              <a:t> is used to load XML-based Spring Configuration files from the </a:t>
            </a:r>
            <a:r>
              <a:rPr lang="en-US" sz="2400" dirty="0" err="1" smtClean="0"/>
              <a:t>classpath</a:t>
            </a:r>
            <a:r>
              <a:rPr lang="en-US" sz="2400" dirty="0" smtClean="0"/>
              <a:t>. We can get the application context using Java code. It is useful for standalone environments and test harnesses. The following code shows how to create a container and use the XML as metadata information to load the beans.</a:t>
            </a:r>
          </a:p>
          <a:p>
            <a:r>
              <a:rPr lang="en-US" sz="2400" dirty="0" smtClean="0"/>
              <a:t/>
            </a:r>
            <a:br>
              <a:rPr lang="en-US" sz="2400" dirty="0" smtClean="0"/>
            </a:br>
            <a:r>
              <a:rPr lang="fr-FR" sz="2400" dirty="0" err="1" smtClean="0"/>
              <a:t>ApplicationContext</a:t>
            </a:r>
            <a:r>
              <a:rPr lang="fr-FR" sz="2400" dirty="0" smtClean="0"/>
              <a:t> </a:t>
            </a:r>
            <a:r>
              <a:rPr lang="fr-FR" sz="2400" dirty="0" err="1" smtClean="0"/>
              <a:t>context</a:t>
            </a:r>
            <a:r>
              <a:rPr lang="fr-FR" sz="2400" dirty="0" smtClean="0"/>
              <a:t> = new </a:t>
            </a:r>
            <a:r>
              <a:rPr lang="fr-FR" sz="2400" dirty="0" err="1" smtClean="0"/>
              <a:t>ClassPathXmlApplicationContext</a:t>
            </a:r>
            <a:r>
              <a:rPr lang="fr-FR" sz="2400" dirty="0" smtClean="0"/>
              <a:t>("</a:t>
            </a:r>
            <a:r>
              <a:rPr lang="fr-FR" sz="2400" dirty="0" err="1" smtClean="0"/>
              <a:t>applicationcontext</a:t>
            </a:r>
            <a:r>
              <a:rPr lang="fr-FR" sz="2400" dirty="0" smtClean="0"/>
              <a:t>/student-bean-config.xml"); </a:t>
            </a:r>
            <a:br>
              <a:rPr lang="fr-FR"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1200288"/>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 Annotation Based Configuration</a:t>
            </a:r>
          </a:p>
          <a:p>
            <a:pPr lvl="0">
              <a:buSzPts val="2400"/>
            </a:pPr>
            <a:r>
              <a:rPr lang="en-US" sz="2400" b="1" dirty="0" smtClean="0">
                <a:solidFill>
                  <a:schemeClr val="dk2"/>
                </a:solidFill>
                <a:latin typeface="Calibri"/>
                <a:cs typeface="Calibri"/>
                <a:sym typeface="Calibri"/>
              </a:rPr>
              <a:t/>
            </a:r>
            <a:br>
              <a:rPr lang="en-US" sz="2400" b="1" dirty="0" smtClean="0">
                <a:solidFill>
                  <a:schemeClr val="dk2"/>
                </a:solidFill>
                <a:latin typeface="Calibri"/>
                <a:cs typeface="Calibri"/>
                <a:sym typeface="Calibri"/>
              </a:rPr>
            </a:br>
            <a:endParaRPr lang="en-US" sz="2400" b="1" dirty="0" smtClean="0">
              <a:solidFill>
                <a:schemeClr val="dk2"/>
              </a:solidFill>
              <a:latin typeface="Calibri"/>
              <a:cs typeface="Calibri"/>
              <a:sym typeface="Calibri"/>
            </a:endParaRPr>
          </a:p>
        </p:txBody>
      </p:sp>
      <p:sp>
        <p:nvSpPr>
          <p:cNvPr id="52" name="Google Shape;52;p3"/>
          <p:cNvSpPr/>
          <p:nvPr/>
        </p:nvSpPr>
        <p:spPr>
          <a:xfrm>
            <a:off x="393524" y="1481700"/>
            <a:ext cx="8533200" cy="4154943"/>
          </a:xfrm>
          <a:prstGeom prst="rect">
            <a:avLst/>
          </a:prstGeom>
          <a:noFill/>
          <a:ln>
            <a:noFill/>
          </a:ln>
        </p:spPr>
        <p:txBody>
          <a:bodyPr spcFirstLastPara="1" wrap="square" lIns="91425" tIns="45700" rIns="91425" bIns="45700" anchor="t" anchorCtr="0">
            <a:spAutoFit/>
          </a:bodyPr>
          <a:lstStyle/>
          <a:p>
            <a:pPr algn="just"/>
            <a:endParaRPr lang="en-US" sz="2400" dirty="0" smtClean="0"/>
          </a:p>
          <a:p>
            <a:pPr algn="just"/>
            <a:r>
              <a:rPr lang="en-US" sz="2400" dirty="0" smtClean="0"/>
              <a:t>Starting from Spring 2.5 it became possible to configure the dependency injection using </a:t>
            </a:r>
            <a:r>
              <a:rPr lang="en-US" sz="2400" b="1" dirty="0" smtClean="0"/>
              <a:t>annotations</a:t>
            </a:r>
            <a:r>
              <a:rPr lang="en-US" sz="2400" dirty="0" smtClean="0"/>
              <a:t>. So instead of using XML to describe a bean wiring, you can move the bean configuration into the component class itself by using annotations on the relevant class, method, or field declaration.</a:t>
            </a:r>
          </a:p>
          <a:p>
            <a:pPr algn="just"/>
            <a:endParaRPr lang="en-US" sz="2400" dirty="0" smtClean="0"/>
          </a:p>
          <a:p>
            <a:pPr algn="just"/>
            <a:r>
              <a:rPr lang="en-US" sz="2400" dirty="0" smtClean="0"/>
              <a:t>Annotation injection is performed before XML injection. Thus, the latter configuration will override the former for properties wired through both approaches.</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1200288"/>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 Annotation Based Configuration</a:t>
            </a:r>
          </a:p>
          <a:p>
            <a:pPr lvl="0">
              <a:buSzPts val="2400"/>
            </a:pPr>
            <a:r>
              <a:rPr lang="en-US" sz="2400" b="1" dirty="0" smtClean="0">
                <a:solidFill>
                  <a:schemeClr val="dk2"/>
                </a:solidFill>
                <a:latin typeface="Calibri"/>
                <a:cs typeface="Calibri"/>
                <a:sym typeface="Calibri"/>
              </a:rPr>
              <a:t/>
            </a:r>
            <a:br>
              <a:rPr lang="en-US" sz="2400" b="1" dirty="0" smtClean="0">
                <a:solidFill>
                  <a:schemeClr val="dk2"/>
                </a:solidFill>
                <a:latin typeface="Calibri"/>
                <a:cs typeface="Calibri"/>
                <a:sym typeface="Calibri"/>
              </a:rPr>
            </a:br>
            <a:endParaRPr lang="en-US" sz="2400" b="1" dirty="0" smtClean="0">
              <a:solidFill>
                <a:schemeClr val="dk2"/>
              </a:solidFill>
              <a:latin typeface="Calibri"/>
              <a:cs typeface="Calibri"/>
              <a:sym typeface="Calibri"/>
            </a:endParaRPr>
          </a:p>
        </p:txBody>
      </p:sp>
      <p:sp>
        <p:nvSpPr>
          <p:cNvPr id="52" name="Google Shape;52;p3"/>
          <p:cNvSpPr/>
          <p:nvPr/>
        </p:nvSpPr>
        <p:spPr>
          <a:xfrm>
            <a:off x="393524" y="1481700"/>
            <a:ext cx="8533200" cy="4524275"/>
          </a:xfrm>
          <a:prstGeom prst="rect">
            <a:avLst/>
          </a:prstGeom>
          <a:noFill/>
          <a:ln>
            <a:noFill/>
          </a:ln>
        </p:spPr>
        <p:txBody>
          <a:bodyPr spcFirstLastPara="1" wrap="square" lIns="91425" tIns="45700" rIns="91425" bIns="45700" anchor="t" anchorCtr="0">
            <a:spAutoFit/>
          </a:bodyPr>
          <a:lstStyle/>
          <a:p>
            <a:pPr algn="just"/>
            <a:endParaRPr lang="en-US" sz="2400" dirty="0" smtClean="0"/>
          </a:p>
          <a:p>
            <a:pPr algn="just"/>
            <a:r>
              <a:rPr lang="en-US" sz="2400" dirty="0" smtClean="0"/>
              <a:t>Annotation wiring is not turned on in the Spring container by default. So, before we can use annotation-based wiring, we will need to enable it in our Spring configuration file. So consider the following configuration file in case you want to use any annotation in your Spring application.</a:t>
            </a:r>
          </a:p>
          <a:p>
            <a:pPr algn="just"/>
            <a:endParaRPr lang="en-US" sz="2400" dirty="0" smtClean="0"/>
          </a:p>
          <a:p>
            <a:pPr algn="just"/>
            <a:r>
              <a:rPr lang="en-US" sz="2400" dirty="0" smtClean="0"/>
              <a:t>&lt;beans…&gt;</a:t>
            </a:r>
          </a:p>
          <a:p>
            <a:pPr algn="just"/>
            <a:r>
              <a:rPr lang="en-US" sz="2400" dirty="0" smtClean="0"/>
              <a:t>	&lt;</a:t>
            </a:r>
            <a:r>
              <a:rPr lang="en-US" sz="2400" dirty="0" err="1" smtClean="0"/>
              <a:t>context:annotation-config</a:t>
            </a:r>
            <a:r>
              <a:rPr lang="en-US" sz="2400" dirty="0" smtClean="0"/>
              <a:t>/&gt; </a:t>
            </a:r>
          </a:p>
          <a:p>
            <a:pPr algn="just"/>
            <a:r>
              <a:rPr lang="en-US" sz="2400" dirty="0" smtClean="0"/>
              <a:t>	&lt;!-- bean definitions go here --&gt;</a:t>
            </a:r>
          </a:p>
          <a:p>
            <a:pPr algn="just"/>
            <a:r>
              <a:rPr lang="en-US" sz="2400" dirty="0" smtClean="0"/>
              <a:t>&lt;/beans&gt;</a:t>
            </a:r>
          </a:p>
          <a:p>
            <a:pPr algn="just"/>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1200288"/>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 Annotation Based Configuration</a:t>
            </a:r>
          </a:p>
          <a:p>
            <a:pPr lvl="0">
              <a:buSzPts val="2400"/>
            </a:pPr>
            <a:r>
              <a:rPr lang="en-US" sz="2400" b="1" dirty="0" smtClean="0">
                <a:solidFill>
                  <a:schemeClr val="dk2"/>
                </a:solidFill>
                <a:latin typeface="Calibri"/>
                <a:cs typeface="Calibri"/>
                <a:sym typeface="Calibri"/>
              </a:rPr>
              <a:t/>
            </a:r>
            <a:br>
              <a:rPr lang="en-US" sz="2400" b="1" dirty="0" smtClean="0">
                <a:solidFill>
                  <a:schemeClr val="dk2"/>
                </a:solidFill>
                <a:latin typeface="Calibri"/>
                <a:cs typeface="Calibri"/>
                <a:sym typeface="Calibri"/>
              </a:rPr>
            </a:br>
            <a:endParaRPr lang="en-US" sz="2400" b="1" dirty="0" smtClean="0">
              <a:solidFill>
                <a:schemeClr val="dk2"/>
              </a:solidFill>
              <a:latin typeface="Calibri"/>
              <a:cs typeface="Calibri"/>
              <a:sym typeface="Calibri"/>
            </a:endParaRPr>
          </a:p>
        </p:txBody>
      </p:sp>
      <p:sp>
        <p:nvSpPr>
          <p:cNvPr id="52" name="Google Shape;52;p3"/>
          <p:cNvSpPr/>
          <p:nvPr/>
        </p:nvSpPr>
        <p:spPr>
          <a:xfrm>
            <a:off x="393524" y="1481700"/>
            <a:ext cx="8533200" cy="2308284"/>
          </a:xfrm>
          <a:prstGeom prst="rect">
            <a:avLst/>
          </a:prstGeom>
          <a:noFill/>
          <a:ln>
            <a:noFill/>
          </a:ln>
        </p:spPr>
        <p:txBody>
          <a:bodyPr spcFirstLastPara="1" wrap="square" lIns="91425" tIns="45700" rIns="91425" bIns="45700" anchor="t" anchorCtr="0">
            <a:spAutoFit/>
          </a:bodyPr>
          <a:lstStyle/>
          <a:p>
            <a:pPr algn="just"/>
            <a:endParaRPr lang="en-US" sz="2400" dirty="0" smtClean="0"/>
          </a:p>
          <a:p>
            <a:pPr algn="just"/>
            <a:r>
              <a:rPr lang="en-US" sz="2400" dirty="0" smtClean="0"/>
              <a:t>Once &lt;</a:t>
            </a:r>
            <a:r>
              <a:rPr lang="en-US" sz="2400" dirty="0" err="1" smtClean="0"/>
              <a:t>context:annotation-config</a:t>
            </a:r>
            <a:r>
              <a:rPr lang="en-US" sz="2400" dirty="0" smtClean="0"/>
              <a:t>/&gt; is configured, you can start annotating your code to indicate that Spring should automatically wire values into properties, methods, and constructors.</a:t>
            </a:r>
          </a:p>
          <a:p>
            <a:pPr algn="just"/>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1200288"/>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 Annotation Based Configuration</a:t>
            </a:r>
          </a:p>
          <a:p>
            <a:pPr lvl="0">
              <a:buSzPts val="2400"/>
            </a:pPr>
            <a:r>
              <a:rPr lang="en-US" sz="2400" b="1" dirty="0" smtClean="0">
                <a:solidFill>
                  <a:schemeClr val="dk2"/>
                </a:solidFill>
                <a:latin typeface="Calibri"/>
                <a:cs typeface="Calibri"/>
                <a:sym typeface="Calibri"/>
              </a:rPr>
              <a:t/>
            </a:r>
            <a:br>
              <a:rPr lang="en-US" sz="2400" b="1" dirty="0" smtClean="0">
                <a:solidFill>
                  <a:schemeClr val="dk2"/>
                </a:solidFill>
                <a:latin typeface="Calibri"/>
                <a:cs typeface="Calibri"/>
                <a:sym typeface="Calibri"/>
              </a:rPr>
            </a:br>
            <a:endParaRPr lang="en-US" sz="2400" b="1" dirty="0" smtClean="0">
              <a:solidFill>
                <a:schemeClr val="dk2"/>
              </a:solidFill>
              <a:latin typeface="Calibri"/>
              <a:cs typeface="Calibri"/>
              <a:sym typeface="Calibri"/>
            </a:endParaRPr>
          </a:p>
        </p:txBody>
      </p:sp>
      <p:sp>
        <p:nvSpPr>
          <p:cNvPr id="52" name="Google Shape;52;p3"/>
          <p:cNvSpPr/>
          <p:nvPr/>
        </p:nvSpPr>
        <p:spPr>
          <a:xfrm>
            <a:off x="393524" y="1481700"/>
            <a:ext cx="8533200" cy="461624"/>
          </a:xfrm>
          <a:prstGeom prst="rect">
            <a:avLst/>
          </a:prstGeom>
          <a:noFill/>
          <a:ln>
            <a:noFill/>
          </a:ln>
        </p:spPr>
        <p:txBody>
          <a:bodyPr spcFirstLastPara="1" wrap="square" lIns="91425" tIns="45700" rIns="91425" bIns="45700" anchor="t" anchorCtr="0">
            <a:spAutoFit/>
          </a:bodyPr>
          <a:lstStyle/>
          <a:p>
            <a:pPr algn="just"/>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5" name="Table 4"/>
          <p:cNvGraphicFramePr>
            <a:graphicFrameLocks noGrp="1"/>
          </p:cNvGraphicFramePr>
          <p:nvPr/>
        </p:nvGraphicFramePr>
        <p:xfrm>
          <a:off x="297950" y="1594984"/>
          <a:ext cx="8640565" cy="4175793"/>
        </p:xfrm>
        <a:graphic>
          <a:graphicData uri="http://schemas.openxmlformats.org/drawingml/2006/table">
            <a:tbl>
              <a:tblPr/>
              <a:tblGrid>
                <a:gridCol w="760288"/>
                <a:gridCol w="7880277"/>
              </a:tblGrid>
              <a:tr h="0">
                <a:tc>
                  <a:txBody>
                    <a:bodyPr/>
                    <a:lstStyle/>
                    <a:p>
                      <a:pPr algn="ctr"/>
                      <a:r>
                        <a:rPr lang="en-US" sz="2000" b="1" dirty="0" err="1" smtClean="0">
                          <a:solidFill>
                            <a:srgbClr val="000000"/>
                          </a:solidFill>
                          <a:latin typeface="+mn-lt"/>
                        </a:rPr>
                        <a:t>Sr.No</a:t>
                      </a:r>
                      <a:endParaRPr lang="en-US" sz="2000" b="1" dirty="0">
                        <a:solidFill>
                          <a:srgbClr val="000000"/>
                        </a:solidFill>
                        <a:latin typeface="+mn-lt"/>
                      </a:endParaRP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r>
                        <a:rPr lang="en-US" sz="2000" b="1" dirty="0">
                          <a:solidFill>
                            <a:srgbClr val="000000"/>
                          </a:solidFill>
                          <a:latin typeface="+mn-lt"/>
                        </a:rPr>
                        <a:t>Annotation &amp; Description</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r>
              <a:tr h="598771">
                <a:tc>
                  <a:txBody>
                    <a:bodyPr/>
                    <a:lstStyle/>
                    <a:p>
                      <a:pPr algn="ctr"/>
                      <a:r>
                        <a:rPr lang="en-US" sz="2000" dirty="0">
                          <a:latin typeface="+mn-lt"/>
                        </a:rPr>
                        <a:t>1</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just"/>
                      <a:r>
                        <a:rPr lang="en-US" sz="2000" b="1" u="none" strike="noStrike" dirty="0">
                          <a:solidFill>
                            <a:srgbClr val="008000"/>
                          </a:solidFill>
                          <a:latin typeface="+mn-lt"/>
                          <a:hlinkClick r:id="rId3"/>
                        </a:rPr>
                        <a:t>@</a:t>
                      </a:r>
                      <a:r>
                        <a:rPr lang="en-US" sz="2000" b="1" u="none" strike="noStrike" dirty="0" smtClean="0">
                          <a:solidFill>
                            <a:srgbClr val="008000"/>
                          </a:solidFill>
                          <a:latin typeface="+mn-lt"/>
                          <a:hlinkClick r:id="rId3"/>
                        </a:rPr>
                        <a:t>Required</a:t>
                      </a:r>
                      <a:endParaRPr lang="en-US" sz="2000" b="1" u="none" strike="noStrike" dirty="0" smtClean="0">
                        <a:solidFill>
                          <a:srgbClr val="008000"/>
                        </a:solidFill>
                        <a:latin typeface="+mn-lt"/>
                      </a:endParaRPr>
                    </a:p>
                    <a:p>
                      <a:pPr algn="just"/>
                      <a:r>
                        <a:rPr lang="en-US" sz="2000" dirty="0" smtClean="0">
                          <a:latin typeface="+mn-lt"/>
                        </a:rPr>
                        <a:t>The </a:t>
                      </a:r>
                      <a:r>
                        <a:rPr lang="en-US" sz="2000" dirty="0">
                          <a:latin typeface="+mn-lt"/>
                        </a:rPr>
                        <a:t>@Required annotation applies to bean property setter methods.</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r>
              <a:tr h="1000075">
                <a:tc>
                  <a:txBody>
                    <a:bodyPr/>
                    <a:lstStyle/>
                    <a:p>
                      <a:pPr algn="ctr"/>
                      <a:r>
                        <a:rPr lang="en-US" sz="2000" dirty="0">
                          <a:latin typeface="+mn-lt"/>
                        </a:rPr>
                        <a:t>2</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just"/>
                      <a:r>
                        <a:rPr lang="en-US" sz="2000" b="1" u="none" strike="noStrike" dirty="0">
                          <a:solidFill>
                            <a:srgbClr val="008000"/>
                          </a:solidFill>
                          <a:latin typeface="+mn-lt"/>
                          <a:hlinkClick r:id="rId4"/>
                        </a:rPr>
                        <a:t>@</a:t>
                      </a:r>
                      <a:r>
                        <a:rPr lang="en-US" sz="2000" b="1" u="none" strike="noStrike" dirty="0" err="1" smtClean="0">
                          <a:solidFill>
                            <a:srgbClr val="008000"/>
                          </a:solidFill>
                          <a:latin typeface="+mn-lt"/>
                          <a:hlinkClick r:id="rId4"/>
                        </a:rPr>
                        <a:t>Autowired</a:t>
                      </a:r>
                      <a:endParaRPr lang="en-US" sz="2000" b="1" u="none" strike="noStrike" dirty="0" smtClean="0">
                        <a:solidFill>
                          <a:srgbClr val="008000"/>
                        </a:solidFill>
                        <a:latin typeface="+mn-lt"/>
                      </a:endParaRPr>
                    </a:p>
                    <a:p>
                      <a:pPr algn="just"/>
                      <a:r>
                        <a:rPr lang="en-US" sz="2000" dirty="0" smtClean="0">
                          <a:latin typeface="+mn-lt"/>
                        </a:rPr>
                        <a:t>The </a:t>
                      </a:r>
                      <a:r>
                        <a:rPr lang="en-US" sz="2000" dirty="0">
                          <a:latin typeface="+mn-lt"/>
                        </a:rPr>
                        <a:t>@</a:t>
                      </a:r>
                      <a:r>
                        <a:rPr lang="en-US" sz="2000" dirty="0" err="1">
                          <a:latin typeface="+mn-lt"/>
                        </a:rPr>
                        <a:t>Autowired</a:t>
                      </a:r>
                      <a:r>
                        <a:rPr lang="en-US" sz="2000" dirty="0">
                          <a:latin typeface="+mn-lt"/>
                        </a:rPr>
                        <a:t> annotation can apply to bean property setter methods, non-setter methods, constructor and properties.</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r>
              <a:tr h="1000075">
                <a:tc>
                  <a:txBody>
                    <a:bodyPr/>
                    <a:lstStyle/>
                    <a:p>
                      <a:pPr algn="ctr"/>
                      <a:r>
                        <a:rPr lang="en-US" sz="2000" dirty="0">
                          <a:latin typeface="+mn-lt"/>
                        </a:rPr>
                        <a:t>3</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just"/>
                      <a:r>
                        <a:rPr lang="en-US" sz="2000" b="1" u="none" strike="noStrike" dirty="0">
                          <a:solidFill>
                            <a:srgbClr val="008000"/>
                          </a:solidFill>
                          <a:latin typeface="+mn-lt"/>
                          <a:hlinkClick r:id="rId5"/>
                        </a:rPr>
                        <a:t>@</a:t>
                      </a:r>
                      <a:r>
                        <a:rPr lang="en-US" sz="2000" b="1" u="none" strike="noStrike" dirty="0" smtClean="0">
                          <a:solidFill>
                            <a:srgbClr val="008000"/>
                          </a:solidFill>
                          <a:latin typeface="+mn-lt"/>
                          <a:hlinkClick r:id="rId5"/>
                        </a:rPr>
                        <a:t>Qualifier</a:t>
                      </a:r>
                      <a:endParaRPr lang="en-US" sz="2000" b="1" u="none" strike="noStrike" dirty="0" smtClean="0">
                        <a:solidFill>
                          <a:srgbClr val="008000"/>
                        </a:solidFill>
                        <a:latin typeface="+mn-lt"/>
                      </a:endParaRPr>
                    </a:p>
                    <a:p>
                      <a:pPr algn="just"/>
                      <a:r>
                        <a:rPr lang="en-US" sz="2000" dirty="0" smtClean="0">
                          <a:latin typeface="+mn-lt"/>
                        </a:rPr>
                        <a:t>The </a:t>
                      </a:r>
                      <a:r>
                        <a:rPr lang="en-US" sz="2000" dirty="0">
                          <a:latin typeface="+mn-lt"/>
                        </a:rPr>
                        <a:t>@Qualifier annotation along with @</a:t>
                      </a:r>
                      <a:r>
                        <a:rPr lang="en-US" sz="2000" dirty="0" err="1">
                          <a:latin typeface="+mn-lt"/>
                        </a:rPr>
                        <a:t>Autowired</a:t>
                      </a:r>
                      <a:r>
                        <a:rPr lang="en-US" sz="2000" dirty="0">
                          <a:latin typeface="+mn-lt"/>
                        </a:rPr>
                        <a:t> can be used to remove the confusion by </a:t>
                      </a:r>
                      <a:r>
                        <a:rPr lang="en-US" sz="2000" dirty="0" err="1">
                          <a:latin typeface="+mn-lt"/>
                        </a:rPr>
                        <a:t>specifiying</a:t>
                      </a:r>
                      <a:r>
                        <a:rPr lang="en-US" sz="2000" dirty="0">
                          <a:latin typeface="+mn-lt"/>
                        </a:rPr>
                        <a:t> which exact bean will be wired.</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r>
              <a:tr h="1133843">
                <a:tc>
                  <a:txBody>
                    <a:bodyPr/>
                    <a:lstStyle/>
                    <a:p>
                      <a:pPr algn="ctr"/>
                      <a:r>
                        <a:rPr lang="en-US" sz="2000" dirty="0">
                          <a:latin typeface="+mn-lt"/>
                        </a:rPr>
                        <a:t>4</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just"/>
                      <a:r>
                        <a:rPr lang="en-US" sz="2000" b="1" u="none" strike="noStrike" dirty="0">
                          <a:solidFill>
                            <a:srgbClr val="008000"/>
                          </a:solidFill>
                          <a:latin typeface="+mn-lt"/>
                          <a:hlinkClick r:id="rId6"/>
                        </a:rPr>
                        <a:t>JSR-250 </a:t>
                      </a:r>
                      <a:r>
                        <a:rPr lang="en-US" sz="2000" b="1" u="none" strike="noStrike" dirty="0" smtClean="0">
                          <a:solidFill>
                            <a:srgbClr val="008000"/>
                          </a:solidFill>
                          <a:latin typeface="+mn-lt"/>
                          <a:hlinkClick r:id="rId6"/>
                        </a:rPr>
                        <a:t>Annotations</a:t>
                      </a:r>
                      <a:endParaRPr lang="en-US" sz="2000" b="1" u="none" strike="noStrike" dirty="0" smtClean="0">
                        <a:solidFill>
                          <a:srgbClr val="008000"/>
                        </a:solidFill>
                        <a:latin typeface="+mn-lt"/>
                      </a:endParaRPr>
                    </a:p>
                    <a:p>
                      <a:pPr algn="just"/>
                      <a:r>
                        <a:rPr lang="en-US" sz="2000" dirty="0" smtClean="0">
                          <a:latin typeface="+mn-lt"/>
                        </a:rPr>
                        <a:t>Spring </a:t>
                      </a:r>
                      <a:r>
                        <a:rPr lang="en-US" sz="2000" dirty="0">
                          <a:latin typeface="+mn-lt"/>
                        </a:rPr>
                        <a:t>supports JSR-250 based annotations which include @Resource, @</a:t>
                      </a:r>
                      <a:r>
                        <a:rPr lang="en-US" sz="2000" dirty="0" err="1">
                          <a:latin typeface="+mn-lt"/>
                        </a:rPr>
                        <a:t>PostConstruct</a:t>
                      </a:r>
                      <a:r>
                        <a:rPr lang="en-US" sz="2000" dirty="0">
                          <a:latin typeface="+mn-lt"/>
                        </a:rPr>
                        <a:t> and @</a:t>
                      </a:r>
                      <a:r>
                        <a:rPr lang="en-US" sz="2000" dirty="0" err="1">
                          <a:latin typeface="+mn-lt"/>
                        </a:rPr>
                        <a:t>PreDestroy</a:t>
                      </a:r>
                      <a:r>
                        <a:rPr lang="en-US" sz="2000" dirty="0">
                          <a:latin typeface="+mn-lt"/>
                        </a:rPr>
                        <a:t> annotations.</a:t>
                      </a:r>
                    </a:p>
                  </a:txBody>
                  <a:tcPr marL="31850" marR="31850" marT="31850" marB="3185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66025"/>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457200" indent="-304800">
              <a:lnSpc>
                <a:spcPct val="150000"/>
              </a:lnSpc>
              <a:buClr>
                <a:schemeClr val="dk1"/>
              </a:buClr>
              <a:buSzPts val="1200"/>
              <a:buFont typeface="Arial"/>
              <a:buAutoNum type="arabicPeriod"/>
            </a:pPr>
            <a:r>
              <a:rPr lang="en-US" sz="1200" b="1" dirty="0" smtClean="0">
                <a:solidFill>
                  <a:srgbClr val="FF0000"/>
                </a:solidFill>
              </a:rPr>
              <a:t>Book Reference</a:t>
            </a:r>
            <a:br>
              <a:rPr lang="en-US" sz="1200" b="1" dirty="0" smtClean="0">
                <a:solidFill>
                  <a:srgbClr val="FF0000"/>
                </a:solidFill>
              </a:rPr>
            </a:br>
            <a:r>
              <a:rPr lang="en-US" sz="1200" dirty="0" smtClean="0">
                <a:solidFill>
                  <a:srgbClr val="FF0000"/>
                </a:solidFill>
              </a:rPr>
              <a:t>Jim Farley, William Crawford, David Flanagan. Java Enterprise in a Nutshell, O'Reilly</a:t>
            </a:r>
          </a:p>
          <a:p>
            <a:pPr marL="457200" lvl="0" indent="-304800">
              <a:lnSpc>
                <a:spcPct val="150000"/>
              </a:lnSpc>
              <a:buClr>
                <a:schemeClr val="dk1"/>
              </a:buClr>
              <a:buSzPts val="1200"/>
              <a:buFont typeface="Arial"/>
              <a:buAutoNum type="arabicPeriod"/>
            </a:pPr>
            <a:r>
              <a:rPr lang="en-US" sz="1200" b="1" dirty="0" smtClean="0">
                <a:solidFill>
                  <a:srgbClr val="FF0000"/>
                </a:solidFill>
              </a:rPr>
              <a:t>Book Reference</a:t>
            </a:r>
          </a:p>
          <a:p>
            <a:pPr marL="457200" lvl="0">
              <a:lnSpc>
                <a:spcPct val="150000"/>
              </a:lnSpc>
              <a:buSzPts val="1200"/>
            </a:pPr>
            <a:r>
              <a:rPr lang="en-US" sz="1200" dirty="0" smtClean="0">
                <a:solidFill>
                  <a:srgbClr val="FF0000"/>
                </a:solidFill>
              </a:rPr>
              <a:t>Rocha, R., </a:t>
            </a:r>
            <a:r>
              <a:rPr lang="en-US" sz="1200" dirty="0" err="1" smtClean="0">
                <a:solidFill>
                  <a:srgbClr val="FF0000"/>
                </a:solidFill>
              </a:rPr>
              <a:t>Purificação</a:t>
            </a:r>
            <a:r>
              <a:rPr lang="en-US" sz="1200" dirty="0" smtClean="0">
                <a:solidFill>
                  <a:srgbClr val="FF0000"/>
                </a:solidFill>
              </a:rPr>
              <a:t>, J. (2018). Java EE 8 Design Patterns and Best Practices: Build Enterprise-ready Scalable Applications with Architectural Design Patterns. Germany: </a:t>
            </a:r>
            <a:r>
              <a:rPr lang="en-US" sz="1200" dirty="0" err="1" smtClean="0">
                <a:solidFill>
                  <a:srgbClr val="FF0000"/>
                </a:solidFill>
              </a:rPr>
              <a:t>Packt</a:t>
            </a:r>
            <a:r>
              <a:rPr lang="en-US" sz="1200" dirty="0" smtClean="0">
                <a:solidFill>
                  <a:srgbClr val="FF0000"/>
                </a:solidFill>
              </a:rPr>
              <a:t> Publishing..</a:t>
            </a:r>
            <a:endParaRPr lang="en-US" sz="1200" b="1" dirty="0" smtClean="0">
              <a:solidFill>
                <a:srgbClr val="FF0000"/>
              </a:solidFill>
            </a:endParaRPr>
          </a:p>
          <a:p>
            <a:pPr marL="457200" lvl="0" indent="-304800">
              <a:lnSpc>
                <a:spcPct val="150000"/>
              </a:lnSpc>
              <a:buClr>
                <a:schemeClr val="dk1"/>
              </a:buClr>
              <a:buSzPts val="1200"/>
              <a:buFont typeface="+mj-lt"/>
              <a:buAutoNum type="arabicPeriod" startAt="3"/>
            </a:pPr>
            <a:r>
              <a:rPr lang="en-US" sz="1200" b="1" dirty="0" smtClean="0">
                <a:solidFill>
                  <a:srgbClr val="FF0000"/>
                </a:solidFill>
              </a:rPr>
              <a:t>Website Reference</a:t>
            </a:r>
          </a:p>
          <a:p>
            <a:pPr marL="457200" lvl="0">
              <a:lnSpc>
                <a:spcPct val="150000"/>
              </a:lnSpc>
              <a:buSzPts val="1200"/>
            </a:pPr>
            <a:r>
              <a:rPr lang="en-US" sz="1200" dirty="0" smtClean="0">
                <a:solidFill>
                  <a:srgbClr val="FF0000"/>
                </a:solidFill>
              </a:rPr>
              <a:t>https://www.scribd.com/document/268349254/Java-8-Programming-Black-Book .</a:t>
            </a:r>
          </a:p>
          <a:p>
            <a:pPr marL="457200" lvl="0" indent="-304800">
              <a:lnSpc>
                <a:spcPct val="150000"/>
              </a:lnSpc>
              <a:buClr>
                <a:schemeClr val="dk1"/>
              </a:buClr>
              <a:buSzPts val="1200"/>
              <a:buFont typeface="Arial"/>
              <a:buAutoNum type="arabicPeriod" startAt="4"/>
            </a:pPr>
            <a:r>
              <a:rPr lang="en-US" sz="1200" b="1" dirty="0" smtClean="0">
                <a:solidFill>
                  <a:srgbClr val="FF0000"/>
                </a:solidFill>
              </a:rPr>
              <a:t>Sources</a:t>
            </a:r>
          </a:p>
          <a:p>
            <a:pPr marL="452438" lvl="2">
              <a:lnSpc>
                <a:spcPct val="150000"/>
              </a:lnSpc>
              <a:buClr>
                <a:schemeClr val="dk1"/>
              </a:buClr>
              <a:buSzPts val="1200"/>
            </a:pPr>
            <a:r>
              <a:rPr lang="en-US" sz="1200" dirty="0" smtClean="0">
                <a:solidFill>
                  <a:srgbClr val="FF0000"/>
                </a:solidFill>
              </a:rPr>
              <a:t>https://developers.redhat.com/topics/enterprise-java</a:t>
            </a:r>
            <a:endParaRPr lang="en-US" sz="1200" b="1" dirty="0" smtClean="0">
              <a:solidFill>
                <a:srgbClr val="FF0000"/>
              </a:solidFill>
            </a:endParaRPr>
          </a:p>
          <a:p>
            <a:pPr marL="457200" lvl="0" indent="-304800">
              <a:lnSpc>
                <a:spcPct val="150000"/>
              </a:lnSpc>
              <a:buClr>
                <a:schemeClr val="dk1"/>
              </a:buClr>
              <a:buSzPts val="1200"/>
              <a:buFont typeface="Arial"/>
              <a:buAutoNum type="arabicPeriod" startAt="4"/>
            </a:pPr>
            <a:r>
              <a:rPr lang="en-US" sz="1200" b="1" dirty="0" smtClean="0">
                <a:solidFill>
                  <a:srgbClr val="FF0000"/>
                </a:solidFill>
              </a:rPr>
              <a:t>Article</a:t>
            </a:r>
            <a:endParaRPr lang="en-US" sz="1200" dirty="0" smtClean="0">
              <a:solidFill>
                <a:srgbClr val="FF0000"/>
              </a:solidFill>
            </a:endParaRPr>
          </a:p>
          <a:p>
            <a:pPr marL="452438" lvl="0">
              <a:lnSpc>
                <a:spcPct val="150000"/>
              </a:lnSpc>
              <a:buClr>
                <a:schemeClr val="dk1"/>
              </a:buClr>
              <a:buSzPts val="1200"/>
            </a:pPr>
            <a:r>
              <a:rPr lang="en-US" sz="1200" smtClean="0">
                <a:solidFill>
                  <a:srgbClr val="FF0000"/>
                </a:solidFill>
              </a:rPr>
              <a:t>https://www.researchgate.net/publication/276412369_Advanced_Java_Programming</a:t>
            </a:r>
          </a:p>
          <a:p>
            <a:pPr marL="457200" lvl="0">
              <a:lnSpc>
                <a:spcPct val="150000"/>
              </a:lnSpc>
              <a:buSzPts val="1200"/>
            </a:pPr>
            <a:endParaRPr lang="en-US" sz="1200" dirty="0" smtClean="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684</TotalTime>
  <Words>779</Words>
  <Application>Microsoft Office PowerPoint</Application>
  <PresentationFormat>On-screen Show (4:3)</PresentationFormat>
  <Paragraphs>148</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key</cp:lastModifiedBy>
  <cp:revision>172</cp:revision>
  <dcterms:created xsi:type="dcterms:W3CDTF">2024-12-13T07:18:04Z</dcterms:created>
  <dcterms:modified xsi:type="dcterms:W3CDTF">2025-05-17T05:26:58Z</dcterms:modified>
</cp:coreProperties>
</file>