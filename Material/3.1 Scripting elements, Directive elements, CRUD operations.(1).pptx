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88" r:id="rId4"/>
    <p:sldId id="289" r:id="rId5"/>
    <p:sldId id="290" r:id="rId6"/>
    <p:sldId id="293" r:id="rId7"/>
    <p:sldId id="292" r:id="rId8"/>
    <p:sldId id="303" r:id="rId9"/>
    <p:sldId id="305" r:id="rId10"/>
    <p:sldId id="304" r:id="rId11"/>
    <p:sldId id="306" r:id="rId12"/>
    <p:sldId id="307" r:id="rId13"/>
    <p:sldId id="308" r:id="rId14"/>
    <p:sldId id="309" r:id="rId15"/>
    <p:sldId id="310" r:id="rId16"/>
    <p:sldId id="311" r:id="rId17"/>
    <p:sldId id="312" r:id="rId18"/>
    <p:sldId id="313" r:id="rId19"/>
    <p:sldId id="314" r:id="rId20"/>
    <p:sldId id="315" r:id="rId21"/>
    <p:sldId id="316" r:id="rId22"/>
    <p:sldId id="317" r:id="rId23"/>
    <p:sldId id="294" r:id="rId24"/>
    <p:sldId id="296" r:id="rId25"/>
    <p:sldId id="298" r:id="rId26"/>
    <p:sldId id="299" r:id="rId27"/>
    <p:sldId id="300" r:id="rId28"/>
    <p:sldId id="301" r:id="rId29"/>
    <p:sldId id="302" r:id="rId30"/>
    <p:sldId id="262" r:id="rId31"/>
    <p:sldId id="263" r:id="rId3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wGEa46m3SqSJsxoXyCwcLQke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D3BA4600-CF29-4966-8986-3B1AA4679568}">
  <a:tblStyle styleId="{D3BA4600-CF29-4966-8986-3B1AA46795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66" d="100"/>
          <a:sy n="66" d="100"/>
        </p:scale>
        <p:origin x="-1204" y="2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59"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 name="Google Shape;4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64a70720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264a707208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7"/>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0" name="Google Shape;10;p7"/>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FFFFFF"/>
                </a:solidFill>
                <a:latin typeface="Calibri"/>
                <a:ea typeface="Calibri"/>
                <a:cs typeface="Calibri"/>
                <a:sym typeface="Calibri"/>
              </a:rPr>
              <a:t>Introduction &amp;</a:t>
            </a:r>
            <a:r>
              <a:rPr lang="en-US" sz="4050" b="0" i="0" u="none" strike="noStrike" cap="none">
                <a:solidFill>
                  <a:schemeClr val="dk1"/>
                </a:solidFill>
                <a:latin typeface="Calibri"/>
                <a:ea typeface="Calibri"/>
                <a:cs typeface="Calibri"/>
                <a:sym typeface="Calibri"/>
              </a:rPr>
              <a:t> </a:t>
            </a:r>
            <a:r>
              <a:rPr lang="en-US" sz="4050" b="1" i="0" u="none" strike="noStrike" cap="none">
                <a:solidFill>
                  <a:srgbClr val="FFFFFF"/>
                </a:solidFill>
                <a:latin typeface="Calibri"/>
                <a:ea typeface="Calibri"/>
                <a:cs typeface="Calibri"/>
                <a:sym typeface="Calibri"/>
              </a:rPr>
              <a:t>Programming with </a:t>
            </a:r>
            <a:br>
              <a:rPr lang="en-US" sz="4050" b="1" i="0" u="none" strike="noStrike" cap="none">
                <a:solidFill>
                  <a:srgbClr val="FFFFFF"/>
                </a:solidFill>
                <a:latin typeface="Calibri"/>
                <a:ea typeface="Calibri"/>
                <a:cs typeface="Calibri"/>
                <a:sym typeface="Calibri"/>
              </a:rPr>
            </a:br>
            <a:r>
              <a:rPr lang="en-US" sz="4050" b="1" i="0" u="none" strike="noStrike" cap="none">
                <a:solidFill>
                  <a:srgbClr val="FFFFFF"/>
                </a:solidFill>
                <a:latin typeface="Calibri"/>
                <a:ea typeface="Calibri"/>
                <a:cs typeface="Calibri"/>
                <a:sym typeface="Calibri"/>
              </a:rPr>
              <a:t>ESP8266</a:t>
            </a:r>
            <a:endParaRPr sz="4050" b="0" i="0" u="none" strike="noStrike" cap="none">
              <a:solidFill>
                <a:schemeClr val="dk1"/>
              </a:solidFill>
              <a:latin typeface="Calibri"/>
              <a:ea typeface="Calibri"/>
              <a:cs typeface="Calibri"/>
              <a:sym typeface="Calibri"/>
            </a:endParaRPr>
          </a:p>
        </p:txBody>
      </p:sp>
      <p:pic>
        <p:nvPicPr>
          <p:cNvPr id="11" name="Google Shape;11;p7"/>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12" name="Google Shape;12;p7"/>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ex Layout">
  <p:cSld name="Index Layout">
    <p:spTree>
      <p:nvGrpSpPr>
        <p:cNvPr id="1" name="Shape 13"/>
        <p:cNvGrpSpPr/>
        <p:nvPr/>
      </p:nvGrpSpPr>
      <p:grpSpPr>
        <a:xfrm>
          <a:off x="0" y="0"/>
          <a:ext cx="0" cy="0"/>
          <a:chOff x="0" y="0"/>
          <a:chExt cx="0" cy="0"/>
        </a:xfrm>
      </p:grpSpPr>
      <p:grpSp>
        <p:nvGrpSpPr>
          <p:cNvPr id="14" name="Google Shape;14;p8"/>
          <p:cNvGrpSpPr/>
          <p:nvPr/>
        </p:nvGrpSpPr>
        <p:grpSpPr>
          <a:xfrm>
            <a:off x="445191" y="0"/>
            <a:ext cx="8698811" cy="6857999"/>
            <a:chOff x="-4801433" y="-1782234"/>
            <a:chExt cx="18084927" cy="14257864"/>
          </a:xfrm>
        </p:grpSpPr>
        <p:sp>
          <p:nvSpPr>
            <p:cNvPr id="15" name="Google Shape;15;p8"/>
            <p:cNvSpPr/>
            <p:nvPr/>
          </p:nvSpPr>
          <p:spPr>
            <a:xfrm>
              <a:off x="-4801433" y="1790698"/>
              <a:ext cx="12600815" cy="983099"/>
            </a:xfrm>
            <a:custGeom>
              <a:avLst/>
              <a:gdLst/>
              <a:ahLst/>
              <a:cxnLst/>
              <a:rect l="l" t="t" r="r" b="b"/>
              <a:pathLst>
                <a:path w="4610100" h="660400" extrusionOk="0">
                  <a:moveTo>
                    <a:pt x="0" y="660400"/>
                  </a:moveTo>
                  <a:lnTo>
                    <a:pt x="4610100" y="660400"/>
                  </a:lnTo>
                  <a:lnTo>
                    <a:pt x="4610100" y="0"/>
                  </a:lnTo>
                  <a:lnTo>
                    <a:pt x="0" y="0"/>
                  </a:lnTo>
                  <a:lnTo>
                    <a:pt x="0" y="660400"/>
                  </a:lnTo>
                  <a:close/>
                </a:path>
              </a:pathLst>
            </a:custGeom>
            <a:solidFill>
              <a:srgbClr val="64646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6" name="Google Shape;16;p8"/>
            <p:cNvSpPr/>
            <p:nvPr/>
          </p:nvSpPr>
          <p:spPr>
            <a:xfrm>
              <a:off x="8339276" y="-1782234"/>
              <a:ext cx="4944218" cy="14257864"/>
            </a:xfrm>
            <a:custGeom>
              <a:avLst/>
              <a:gdLst/>
              <a:ahLst/>
              <a:cxnLst/>
              <a:rect l="l" t="t" r="r" b="b"/>
              <a:pathLst>
                <a:path w="2387600" h="10693400" extrusionOk="0">
                  <a:moveTo>
                    <a:pt x="0" y="0"/>
                  </a:moveTo>
                  <a:lnTo>
                    <a:pt x="2387600" y="0"/>
                  </a:lnTo>
                  <a:lnTo>
                    <a:pt x="2387600" y="10693400"/>
                  </a:lnTo>
                  <a:lnTo>
                    <a:pt x="0" y="10693400"/>
                  </a:lnTo>
                  <a:lnTo>
                    <a:pt x="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grpSp>
      <p:pic>
        <p:nvPicPr>
          <p:cNvPr id="17" name="Google Shape;17;p8"/>
          <p:cNvPicPr preferRelativeResize="0"/>
          <p:nvPr/>
        </p:nvPicPr>
        <p:blipFill rotWithShape="1">
          <a:blip r:embed="rId2">
            <a:alphaModFix/>
          </a:blip>
          <a:srcRect/>
          <a:stretch/>
        </p:blipFill>
        <p:spPr>
          <a:xfrm>
            <a:off x="6826923" y="234877"/>
            <a:ext cx="2063449" cy="617000"/>
          </a:xfrm>
          <a:prstGeom prst="rect">
            <a:avLst/>
          </a:prstGeom>
          <a:noFill/>
          <a:ln>
            <a:noFill/>
          </a:ln>
        </p:spPr>
      </p:pic>
      <p:pic>
        <p:nvPicPr>
          <p:cNvPr id="18" name="Google Shape;18;p8"/>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pic>
        <p:nvPicPr>
          <p:cNvPr id="23" name="Google Shape;23;p9"/>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24" name="Google Shape;24;p9"/>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slide Layout">
  <p:cSld name="Endslide Layout">
    <p:spTree>
      <p:nvGrpSpPr>
        <p:cNvPr id="1" name="Shape 25"/>
        <p:cNvGrpSpPr/>
        <p:nvPr/>
      </p:nvGrpSpPr>
      <p:grpSpPr>
        <a:xfrm>
          <a:off x="0" y="0"/>
          <a:ext cx="0" cy="0"/>
          <a:chOff x="0" y="0"/>
          <a:chExt cx="0" cy="0"/>
        </a:xfrm>
      </p:grpSpPr>
      <p:pic>
        <p:nvPicPr>
          <p:cNvPr id="26" name="Google Shape;26;p11"/>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27"/>
        <p:cNvGrpSpPr/>
        <p:nvPr/>
      </p:nvGrpSpPr>
      <p:grpSpPr>
        <a:xfrm>
          <a:off x="0" y="0"/>
          <a:ext cx="0" cy="0"/>
          <a:chOff x="0" y="0"/>
          <a:chExt cx="0" cy="0"/>
        </a:xfrm>
      </p:grpSpPr>
      <p:sp>
        <p:nvSpPr>
          <p:cNvPr id="28" name="Google Shape;28;p10"/>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29" name="Google Shape;29;p10"/>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4"/>
              <a:buFont typeface="Arial"/>
              <a:buNone/>
            </a:pPr>
            <a:r>
              <a:rPr lang="en-US" sz="1154" b="1" i="0" u="none" strike="noStrike" cap="none">
                <a:solidFill>
                  <a:schemeClr val="dk1"/>
                </a:solidFill>
                <a:latin typeface="Calibri"/>
                <a:ea typeface="Calibri"/>
                <a:cs typeface="Calibri"/>
                <a:sym typeface="Calibri"/>
              </a:rPr>
              <a:t> </a:t>
            </a:r>
            <a:r>
              <a:rPr lang="en-US" sz="864" b="0" i="0" u="none" strike="noStrike" cap="none">
                <a:solidFill>
                  <a:schemeClr val="dk1"/>
                </a:solidFill>
                <a:latin typeface="Calibri"/>
                <a:ea typeface="Calibri"/>
                <a:cs typeface="Calibri"/>
                <a:sym typeface="Calibri"/>
              </a:rPr>
              <a:t/>
            </a:r>
            <a:br>
              <a:rPr lang="en-US" sz="864" b="0" i="0" u="none" strike="noStrike" cap="none">
                <a:solidFill>
                  <a:schemeClr val="dk1"/>
                </a:solidFill>
                <a:latin typeface="Calibri"/>
                <a:ea typeface="Calibri"/>
                <a:cs typeface="Calibri"/>
                <a:sym typeface="Calibri"/>
              </a:rPr>
            </a:br>
            <a:endParaRPr sz="864" b="0" i="0" u="none" strike="noStrike" cap="none">
              <a:solidFill>
                <a:schemeClr val="dk1"/>
              </a:solidFill>
              <a:latin typeface="Calibri"/>
              <a:ea typeface="Calibri"/>
              <a:cs typeface="Calibri"/>
              <a:sym typeface="Calibri"/>
            </a:endParaRPr>
          </a:p>
        </p:txBody>
      </p:sp>
      <p:pic>
        <p:nvPicPr>
          <p:cNvPr id="30" name="Google Shape;30;p10"/>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31" name="Google Shape;31;p10"/>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difference-between-servlet-and-jsp/"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 y="1965470"/>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37" name="Google Shape;37;p1"/>
          <p:cNvSpPr/>
          <p:nvPr/>
        </p:nvSpPr>
        <p:spPr>
          <a:xfrm>
            <a:off x="0" y="2366690"/>
            <a:ext cx="9144000" cy="109256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500"/>
              <a:buFont typeface="Arial"/>
              <a:buNone/>
            </a:pPr>
            <a:r>
              <a:rPr lang="en-US" sz="3500" b="1" dirty="0" smtClean="0">
                <a:solidFill>
                  <a:srgbClr val="FFFFFF"/>
                </a:solidFill>
                <a:latin typeface="Calibri"/>
                <a:ea typeface="Calibri"/>
                <a:cs typeface="Calibri"/>
                <a:sym typeface="Calibri"/>
              </a:rPr>
              <a:t>Enterprise Programming using JAVA</a:t>
            </a:r>
            <a:endParaRPr sz="3500" b="1" i="0" u="none" strike="noStrike" cap="none">
              <a:solidFill>
                <a:srgbClr val="FFFFFF"/>
              </a:solidFill>
              <a:latin typeface="Calibri"/>
              <a:ea typeface="Calibri"/>
              <a:cs typeface="Calibri"/>
              <a:sym typeface="Calibri"/>
            </a:endParaRPr>
          </a:p>
          <a:p>
            <a:pPr algn="ctr">
              <a:buSzPts val="3000"/>
            </a:pPr>
            <a:r>
              <a:rPr lang="en-US" sz="3000" b="1" i="0" u="none" strike="noStrike" cap="none" dirty="0" smtClean="0">
                <a:solidFill>
                  <a:srgbClr val="FFFFFF"/>
                </a:solidFill>
                <a:latin typeface="Calibri"/>
                <a:ea typeface="Calibri"/>
                <a:cs typeface="Calibri"/>
                <a:sym typeface="Calibri"/>
              </a:rPr>
              <a:t>Chapter-3: </a:t>
            </a:r>
            <a:r>
              <a:rPr lang="en-US" sz="3000" b="1" dirty="0" smtClean="0">
                <a:solidFill>
                  <a:srgbClr val="FFFFFF"/>
                </a:solidFill>
                <a:latin typeface="Calibri"/>
                <a:ea typeface="Calibri"/>
                <a:cs typeface="Calibri"/>
                <a:sym typeface="Calibri"/>
              </a:rPr>
              <a:t>JSP: Java Server Programming</a:t>
            </a:r>
            <a:endParaRPr sz="3000" b="1" i="0" u="none" strike="noStrike" cap="none">
              <a:solidFill>
                <a:srgbClr val="FFFFFF"/>
              </a:solidFill>
              <a:latin typeface="Calibri"/>
              <a:ea typeface="Calibri"/>
              <a:cs typeface="Calibri"/>
              <a:sym typeface="Calibri"/>
            </a:endParaRPr>
          </a:p>
        </p:txBody>
      </p:sp>
      <p:sp>
        <p:nvSpPr>
          <p:cNvPr id="38" name="Google Shape;38;p1"/>
          <p:cNvSpPr/>
          <p:nvPr/>
        </p:nvSpPr>
        <p:spPr>
          <a:xfrm>
            <a:off x="342741" y="5601409"/>
            <a:ext cx="3832829" cy="12156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Calibri"/>
                <a:ea typeface="Calibri"/>
                <a:cs typeface="Calibri"/>
                <a:sym typeface="Calibri"/>
              </a:rPr>
              <a:t>Prof. </a:t>
            </a:r>
            <a:r>
              <a:rPr lang="en-US" sz="2200" b="1" i="0" u="none" strike="noStrike" cap="none" dirty="0" smtClean="0">
                <a:solidFill>
                  <a:schemeClr val="dk1"/>
                </a:solidFill>
                <a:latin typeface="Calibri"/>
                <a:ea typeface="Calibri"/>
                <a:cs typeface="Calibri"/>
                <a:sym typeface="Calibri"/>
              </a:rPr>
              <a:t>ARNIKA PATEL</a:t>
            </a:r>
            <a:r>
              <a:rPr lang="en-US" sz="2200" b="1" i="0" u="none" strike="noStrike" cap="none" dirty="0">
                <a:solidFill>
                  <a:schemeClr val="dk1"/>
                </a:solidFill>
                <a:latin typeface="Calibri"/>
                <a:ea typeface="Calibri"/>
                <a:cs typeface="Calibri"/>
                <a:sym typeface="Calibri"/>
              </a:rPr>
              <a:t/>
            </a:r>
            <a:br>
              <a:rPr lang="en-US" sz="2200" b="1" i="0" u="none" strike="noStrike" cap="none" dirty="0">
                <a:solidFill>
                  <a:schemeClr val="dk1"/>
                </a:solidFill>
                <a:latin typeface="Calibri"/>
                <a:ea typeface="Calibri"/>
                <a:cs typeface="Calibri"/>
                <a:sym typeface="Calibri"/>
              </a:rPr>
            </a:br>
            <a:r>
              <a:rPr lang="en-US" sz="1800" b="1" i="0" u="none" strike="noStrike" cap="none" dirty="0">
                <a:solidFill>
                  <a:schemeClr val="dk1"/>
                </a:solidFill>
                <a:latin typeface="Calibri"/>
                <a:ea typeface="Calibri"/>
                <a:cs typeface="Calibri"/>
                <a:sym typeface="Calibri"/>
              </a:rPr>
              <a:t>Assistant Professor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Department of </a:t>
            </a:r>
            <a:r>
              <a:rPr lang="en-US" sz="1800" b="1" i="0" u="none" strike="noStrike" cap="none" dirty="0" smtClean="0">
                <a:solidFill>
                  <a:schemeClr val="dk1"/>
                </a:solidFill>
                <a:latin typeface="Calibri"/>
                <a:ea typeface="Calibri"/>
                <a:cs typeface="Calibri"/>
                <a:sym typeface="Calibri"/>
              </a:rPr>
              <a:t>CSE</a:t>
            </a: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p:nvPr/>
        </p:nvSpPr>
        <p:spPr>
          <a:xfrm>
            <a:off x="461900" y="2370175"/>
            <a:ext cx="6027900" cy="1938952"/>
          </a:xfrm>
          <a:prstGeom prst="rect">
            <a:avLst/>
          </a:prstGeom>
          <a:noFill/>
          <a:ln>
            <a:noFill/>
          </a:ln>
        </p:spPr>
        <p:txBody>
          <a:bodyPr spcFirstLastPara="1" wrap="square" lIns="91425" tIns="45700" rIns="91425" bIns="45700" anchor="t" anchorCtr="0">
            <a:spAutoFit/>
          </a:bodyPr>
          <a:lstStyle/>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Introduction to JSP………………………………. 3</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JSP Architecture ………………………………….. 7</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JSP Lifecycle ………………………………………… 14</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Scripting elements</a:t>
            </a:r>
            <a:r>
              <a:rPr lang="en-US" sz="2400" dirty="0" smtClean="0">
                <a:solidFill>
                  <a:schemeClr val="dk1"/>
                </a:solidFill>
                <a:latin typeface="Calibri" pitchFamily="34" charset="0"/>
                <a:ea typeface="Calibri"/>
                <a:cs typeface="Calibri" pitchFamily="34" charset="0"/>
                <a:sym typeface="Calibri"/>
              </a:rPr>
              <a:t>……………………….………</a:t>
            </a:r>
            <a:r>
              <a:rPr lang="en-US" sz="2400" b="0" i="0" u="none" strike="noStrike" cap="none" dirty="0">
                <a:solidFill>
                  <a:schemeClr val="dk1"/>
                </a:solidFill>
                <a:latin typeface="Calibri" pitchFamily="34" charset="0"/>
                <a:ea typeface="Calibri"/>
                <a:cs typeface="Calibri" pitchFamily="34" charset="0"/>
                <a:sym typeface="Calibri"/>
              </a:rPr>
              <a:t>	</a:t>
            </a:r>
            <a:r>
              <a:rPr lang="en-US" sz="2400" b="0" i="0" u="none" strike="noStrike" cap="none" dirty="0" smtClean="0">
                <a:solidFill>
                  <a:schemeClr val="dk1"/>
                </a:solidFill>
                <a:latin typeface="Calibri" pitchFamily="34" charset="0"/>
                <a:ea typeface="Calibri"/>
                <a:cs typeface="Calibri" pitchFamily="34" charset="0"/>
                <a:sym typeface="Calibri"/>
              </a:rPr>
              <a:t>25</a:t>
            </a:r>
            <a:endParaRPr sz="2400" b="0" i="0" u="none" strike="noStrike" cap="none" dirty="0">
              <a:solidFill>
                <a:schemeClr val="dk1"/>
              </a:solidFill>
              <a:latin typeface="Calibri" pitchFamily="34" charset="0"/>
              <a:ea typeface="Calibri"/>
              <a:cs typeface="Calibri" pitchFamily="34" charset="0"/>
              <a:sym typeface="Calibri"/>
            </a:endParaRP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Directive elements</a:t>
            </a:r>
            <a:r>
              <a:rPr lang="en-US" sz="2400" b="0" i="0" u="none" strike="noStrike" cap="none" dirty="0" smtClean="0">
                <a:solidFill>
                  <a:schemeClr val="dk1"/>
                </a:solidFill>
                <a:latin typeface="Calibri" pitchFamily="34" charset="0"/>
                <a:ea typeface="Calibri"/>
                <a:cs typeface="Calibri" pitchFamily="34" charset="0"/>
                <a:sym typeface="Calibri"/>
              </a:rPr>
              <a:t>………………….….</a:t>
            </a:r>
            <a:r>
              <a:rPr lang="en-US" sz="2400" dirty="0" smtClean="0">
                <a:solidFill>
                  <a:schemeClr val="dk1"/>
                </a:solidFill>
                <a:latin typeface="Calibri" pitchFamily="34" charset="0"/>
                <a:ea typeface="Calibri"/>
                <a:cs typeface="Calibri" pitchFamily="34" charset="0"/>
                <a:sym typeface="Calibri"/>
              </a:rPr>
              <a:t>.</a:t>
            </a:r>
            <a:r>
              <a:rPr lang="en-US" sz="2400" b="0" i="0" u="none" strike="noStrike" cap="none" dirty="0" smtClean="0">
                <a:solidFill>
                  <a:schemeClr val="dk1"/>
                </a:solidFill>
                <a:latin typeface="Calibri" pitchFamily="34" charset="0"/>
                <a:ea typeface="Calibri"/>
                <a:cs typeface="Calibri" pitchFamily="34" charset="0"/>
                <a:sym typeface="Calibri"/>
              </a:rPr>
              <a:t>………	27</a:t>
            </a:r>
            <a:endParaRPr sz="2400" b="0" i="0" u="none" strike="noStrike" cap="none" dirty="0">
              <a:solidFill>
                <a:schemeClr val="dk1"/>
              </a:solidFill>
              <a:latin typeface="Calibri" pitchFamily="34" charset="0"/>
              <a:ea typeface="Calibri"/>
              <a:cs typeface="Calibri" pitchFamily="34" charset="0"/>
              <a:sym typeface="Calibri"/>
            </a:endParaRPr>
          </a:p>
        </p:txBody>
      </p:sp>
      <p:sp>
        <p:nvSpPr>
          <p:cNvPr id="44" name="Google Shape;44;p2"/>
          <p:cNvSpPr/>
          <p:nvPr/>
        </p:nvSpPr>
        <p:spPr>
          <a:xfrm>
            <a:off x="461889" y="1734925"/>
            <a:ext cx="338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Content </a:t>
            </a:r>
            <a:endParaRPr sz="2400" b="0" i="0" u="none" strike="noStrike" cap="none">
              <a:solidFill>
                <a:schemeClr val="dk1"/>
              </a:solidFill>
              <a:latin typeface="Calibri"/>
              <a:ea typeface="Calibri"/>
              <a:cs typeface="Calibri"/>
              <a:sym typeface="Calibri"/>
            </a:endParaRPr>
          </a:p>
        </p:txBody>
      </p:sp>
      <p:sp>
        <p:nvSpPr>
          <p:cNvPr id="45" name="Google Shape;45;p2"/>
          <p:cNvSpPr/>
          <p:nvPr/>
        </p:nvSpPr>
        <p:spPr>
          <a:xfrm rot="5400000">
            <a:off x="6527840" y="5619817"/>
            <a:ext cx="1281120" cy="600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300"/>
              <a:buFont typeface="Arial"/>
              <a:buNone/>
            </a:pPr>
            <a:r>
              <a:rPr lang="en-US" sz="3300" b="1" i="0" u="none" strike="noStrike" cap="none">
                <a:solidFill>
                  <a:schemeClr val="lt1"/>
                </a:solidFill>
                <a:latin typeface="Calibri"/>
                <a:ea typeface="Calibri"/>
                <a:cs typeface="Calibri"/>
                <a:sym typeface="Calibri"/>
              </a:rPr>
              <a:t>INDEX</a:t>
            </a:r>
            <a:endParaRPr sz="33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JSP</a:t>
            </a:r>
          </a:p>
        </p:txBody>
      </p:sp>
      <p:sp>
        <p:nvSpPr>
          <p:cNvPr id="52" name="Google Shape;52;p3"/>
          <p:cNvSpPr/>
          <p:nvPr/>
        </p:nvSpPr>
        <p:spPr>
          <a:xfrm>
            <a:off x="383250" y="1789925"/>
            <a:ext cx="8533200" cy="3046948"/>
          </a:xfrm>
          <a:prstGeom prst="rect">
            <a:avLst/>
          </a:prstGeom>
          <a:noFill/>
          <a:ln>
            <a:noFill/>
          </a:ln>
        </p:spPr>
        <p:txBody>
          <a:bodyPr spcFirstLastPara="1" wrap="square" lIns="91425" tIns="45700" rIns="91425" bIns="45700" anchor="t" anchorCtr="0">
            <a:spAutoFit/>
          </a:bodyPr>
          <a:lstStyle/>
          <a:p>
            <a:pPr lvl="0" algn="just">
              <a:buSzPts val="2200"/>
            </a:pPr>
            <a:r>
              <a:rPr lang="en-US" sz="2400" b="1" dirty="0" err="1" smtClean="0">
                <a:latin typeface="+mj-lt"/>
              </a:rPr>
              <a:t>JavaServer</a:t>
            </a:r>
            <a:r>
              <a:rPr lang="en-US" sz="2400" b="1" dirty="0" smtClean="0">
                <a:latin typeface="+mj-lt"/>
              </a:rPr>
              <a:t> Pages (JSP)</a:t>
            </a:r>
            <a:r>
              <a:rPr lang="en-US" sz="2400" dirty="0" smtClean="0">
                <a:latin typeface="+mj-lt"/>
              </a:rPr>
              <a:t> is a server-side technology that creates dynamic web applications. It allows developers to embed Java code directly into HTML or XML pages, and it makes web development more efficient.</a:t>
            </a:r>
          </a:p>
          <a:p>
            <a:pPr lvl="0" algn="just">
              <a:buSzPts val="2200"/>
            </a:pPr>
            <a:endParaRPr lang="en-US" sz="2400" b="0" i="0" u="none" strike="noStrike" cap="none" dirty="0" smtClean="0">
              <a:solidFill>
                <a:schemeClr val="dk1"/>
              </a:solidFill>
              <a:latin typeface="+mj-lt"/>
              <a:ea typeface="Calibri"/>
              <a:cs typeface="Calibri"/>
              <a:sym typeface="Calibri"/>
            </a:endParaRPr>
          </a:p>
          <a:p>
            <a:pPr algn="just">
              <a:buSzPts val="2200"/>
            </a:pPr>
            <a:r>
              <a:rPr lang="en-US" sz="2400" dirty="0" smtClean="0">
                <a:solidFill>
                  <a:schemeClr val="dk1"/>
                </a:solidFill>
                <a:latin typeface="+mj-lt"/>
                <a:ea typeface="Calibri"/>
                <a:cs typeface="Calibri"/>
                <a:sym typeface="Calibri"/>
              </a:rPr>
              <a:t>JSP is an advanced version of </a:t>
            </a:r>
            <a:r>
              <a:rPr lang="en-US" sz="2400" dirty="0" err="1" smtClean="0">
                <a:solidFill>
                  <a:schemeClr val="dk1"/>
                </a:solidFill>
                <a:latin typeface="+mj-lt"/>
                <a:ea typeface="Calibri"/>
                <a:cs typeface="Calibri"/>
                <a:sym typeface="Calibri"/>
              </a:rPr>
              <a:t>Servlets</a:t>
            </a:r>
            <a:r>
              <a:rPr lang="en-US" sz="2400" dirty="0" smtClean="0">
                <a:solidFill>
                  <a:schemeClr val="dk1"/>
                </a:solidFill>
                <a:latin typeface="+mj-lt"/>
                <a:ea typeface="Calibri"/>
                <a:cs typeface="Calibri"/>
                <a:sym typeface="Calibri"/>
              </a:rPr>
              <a:t>. It provides enhanced capabilities for building scalable and platform-independent web pages.</a:t>
            </a:r>
            <a:endParaRPr sz="2400" b="0" i="0" u="none" strike="noStrike" cap="none">
              <a:solidFill>
                <a:schemeClr val="dk1"/>
              </a:solidFill>
              <a:latin typeface="+mj-lt"/>
              <a:ea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Features of JSP</a:t>
            </a:r>
          </a:p>
        </p:txBody>
      </p:sp>
      <p:sp>
        <p:nvSpPr>
          <p:cNvPr id="52" name="Google Shape;52;p3"/>
          <p:cNvSpPr/>
          <p:nvPr/>
        </p:nvSpPr>
        <p:spPr>
          <a:xfrm>
            <a:off x="383250" y="1789925"/>
            <a:ext cx="8533200" cy="3046948"/>
          </a:xfrm>
          <a:prstGeom prst="rect">
            <a:avLst/>
          </a:prstGeom>
          <a:noFill/>
          <a:ln>
            <a:noFill/>
          </a:ln>
        </p:spPr>
        <p:txBody>
          <a:bodyPr spcFirstLastPara="1" wrap="square" lIns="91425" tIns="45700" rIns="91425" bIns="45700" anchor="t" anchorCtr="0">
            <a:spAutoFit/>
          </a:bodyPr>
          <a:lstStyle/>
          <a:p>
            <a:pPr marL="355600" indent="-355600" algn="just" fontAlgn="base">
              <a:buFont typeface="Arial" pitchFamily="34" charset="0"/>
              <a:buChar char="•"/>
            </a:pPr>
            <a:r>
              <a:rPr lang="en-US" sz="2400" dirty="0" smtClean="0"/>
              <a:t>It is platform-independent; we can write once, run anywhere.</a:t>
            </a:r>
          </a:p>
          <a:p>
            <a:pPr marL="355600" indent="-355600" algn="just" fontAlgn="base">
              <a:buFont typeface="Arial" pitchFamily="34" charset="0"/>
              <a:buChar char="•"/>
            </a:pPr>
            <a:r>
              <a:rPr lang="en-US" sz="2400" dirty="0" smtClean="0"/>
              <a:t>It simplifies database interactions for dynamic content.</a:t>
            </a:r>
          </a:p>
          <a:p>
            <a:pPr marL="355600" indent="-355600" algn="just" fontAlgn="base">
              <a:buFont typeface="Arial" pitchFamily="34" charset="0"/>
              <a:buChar char="•"/>
            </a:pPr>
            <a:r>
              <a:rPr lang="en-US" sz="2400" dirty="0" smtClean="0"/>
              <a:t>It contains predefined objects like request, response, session, and application, reducing development time.</a:t>
            </a:r>
          </a:p>
          <a:p>
            <a:pPr marL="355600" indent="-355600" algn="just" fontAlgn="base">
              <a:buFont typeface="Arial" pitchFamily="34" charset="0"/>
              <a:buChar char="•"/>
            </a:pPr>
            <a:r>
              <a:rPr lang="en-US" sz="2400" dirty="0" smtClean="0"/>
              <a:t>It has built-in mechanisms for exception and error management.</a:t>
            </a:r>
          </a:p>
          <a:p>
            <a:pPr marL="355600" indent="-355600" algn="just" fontAlgn="base">
              <a:buFont typeface="Arial" pitchFamily="34" charset="0"/>
              <a:buChar char="•"/>
            </a:pPr>
            <a:r>
              <a:rPr lang="en-US" sz="2400" dirty="0" smtClean="0"/>
              <a:t>It supports custom tags and tag libraries.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How is JSP More Advantageous than </a:t>
            </a:r>
            <a:r>
              <a:rPr lang="en-US" sz="2400" b="1" dirty="0" err="1" smtClean="0">
                <a:solidFill>
                  <a:schemeClr val="dk2"/>
                </a:solidFill>
                <a:latin typeface="Calibri"/>
                <a:cs typeface="Calibri"/>
                <a:sym typeface="Calibri"/>
              </a:rPr>
              <a:t>Servlets</a:t>
            </a:r>
            <a:r>
              <a:rPr lang="en-US" sz="2400" b="1" dirty="0" smtClean="0">
                <a:solidFill>
                  <a:schemeClr val="dk2"/>
                </a:solidFill>
                <a:latin typeface="Calibri"/>
                <a:cs typeface="Calibri"/>
                <a:sym typeface="Calibri"/>
              </a:rPr>
              <a:t>?</a:t>
            </a:r>
          </a:p>
        </p:txBody>
      </p:sp>
      <p:sp>
        <p:nvSpPr>
          <p:cNvPr id="52" name="Google Shape;52;p3"/>
          <p:cNvSpPr/>
          <p:nvPr/>
        </p:nvSpPr>
        <p:spPr>
          <a:xfrm>
            <a:off x="383250" y="1789925"/>
            <a:ext cx="8533200" cy="3416279"/>
          </a:xfrm>
          <a:prstGeom prst="rect">
            <a:avLst/>
          </a:prstGeom>
          <a:noFill/>
          <a:ln>
            <a:noFill/>
          </a:ln>
        </p:spPr>
        <p:txBody>
          <a:bodyPr spcFirstLastPara="1" wrap="square" lIns="91425" tIns="45700" rIns="91425" bIns="45700" anchor="t" anchorCtr="0">
            <a:spAutoFit/>
          </a:bodyPr>
          <a:lstStyle/>
          <a:p>
            <a:pPr marL="355600" indent="-355600" algn="just" fontAlgn="base">
              <a:buFont typeface="Arial" pitchFamily="34" charset="0"/>
              <a:buChar char="•"/>
            </a:pPr>
            <a:r>
              <a:rPr lang="en-US" sz="2400" dirty="0" smtClean="0"/>
              <a:t>JSP code is easier to manage than </a:t>
            </a:r>
            <a:r>
              <a:rPr lang="en-US" sz="2400" dirty="0" err="1" smtClean="0"/>
              <a:t>Servlets</a:t>
            </a:r>
            <a:r>
              <a:rPr lang="en-US" sz="2400" dirty="0" smtClean="0"/>
              <a:t> as it separates UI and business logic.</a:t>
            </a:r>
          </a:p>
          <a:p>
            <a:pPr marL="355600" indent="-355600" algn="just" fontAlgn="base">
              <a:buFont typeface="Arial" pitchFamily="34" charset="0"/>
              <a:buChar char="•"/>
            </a:pPr>
            <a:r>
              <a:rPr lang="en-US" sz="2400" dirty="0" smtClean="0"/>
              <a:t>JSP minimizes the amount of code required for web applications.</a:t>
            </a:r>
          </a:p>
          <a:p>
            <a:pPr marL="355600" indent="-355600" algn="just" fontAlgn="base">
              <a:buFont typeface="Arial" pitchFamily="34" charset="0"/>
              <a:buChar char="•"/>
            </a:pPr>
            <a:r>
              <a:rPr lang="en-US" sz="2400" dirty="0" smtClean="0"/>
              <a:t>Generate content dynamically in response to user interactions.</a:t>
            </a:r>
          </a:p>
          <a:p>
            <a:pPr marL="355600" indent="-355600" algn="just" fontAlgn="base">
              <a:buFont typeface="Arial" pitchFamily="34" charset="0"/>
              <a:buChar char="•"/>
            </a:pPr>
            <a:r>
              <a:rPr lang="en-US" sz="2400" dirty="0" smtClean="0"/>
              <a:t>It provides access to the complete range of Java APIs for robust application development.</a:t>
            </a:r>
          </a:p>
          <a:p>
            <a:pPr marL="355600" indent="-355600" algn="just" fontAlgn="base">
              <a:buFont typeface="Arial" pitchFamily="34" charset="0"/>
              <a:buChar char="•"/>
            </a:pPr>
            <a:r>
              <a:rPr lang="en-US" sz="2400" dirty="0" smtClean="0"/>
              <a:t>JSP is suitable for applications with growing user bases.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vs. </a:t>
            </a:r>
            <a:r>
              <a:rPr lang="en-US" sz="2400" b="1" dirty="0" err="1" smtClean="0">
                <a:solidFill>
                  <a:schemeClr val="dk2"/>
                </a:solidFill>
                <a:latin typeface="Calibri"/>
                <a:cs typeface="Calibri"/>
                <a:sym typeface="Calibri"/>
              </a:rPr>
              <a:t>Servlet</a:t>
            </a:r>
            <a:endParaRPr lang="en-US" sz="2400" b="1" dirty="0" smtClean="0">
              <a:solidFill>
                <a:schemeClr val="dk2"/>
              </a:solidFill>
              <a:latin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pic>
        <p:nvPicPr>
          <p:cNvPr id="1026" name="Picture 2"/>
          <p:cNvPicPr>
            <a:picLocks noChangeAspect="1" noChangeArrowheads="1"/>
          </p:cNvPicPr>
          <p:nvPr/>
        </p:nvPicPr>
        <p:blipFill>
          <a:blip r:embed="rId3"/>
          <a:srcRect/>
          <a:stretch>
            <a:fillRect/>
          </a:stretch>
        </p:blipFill>
        <p:spPr bwMode="auto">
          <a:xfrm>
            <a:off x="1200017" y="1720950"/>
            <a:ext cx="6991083" cy="4140835"/>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Architecture</a:t>
            </a:r>
          </a:p>
        </p:txBody>
      </p:sp>
      <p:sp>
        <p:nvSpPr>
          <p:cNvPr id="52" name="Google Shape;52;p3"/>
          <p:cNvSpPr/>
          <p:nvPr/>
        </p:nvSpPr>
        <p:spPr>
          <a:xfrm>
            <a:off x="383250" y="1789925"/>
            <a:ext cx="8533200" cy="2308284"/>
          </a:xfrm>
          <a:prstGeom prst="rect">
            <a:avLst/>
          </a:prstGeom>
          <a:noFill/>
          <a:ln>
            <a:noFill/>
          </a:ln>
        </p:spPr>
        <p:txBody>
          <a:bodyPr spcFirstLastPara="1" wrap="square" lIns="91425" tIns="45700" rIns="91425" bIns="45700" anchor="t" anchorCtr="0">
            <a:spAutoFit/>
          </a:bodyPr>
          <a:lstStyle/>
          <a:p>
            <a:pPr fontAlgn="base"/>
            <a:r>
              <a:rPr lang="en-US" sz="2400" dirty="0" smtClean="0"/>
              <a:t>JSP follows a three-layer architecture:</a:t>
            </a:r>
          </a:p>
          <a:p>
            <a:pPr fontAlgn="base"/>
            <a:r>
              <a:rPr lang="en-US" sz="2400" b="1" dirty="0" smtClean="0"/>
              <a:t>Client Layer</a:t>
            </a:r>
            <a:r>
              <a:rPr lang="en-US" sz="2400" dirty="0" smtClean="0"/>
              <a:t>: The browser sends a request to the server.</a:t>
            </a:r>
          </a:p>
          <a:p>
            <a:pPr fontAlgn="base"/>
            <a:r>
              <a:rPr lang="en-US" sz="2400" b="1" dirty="0" smtClean="0"/>
              <a:t>Web Server Layer</a:t>
            </a:r>
            <a:r>
              <a:rPr lang="en-US" sz="2400" dirty="0" smtClean="0"/>
              <a:t>: The server processes the request using a JSP engine.</a:t>
            </a:r>
          </a:p>
          <a:p>
            <a:pPr fontAlgn="base"/>
            <a:r>
              <a:rPr lang="en-US" sz="2400" b="1" dirty="0" smtClean="0"/>
              <a:t>Database/Backend Layer</a:t>
            </a:r>
            <a:r>
              <a:rPr lang="en-US" sz="2400" dirty="0" smtClean="0"/>
              <a:t>: Interacts with the database and returns the response to the client.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Architecture</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pic>
        <p:nvPicPr>
          <p:cNvPr id="2050" name="Picture 2"/>
          <p:cNvPicPr>
            <a:picLocks noChangeAspect="1" noChangeArrowheads="1"/>
          </p:cNvPicPr>
          <p:nvPr/>
        </p:nvPicPr>
        <p:blipFill>
          <a:blip r:embed="rId3"/>
          <a:srcRect/>
          <a:stretch>
            <a:fillRect/>
          </a:stretch>
        </p:blipFill>
        <p:spPr bwMode="auto">
          <a:xfrm>
            <a:off x="524276" y="2168843"/>
            <a:ext cx="8172450" cy="288607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Architecture</a:t>
            </a:r>
          </a:p>
        </p:txBody>
      </p:sp>
      <p:sp>
        <p:nvSpPr>
          <p:cNvPr id="52" name="Google Shape;52;p3"/>
          <p:cNvSpPr/>
          <p:nvPr/>
        </p:nvSpPr>
        <p:spPr>
          <a:xfrm>
            <a:off x="383250" y="1789925"/>
            <a:ext cx="8533200" cy="1938952"/>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JSP Processing </a:t>
            </a:r>
            <a:r>
              <a:rPr lang="en-US" sz="2400" dirty="0" smtClean="0"/>
              <a:t>is illustrated and discussed in sequential steps prior to which a pictorial media is provided as a handful pick to understand the JSP processing better which is as follows:</a:t>
            </a:r>
          </a:p>
          <a:p>
            <a:pPr algn="just" fontAlgn="base"/>
            <a:endParaRPr lang="en-US" sz="2400"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Architecture</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pic>
        <p:nvPicPr>
          <p:cNvPr id="3075" name="Picture 3"/>
          <p:cNvPicPr>
            <a:picLocks noChangeAspect="1" noChangeArrowheads="1"/>
          </p:cNvPicPr>
          <p:nvPr/>
        </p:nvPicPr>
        <p:blipFill>
          <a:blip r:embed="rId3"/>
          <a:srcRect/>
          <a:stretch>
            <a:fillRect/>
          </a:stretch>
        </p:blipFill>
        <p:spPr bwMode="auto">
          <a:xfrm>
            <a:off x="900914" y="1739918"/>
            <a:ext cx="7496175" cy="368617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Architecture</a:t>
            </a:r>
          </a:p>
        </p:txBody>
      </p:sp>
      <p:sp>
        <p:nvSpPr>
          <p:cNvPr id="52" name="Google Shape;52;p3"/>
          <p:cNvSpPr/>
          <p:nvPr/>
        </p:nvSpPr>
        <p:spPr>
          <a:xfrm>
            <a:off x="383250" y="1789925"/>
            <a:ext cx="8533200" cy="4154943"/>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Step 1:</a:t>
            </a:r>
            <a:r>
              <a:rPr lang="en-US" sz="2400" dirty="0" smtClean="0"/>
              <a:t> The client navigates to a file ending with</a:t>
            </a:r>
            <a:r>
              <a:rPr lang="en-US" sz="2400" b="1" i="1" dirty="0" smtClean="0"/>
              <a:t> </a:t>
            </a:r>
            <a:r>
              <a:rPr lang="en-US" sz="2400" dirty="0" smtClean="0"/>
              <a:t>the</a:t>
            </a:r>
            <a:r>
              <a:rPr lang="en-US" sz="2400" b="1" dirty="0" smtClean="0"/>
              <a:t> </a:t>
            </a:r>
            <a:r>
              <a:rPr lang="en-US" sz="2400" b="1" i="1" u="sng" dirty="0" smtClean="0">
                <a:hlinkClick r:id="rId3"/>
              </a:rPr>
              <a:t>.</a:t>
            </a:r>
            <a:r>
              <a:rPr lang="en-US" sz="2400" b="1" i="1" u="sng" dirty="0" err="1" smtClean="0">
                <a:hlinkClick r:id="rId3"/>
              </a:rPr>
              <a:t>jsp</a:t>
            </a:r>
            <a:r>
              <a:rPr lang="en-US" sz="2400" b="1" i="1" u="sng" dirty="0" smtClean="0">
                <a:hlinkClick r:id="rId3"/>
              </a:rPr>
              <a:t> extension</a:t>
            </a:r>
            <a:r>
              <a:rPr lang="en-US" sz="2400" u="sng" dirty="0" smtClean="0">
                <a:hlinkClick r:id="rId3"/>
              </a:rPr>
              <a:t> </a:t>
            </a:r>
            <a:r>
              <a:rPr lang="en-US" sz="2400" dirty="0" smtClean="0"/>
              <a:t>and the browser initiates an HTTP request to the </a:t>
            </a:r>
            <a:r>
              <a:rPr lang="en-US" sz="2400" dirty="0" err="1" smtClean="0"/>
              <a:t>webserver</a:t>
            </a:r>
            <a:r>
              <a:rPr lang="en-US" sz="2400" dirty="0" smtClean="0"/>
              <a:t>. </a:t>
            </a:r>
          </a:p>
          <a:p>
            <a:pPr algn="just" fontAlgn="base"/>
            <a:r>
              <a:rPr lang="en-US" sz="2400" b="1" dirty="0" smtClean="0"/>
              <a:t>For example,</a:t>
            </a:r>
            <a:r>
              <a:rPr lang="en-US" sz="2400" dirty="0" smtClean="0"/>
              <a:t> the user enters the login details and submits the button. The browser requests a status.jsp page from the </a:t>
            </a:r>
            <a:r>
              <a:rPr lang="en-US" sz="2400" dirty="0" err="1" smtClean="0"/>
              <a:t>webserver</a:t>
            </a:r>
            <a:r>
              <a:rPr lang="en-US" sz="2400" dirty="0" smtClean="0"/>
              <a:t>.</a:t>
            </a:r>
          </a:p>
          <a:p>
            <a:pPr algn="just" fontAlgn="base"/>
            <a:endParaRPr lang="en-US" sz="2400" dirty="0" smtClean="0"/>
          </a:p>
          <a:p>
            <a:pPr algn="just" fontAlgn="base"/>
            <a:r>
              <a:rPr lang="en-US" sz="2400" b="1" dirty="0" smtClean="0"/>
              <a:t>Step 2:</a:t>
            </a:r>
            <a:r>
              <a:rPr lang="en-US" sz="2400" dirty="0" smtClean="0"/>
              <a:t> If the compiled version of JSP exists in the web server, it returns the file. Otherwise, the request is forwarded to the JSP Engine. This is done by recognizing the URL ending with </a:t>
            </a:r>
            <a:r>
              <a:rPr lang="en-US" sz="2400" b="1" dirty="0" smtClean="0"/>
              <a:t>.</a:t>
            </a:r>
            <a:r>
              <a:rPr lang="en-US" sz="2400" b="1" dirty="0" err="1" smtClean="0"/>
              <a:t>jsp</a:t>
            </a:r>
            <a:r>
              <a:rPr lang="en-US" sz="2400" b="1" dirty="0" smtClean="0"/>
              <a:t> </a:t>
            </a:r>
            <a:r>
              <a:rPr lang="en-US" sz="2400" dirty="0" smtClean="0"/>
              <a:t>extension.</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Architecture</a:t>
            </a:r>
          </a:p>
        </p:txBody>
      </p:sp>
      <p:sp>
        <p:nvSpPr>
          <p:cNvPr id="52" name="Google Shape;52;p3"/>
          <p:cNvSpPr/>
          <p:nvPr/>
        </p:nvSpPr>
        <p:spPr>
          <a:xfrm>
            <a:off x="383250" y="1789925"/>
            <a:ext cx="8533200" cy="3416279"/>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Step 3:</a:t>
            </a:r>
            <a:r>
              <a:rPr lang="en-US" sz="2400" dirty="0" smtClean="0"/>
              <a:t> The JSP Engine loads the JSP file and translates the JSP to </a:t>
            </a:r>
            <a:r>
              <a:rPr lang="en-US" sz="2400" dirty="0" err="1" smtClean="0"/>
              <a:t>Servlet</a:t>
            </a:r>
            <a:r>
              <a:rPr lang="en-US" sz="2400" dirty="0" smtClean="0"/>
              <a:t>(Java code). This is done by converting all the template text into </a:t>
            </a:r>
            <a:r>
              <a:rPr lang="en-US" sz="2400" dirty="0" err="1" smtClean="0"/>
              <a:t>println</a:t>
            </a:r>
            <a:r>
              <a:rPr lang="en-US" sz="2400" dirty="0" smtClean="0"/>
              <a:t>() statements and JSP elements to Java code. This process is called </a:t>
            </a:r>
            <a:r>
              <a:rPr lang="en-US" sz="2400" b="1" dirty="0" smtClean="0"/>
              <a:t>translation.</a:t>
            </a:r>
          </a:p>
          <a:p>
            <a:pPr algn="just" fontAlgn="base"/>
            <a:endParaRPr lang="en-US" sz="2400" b="1" dirty="0" smtClean="0"/>
          </a:p>
          <a:p>
            <a:pPr algn="just" fontAlgn="base"/>
            <a:r>
              <a:rPr lang="en-US" sz="2400" b="1" dirty="0" smtClean="0"/>
              <a:t>Step 4:</a:t>
            </a:r>
            <a:r>
              <a:rPr lang="en-US" sz="2400" dirty="0" smtClean="0"/>
              <a:t> The JSP engine compiles the </a:t>
            </a:r>
            <a:r>
              <a:rPr lang="en-US" sz="2400" dirty="0" err="1" smtClean="0"/>
              <a:t>Servlet</a:t>
            </a:r>
            <a:r>
              <a:rPr lang="en-US" sz="2400" dirty="0" smtClean="0"/>
              <a:t> to an executable </a:t>
            </a:r>
            <a:r>
              <a:rPr lang="en-US" sz="2400" b="1" dirty="0" smtClean="0"/>
              <a:t>.class </a:t>
            </a:r>
            <a:r>
              <a:rPr lang="en-US" sz="2400" dirty="0" smtClean="0"/>
              <a:t>file. It is forwarded to the </a:t>
            </a:r>
            <a:r>
              <a:rPr lang="en-US" sz="2400" dirty="0" err="1" smtClean="0"/>
              <a:t>Servlet</a:t>
            </a:r>
            <a:r>
              <a:rPr lang="en-US" sz="2400" dirty="0" smtClean="0"/>
              <a:t> engine. This process is called </a:t>
            </a:r>
            <a:r>
              <a:rPr lang="en-US" sz="2400" b="1" dirty="0" smtClean="0"/>
              <a:t>compilation </a:t>
            </a:r>
            <a:r>
              <a:rPr lang="en-US" sz="2400" dirty="0" smtClean="0"/>
              <a:t>or </a:t>
            </a:r>
            <a:r>
              <a:rPr lang="en-US" sz="2400" b="1" dirty="0" smtClean="0"/>
              <a:t>request processing phase.</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Architecture</a:t>
            </a:r>
          </a:p>
        </p:txBody>
      </p:sp>
      <p:sp>
        <p:nvSpPr>
          <p:cNvPr id="52" name="Google Shape;52;p3"/>
          <p:cNvSpPr/>
          <p:nvPr/>
        </p:nvSpPr>
        <p:spPr>
          <a:xfrm>
            <a:off x="383250" y="1789925"/>
            <a:ext cx="8533200" cy="2677616"/>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Step 5:</a:t>
            </a:r>
            <a:r>
              <a:rPr lang="en-US" sz="2400" dirty="0" smtClean="0"/>
              <a:t> The </a:t>
            </a:r>
            <a:r>
              <a:rPr lang="en-US" sz="2400" b="1" dirty="0" smtClean="0"/>
              <a:t>.class </a:t>
            </a:r>
            <a:r>
              <a:rPr lang="en-US" sz="2400" dirty="0" smtClean="0"/>
              <a:t>file is executed by the </a:t>
            </a:r>
            <a:r>
              <a:rPr lang="en-US" sz="2400" dirty="0" err="1" smtClean="0"/>
              <a:t>Servlet</a:t>
            </a:r>
            <a:r>
              <a:rPr lang="en-US" sz="2400" dirty="0" smtClean="0"/>
              <a:t> engine which is a part of the Web Server. The output is an HTML file. The </a:t>
            </a:r>
            <a:r>
              <a:rPr lang="en-US" sz="2400" dirty="0" err="1" smtClean="0"/>
              <a:t>Servlet</a:t>
            </a:r>
            <a:r>
              <a:rPr lang="en-US" sz="2400" dirty="0" smtClean="0"/>
              <a:t> engine passes the output as an HTTP response to the </a:t>
            </a:r>
            <a:r>
              <a:rPr lang="en-US" sz="2400" dirty="0" err="1" smtClean="0"/>
              <a:t>webserver</a:t>
            </a:r>
            <a:r>
              <a:rPr lang="en-US" sz="2400" dirty="0" smtClean="0"/>
              <a:t>.</a:t>
            </a:r>
          </a:p>
          <a:p>
            <a:pPr algn="just" fontAlgn="base"/>
            <a:endParaRPr lang="en-US" sz="2400" dirty="0" smtClean="0"/>
          </a:p>
          <a:p>
            <a:pPr algn="just" fontAlgn="base"/>
            <a:r>
              <a:rPr lang="en-US" sz="2400" b="1" dirty="0" smtClean="0"/>
              <a:t>Step 6:</a:t>
            </a:r>
            <a:r>
              <a:rPr lang="en-US" sz="2400" dirty="0" smtClean="0"/>
              <a:t> The web server forwards the HTML file to the client’s browser.</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Lifecycle</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pic>
        <p:nvPicPr>
          <p:cNvPr id="4098" name="Picture 2"/>
          <p:cNvPicPr>
            <a:picLocks noChangeAspect="1" noChangeArrowheads="1"/>
          </p:cNvPicPr>
          <p:nvPr/>
        </p:nvPicPr>
        <p:blipFill>
          <a:blip r:embed="rId3"/>
          <a:srcRect/>
          <a:stretch>
            <a:fillRect/>
          </a:stretch>
        </p:blipFill>
        <p:spPr bwMode="auto">
          <a:xfrm>
            <a:off x="1241659" y="1521945"/>
            <a:ext cx="6927483" cy="4724851"/>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Lifecycle</a:t>
            </a:r>
          </a:p>
        </p:txBody>
      </p:sp>
      <p:sp>
        <p:nvSpPr>
          <p:cNvPr id="52" name="Google Shape;52;p3"/>
          <p:cNvSpPr/>
          <p:nvPr/>
        </p:nvSpPr>
        <p:spPr>
          <a:xfrm>
            <a:off x="383250" y="1789925"/>
            <a:ext cx="8533200" cy="4154943"/>
          </a:xfrm>
          <a:prstGeom prst="rect">
            <a:avLst/>
          </a:prstGeom>
          <a:noFill/>
          <a:ln>
            <a:noFill/>
          </a:ln>
        </p:spPr>
        <p:txBody>
          <a:bodyPr spcFirstLastPara="1" wrap="square" lIns="91425" tIns="45700" rIns="91425" bIns="45700" anchor="t" anchorCtr="0">
            <a:spAutoFit/>
          </a:bodyPr>
          <a:lstStyle/>
          <a:p>
            <a:pPr fontAlgn="base"/>
            <a:r>
              <a:rPr lang="en-US" sz="2400" b="1" dirty="0" smtClean="0"/>
              <a:t>Steps of JSP Life Cycle </a:t>
            </a:r>
          </a:p>
          <a:p>
            <a:pPr marL="457200" indent="-457200" fontAlgn="base">
              <a:buFont typeface="+mj-lt"/>
              <a:buAutoNum type="arabicPeriod"/>
            </a:pPr>
            <a:r>
              <a:rPr lang="en-US" sz="2400" dirty="0" smtClean="0"/>
              <a:t>Translation of JSP page to </a:t>
            </a:r>
            <a:r>
              <a:rPr lang="en-US" sz="2400" dirty="0" err="1" smtClean="0"/>
              <a:t>Servlet</a:t>
            </a:r>
            <a:endParaRPr lang="en-US" sz="2400" dirty="0" smtClean="0"/>
          </a:p>
          <a:p>
            <a:pPr marL="457200" indent="-457200" fontAlgn="base">
              <a:buFont typeface="+mj-lt"/>
              <a:buAutoNum type="arabicPeriod"/>
            </a:pPr>
            <a:r>
              <a:rPr lang="en-US" sz="2400" dirty="0" smtClean="0"/>
              <a:t>Compilation of JSP page(Compilation of JSP into test.java)</a:t>
            </a:r>
          </a:p>
          <a:p>
            <a:pPr marL="457200" indent="-457200" fontAlgn="base">
              <a:buFont typeface="+mj-lt"/>
              <a:buAutoNum type="arabicPeriod"/>
            </a:pPr>
            <a:r>
              <a:rPr lang="en-US" sz="2400" dirty="0" err="1" smtClean="0"/>
              <a:t>Classloading</a:t>
            </a:r>
            <a:r>
              <a:rPr lang="en-US" sz="2400" dirty="0" smtClean="0"/>
              <a:t> (test.java to </a:t>
            </a:r>
            <a:r>
              <a:rPr lang="en-US" sz="2400" dirty="0" err="1" smtClean="0"/>
              <a:t>test.class</a:t>
            </a:r>
            <a:r>
              <a:rPr lang="en-US" sz="2400" dirty="0" smtClean="0"/>
              <a:t>)</a:t>
            </a:r>
          </a:p>
          <a:p>
            <a:pPr marL="457200" indent="-457200" fontAlgn="base">
              <a:buFont typeface="+mj-lt"/>
              <a:buAutoNum type="arabicPeriod"/>
            </a:pPr>
            <a:r>
              <a:rPr lang="en-US" sz="2400" dirty="0" smtClean="0"/>
              <a:t>Instantiation(Object of the generated </a:t>
            </a:r>
            <a:r>
              <a:rPr lang="en-US" sz="2400" dirty="0" err="1" smtClean="0"/>
              <a:t>Servlet</a:t>
            </a:r>
            <a:r>
              <a:rPr lang="en-US" sz="2400" dirty="0" smtClean="0"/>
              <a:t> is created)</a:t>
            </a:r>
          </a:p>
          <a:p>
            <a:pPr marL="457200" indent="-457200" fontAlgn="base">
              <a:buFont typeface="+mj-lt"/>
              <a:buAutoNum type="arabicPeriod"/>
            </a:pPr>
            <a:r>
              <a:rPr lang="en-US" sz="2400" dirty="0" smtClean="0"/>
              <a:t>Initialization(</a:t>
            </a:r>
            <a:r>
              <a:rPr lang="en-US" sz="2400" dirty="0" err="1" smtClean="0"/>
              <a:t>jspInit</a:t>
            </a:r>
            <a:r>
              <a:rPr lang="en-US" sz="2400" dirty="0" smtClean="0"/>
              <a:t>() method is invoked by the container)</a:t>
            </a:r>
          </a:p>
          <a:p>
            <a:pPr marL="457200" indent="-457200" fontAlgn="base">
              <a:buFont typeface="+mj-lt"/>
              <a:buAutoNum type="arabicPeriod"/>
            </a:pPr>
            <a:r>
              <a:rPr lang="en-US" sz="2400" dirty="0" smtClean="0"/>
              <a:t>Request processing(_</a:t>
            </a:r>
            <a:r>
              <a:rPr lang="en-US" sz="2400" dirty="0" err="1" smtClean="0"/>
              <a:t>jspService</a:t>
            </a:r>
            <a:r>
              <a:rPr lang="en-US" sz="2400" dirty="0" smtClean="0"/>
              <a:t>()is invoked by the container)</a:t>
            </a:r>
          </a:p>
          <a:p>
            <a:pPr marL="457200" indent="-457200" fontAlgn="base">
              <a:buFont typeface="+mj-lt"/>
              <a:buAutoNum type="arabicPeriod"/>
            </a:pPr>
            <a:r>
              <a:rPr lang="en-US" sz="2400" dirty="0" smtClean="0"/>
              <a:t>JSP Cleanup (</a:t>
            </a:r>
            <a:r>
              <a:rPr lang="en-US" sz="2400" dirty="0" err="1" smtClean="0"/>
              <a:t>jspDestroy</a:t>
            </a:r>
            <a:r>
              <a:rPr lang="en-US" sz="2400" dirty="0" smtClean="0"/>
              <a:t>() method is invoked by the container)</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Lifecycle</a:t>
            </a:r>
          </a:p>
        </p:txBody>
      </p:sp>
      <p:sp>
        <p:nvSpPr>
          <p:cNvPr id="52" name="Google Shape;52;p3"/>
          <p:cNvSpPr/>
          <p:nvPr/>
        </p:nvSpPr>
        <p:spPr>
          <a:xfrm>
            <a:off x="383250" y="1789925"/>
            <a:ext cx="8533200" cy="4524275"/>
          </a:xfrm>
          <a:prstGeom prst="rect">
            <a:avLst/>
          </a:prstGeom>
          <a:noFill/>
          <a:ln>
            <a:noFill/>
          </a:ln>
        </p:spPr>
        <p:txBody>
          <a:bodyPr spcFirstLastPara="1" wrap="square" lIns="91425" tIns="45700" rIns="91425" bIns="45700" anchor="t" anchorCtr="0">
            <a:spAutoFit/>
          </a:bodyPr>
          <a:lstStyle/>
          <a:p>
            <a:pPr fontAlgn="base"/>
            <a:r>
              <a:rPr lang="en-US" sz="2400" b="1" dirty="0" smtClean="0"/>
              <a:t>Steps of JSP Life Cycle </a:t>
            </a:r>
          </a:p>
          <a:p>
            <a:pPr marL="457200" indent="-457200" fontAlgn="base">
              <a:buFont typeface="+mj-lt"/>
              <a:buAutoNum type="arabicPeriod"/>
            </a:pPr>
            <a:r>
              <a:rPr lang="en-US" sz="2400" dirty="0" smtClean="0"/>
              <a:t>Translation of JSP page to </a:t>
            </a:r>
            <a:r>
              <a:rPr lang="en-US" sz="2400" dirty="0" err="1" smtClean="0"/>
              <a:t>Servlet</a:t>
            </a:r>
            <a:endParaRPr lang="en-US" sz="2400" dirty="0" smtClean="0"/>
          </a:p>
          <a:p>
            <a:pPr marL="457200" indent="-457200" fontAlgn="base"/>
            <a:endParaRPr lang="en-US" sz="2400" dirty="0" smtClean="0"/>
          </a:p>
          <a:p>
            <a:pPr fontAlgn="base"/>
            <a:r>
              <a:rPr lang="en-US" sz="2400" dirty="0" smtClean="0"/>
              <a:t>The JSP file is parsed and converted into a Java </a:t>
            </a:r>
            <a:r>
              <a:rPr lang="en-US" sz="2400" dirty="0" err="1" smtClean="0"/>
              <a:t>servlet</a:t>
            </a:r>
            <a:r>
              <a:rPr lang="en-US" sz="2400" dirty="0" smtClean="0"/>
              <a:t> source file (test.java).</a:t>
            </a:r>
          </a:p>
          <a:p>
            <a:pPr fontAlgn="base"/>
            <a:r>
              <a:rPr lang="en-US" sz="2400" dirty="0" smtClean="0"/>
              <a:t>This step checks for syntax correctness.</a:t>
            </a:r>
          </a:p>
          <a:p>
            <a:pPr fontAlgn="base"/>
            <a:endParaRPr lang="en-US" sz="2400" dirty="0" smtClean="0"/>
          </a:p>
          <a:p>
            <a:pPr fontAlgn="base"/>
            <a:r>
              <a:rPr lang="en-US" sz="2400" i="1" dirty="0" smtClean="0"/>
              <a:t>public class </a:t>
            </a:r>
            <a:r>
              <a:rPr lang="en-US" sz="2400" i="1" dirty="0" err="1" smtClean="0"/>
              <a:t>TestServlet</a:t>
            </a:r>
            <a:r>
              <a:rPr lang="en-US" sz="2400" i="1" dirty="0" smtClean="0"/>
              <a:t> extends </a:t>
            </a:r>
            <a:r>
              <a:rPr lang="en-US" sz="2400" i="1" dirty="0" err="1" smtClean="0"/>
              <a:t>HttpServlet</a:t>
            </a:r>
            <a:r>
              <a:rPr lang="en-US" sz="2400" i="1" dirty="0" smtClean="0"/>
              <a:t> {</a:t>
            </a:r>
          </a:p>
          <a:p>
            <a:pPr fontAlgn="base"/>
            <a:r>
              <a:rPr lang="en-US" sz="2400" i="1" dirty="0" smtClean="0"/>
              <a:t>// The generated </a:t>
            </a:r>
            <a:r>
              <a:rPr lang="en-US" sz="2400" i="1" dirty="0" err="1" smtClean="0"/>
              <a:t>servlet</a:t>
            </a:r>
            <a:r>
              <a:rPr lang="en-US" sz="2400" i="1" dirty="0" smtClean="0"/>
              <a:t> code</a:t>
            </a:r>
          </a:p>
          <a:p>
            <a:pPr fontAlgn="base"/>
            <a:r>
              <a:rPr lang="en-US" sz="2400" i="1" dirty="0" smtClean="0"/>
              <a:t>}</a:t>
            </a:r>
          </a:p>
          <a:p>
            <a:r>
              <a:rPr lang="en-US" sz="2400" dirty="0" smtClean="0"/>
              <a:t/>
            </a:r>
            <a:br>
              <a:rPr lang="en-US" sz="2400" dirty="0" smtClean="0"/>
            </a:br>
            <a:endParaRPr lang="en-US" sz="2400"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Lifecycle</a:t>
            </a:r>
          </a:p>
        </p:txBody>
      </p:sp>
      <p:sp>
        <p:nvSpPr>
          <p:cNvPr id="52" name="Google Shape;52;p3"/>
          <p:cNvSpPr/>
          <p:nvPr/>
        </p:nvSpPr>
        <p:spPr>
          <a:xfrm>
            <a:off x="383250" y="1789925"/>
            <a:ext cx="8533200" cy="4154943"/>
          </a:xfrm>
          <a:prstGeom prst="rect">
            <a:avLst/>
          </a:prstGeom>
          <a:noFill/>
          <a:ln>
            <a:noFill/>
          </a:ln>
        </p:spPr>
        <p:txBody>
          <a:bodyPr spcFirstLastPara="1" wrap="square" lIns="91425" tIns="45700" rIns="91425" bIns="45700" anchor="t" anchorCtr="0">
            <a:spAutoFit/>
          </a:bodyPr>
          <a:lstStyle/>
          <a:p>
            <a:pPr fontAlgn="base"/>
            <a:r>
              <a:rPr lang="en-US" sz="2400" b="1" dirty="0" smtClean="0"/>
              <a:t>Steps of JSP Life Cycle </a:t>
            </a:r>
          </a:p>
          <a:p>
            <a:pPr fontAlgn="base"/>
            <a:endParaRPr lang="en-US" sz="2400" b="1" dirty="0" smtClean="0"/>
          </a:p>
          <a:p>
            <a:pPr fontAlgn="base"/>
            <a:r>
              <a:rPr lang="en-US" sz="2400" b="1" dirty="0" smtClean="0"/>
              <a:t>2. Compilation of JSP page</a:t>
            </a:r>
          </a:p>
          <a:p>
            <a:pPr fontAlgn="base"/>
            <a:endParaRPr lang="en-US" sz="2400" b="1" dirty="0" smtClean="0"/>
          </a:p>
          <a:p>
            <a:pPr algn="just" fontAlgn="base"/>
            <a:r>
              <a:rPr lang="en-US" sz="2400" dirty="0" smtClean="0"/>
              <a:t>The generated test.java file is compiled into a class file (</a:t>
            </a:r>
            <a:r>
              <a:rPr lang="en-US" sz="2400" dirty="0" err="1" smtClean="0"/>
              <a:t>test.class</a:t>
            </a:r>
            <a:r>
              <a:rPr lang="en-US" sz="2400" dirty="0" smtClean="0"/>
              <a:t>).</a:t>
            </a:r>
          </a:p>
          <a:p>
            <a:pPr algn="just" fontAlgn="base"/>
            <a:r>
              <a:rPr lang="en-US" sz="2400" dirty="0" smtClean="0"/>
              <a:t>This step converts the </a:t>
            </a:r>
            <a:r>
              <a:rPr lang="en-US" sz="2400" dirty="0" err="1" smtClean="0"/>
              <a:t>servlet</a:t>
            </a:r>
            <a:r>
              <a:rPr lang="en-US" sz="2400" dirty="0" smtClean="0"/>
              <a:t> code into </a:t>
            </a:r>
            <a:r>
              <a:rPr lang="en-US" sz="2400" dirty="0" err="1" smtClean="0"/>
              <a:t>bytecode</a:t>
            </a:r>
            <a:r>
              <a:rPr lang="en-US" sz="2400" dirty="0" smtClean="0"/>
              <a:t>.</a:t>
            </a:r>
          </a:p>
          <a:p>
            <a:pPr fontAlgn="base"/>
            <a:endParaRPr lang="en-US" sz="2400" dirty="0" smtClean="0"/>
          </a:p>
          <a:p>
            <a:pPr fontAlgn="base"/>
            <a:r>
              <a:rPr lang="en-US" sz="2400" b="1" dirty="0" smtClean="0"/>
              <a:t>public</a:t>
            </a:r>
            <a:r>
              <a:rPr lang="en-US" sz="2400" dirty="0" smtClean="0"/>
              <a:t> </a:t>
            </a:r>
            <a:r>
              <a:rPr lang="en-US" sz="2400" b="1" dirty="0" smtClean="0"/>
              <a:t>class</a:t>
            </a:r>
            <a:r>
              <a:rPr lang="en-US" sz="2400" dirty="0" smtClean="0"/>
              <a:t> </a:t>
            </a:r>
            <a:r>
              <a:rPr lang="en-US" sz="2400" b="1" dirty="0" err="1" smtClean="0"/>
              <a:t>TestServlet</a:t>
            </a:r>
            <a:r>
              <a:rPr lang="en-US" sz="2400" dirty="0" smtClean="0"/>
              <a:t> </a:t>
            </a:r>
            <a:r>
              <a:rPr lang="en-US" sz="2400" b="1" dirty="0" smtClean="0"/>
              <a:t>extends</a:t>
            </a:r>
            <a:r>
              <a:rPr lang="en-US" sz="2400" dirty="0" smtClean="0"/>
              <a:t> </a:t>
            </a:r>
            <a:r>
              <a:rPr lang="en-US" sz="2400" dirty="0" err="1" smtClean="0"/>
              <a:t>HttpServlet</a:t>
            </a:r>
            <a:r>
              <a:rPr lang="en-US" sz="2400" dirty="0" smtClean="0"/>
              <a:t> { </a:t>
            </a:r>
          </a:p>
          <a:p>
            <a:pPr fontAlgn="base"/>
            <a:r>
              <a:rPr lang="en-US" sz="2400" i="1" dirty="0" smtClean="0"/>
              <a:t>	// Generated </a:t>
            </a:r>
            <a:r>
              <a:rPr lang="en-US" sz="2400" i="1" dirty="0" err="1" smtClean="0"/>
              <a:t>servlet</a:t>
            </a:r>
            <a:r>
              <a:rPr lang="en-US" sz="2400" i="1" dirty="0" smtClean="0"/>
              <a:t> code here</a:t>
            </a:r>
            <a:r>
              <a:rPr lang="en-US" sz="2400" dirty="0" smtClean="0"/>
              <a:t> </a:t>
            </a:r>
          </a:p>
          <a:p>
            <a:pPr fontAlgn="base"/>
            <a:r>
              <a:rPr lang="en-US" sz="2400" dirty="0" smtClean="0"/>
              <a: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Lifecycle</a:t>
            </a:r>
          </a:p>
        </p:txBody>
      </p:sp>
      <p:sp>
        <p:nvSpPr>
          <p:cNvPr id="52" name="Google Shape;52;p3"/>
          <p:cNvSpPr/>
          <p:nvPr/>
        </p:nvSpPr>
        <p:spPr>
          <a:xfrm>
            <a:off x="383250" y="1789925"/>
            <a:ext cx="8533200" cy="1938952"/>
          </a:xfrm>
          <a:prstGeom prst="rect">
            <a:avLst/>
          </a:prstGeom>
          <a:noFill/>
          <a:ln>
            <a:noFill/>
          </a:ln>
        </p:spPr>
        <p:txBody>
          <a:bodyPr spcFirstLastPara="1" wrap="square" lIns="91425" tIns="45700" rIns="91425" bIns="45700" anchor="t" anchorCtr="0">
            <a:spAutoFit/>
          </a:bodyPr>
          <a:lstStyle/>
          <a:p>
            <a:pPr fontAlgn="base"/>
            <a:r>
              <a:rPr lang="en-US" sz="2400" b="1" dirty="0" smtClean="0"/>
              <a:t>Steps of JSP Life Cycle </a:t>
            </a:r>
          </a:p>
          <a:p>
            <a:pPr fontAlgn="base"/>
            <a:endParaRPr lang="en-US" sz="2400" b="1" dirty="0" smtClean="0"/>
          </a:p>
          <a:p>
            <a:pPr fontAlgn="base"/>
            <a:r>
              <a:rPr lang="en-US" sz="2400" b="1" dirty="0" smtClean="0"/>
              <a:t>3. </a:t>
            </a:r>
            <a:r>
              <a:rPr lang="en-US" sz="2400" b="1" dirty="0" err="1" smtClean="0"/>
              <a:t>Classloading</a:t>
            </a:r>
            <a:endParaRPr lang="en-US" sz="2400" b="1" dirty="0" smtClean="0"/>
          </a:p>
          <a:p>
            <a:pPr fontAlgn="base"/>
            <a:endParaRPr lang="en-US" sz="2400" b="1" dirty="0" smtClean="0"/>
          </a:p>
          <a:p>
            <a:pPr fontAlgn="base"/>
            <a:r>
              <a:rPr lang="en-US" sz="2400" dirty="0" smtClean="0"/>
              <a:t>The container dynamically loads the compiled class.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Lifecycle</a:t>
            </a:r>
          </a:p>
        </p:txBody>
      </p:sp>
      <p:sp>
        <p:nvSpPr>
          <p:cNvPr id="52" name="Google Shape;52;p3"/>
          <p:cNvSpPr/>
          <p:nvPr/>
        </p:nvSpPr>
        <p:spPr>
          <a:xfrm>
            <a:off x="383250" y="1789925"/>
            <a:ext cx="8533200" cy="4524275"/>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Steps of JSP Life Cycle </a:t>
            </a:r>
          </a:p>
          <a:p>
            <a:pPr algn="just" fontAlgn="base"/>
            <a:endParaRPr lang="en-US" sz="2400" b="1" dirty="0" smtClean="0"/>
          </a:p>
          <a:p>
            <a:pPr algn="just" fontAlgn="base"/>
            <a:r>
              <a:rPr lang="en-US" sz="2400" b="1" dirty="0" smtClean="0"/>
              <a:t>4. Instantiation</a:t>
            </a:r>
          </a:p>
          <a:p>
            <a:pPr algn="just" fontAlgn="base"/>
            <a:endParaRPr lang="en-US" sz="2400" b="1" dirty="0" smtClean="0"/>
          </a:p>
          <a:p>
            <a:pPr algn="just" fontAlgn="base"/>
            <a:r>
              <a:rPr lang="en-US" sz="2400" dirty="0" smtClean="0"/>
              <a:t>The container creates an instance of the generated </a:t>
            </a:r>
            <a:r>
              <a:rPr lang="en-US" sz="2400" dirty="0" err="1" smtClean="0"/>
              <a:t>servlet</a:t>
            </a:r>
            <a:r>
              <a:rPr lang="en-US" sz="2400" dirty="0" smtClean="0"/>
              <a:t> class.</a:t>
            </a:r>
          </a:p>
          <a:p>
            <a:pPr algn="just" fontAlgn="base"/>
            <a:r>
              <a:rPr lang="en-US" sz="2400" dirty="0" smtClean="0"/>
              <a:t>This instance handles multiple requests unless explicitly configured otherwise.</a:t>
            </a:r>
          </a:p>
          <a:p>
            <a:pPr algn="just" fontAlgn="base"/>
            <a:endParaRPr lang="en-US" sz="2400" dirty="0" smtClean="0"/>
          </a:p>
          <a:p>
            <a:pPr fontAlgn="base"/>
            <a:r>
              <a:rPr lang="en-US" sz="2400" dirty="0" err="1" smtClean="0"/>
              <a:t>TestServlet</a:t>
            </a:r>
            <a:r>
              <a:rPr lang="en-US" sz="2400" dirty="0" smtClean="0"/>
              <a:t> </a:t>
            </a:r>
            <a:r>
              <a:rPr lang="en-US" sz="2400" dirty="0" err="1" smtClean="0"/>
              <a:t>servlet</a:t>
            </a:r>
            <a:r>
              <a:rPr lang="en-US" sz="2400" dirty="0" smtClean="0"/>
              <a:t> = </a:t>
            </a:r>
            <a:r>
              <a:rPr lang="en-US" sz="2400" b="1" dirty="0" smtClean="0"/>
              <a:t>new</a:t>
            </a:r>
            <a:r>
              <a:rPr lang="en-US" sz="2400" dirty="0" smtClean="0"/>
              <a:t> </a:t>
            </a:r>
            <a:r>
              <a:rPr lang="en-US" sz="2400" dirty="0" err="1" smtClean="0"/>
              <a:t>TestServlet</a:t>
            </a:r>
            <a:r>
              <a:rPr lang="en-US" sz="2400" dirty="0" smtClean="0"/>
              <a:t>(); </a:t>
            </a:r>
          </a:p>
          <a:p>
            <a:r>
              <a:rPr lang="en-US" sz="2400" dirty="0" smtClean="0"/>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Lifecycle</a:t>
            </a:r>
          </a:p>
        </p:txBody>
      </p:sp>
      <p:sp>
        <p:nvSpPr>
          <p:cNvPr id="52" name="Google Shape;52;p3"/>
          <p:cNvSpPr/>
          <p:nvPr/>
        </p:nvSpPr>
        <p:spPr>
          <a:xfrm>
            <a:off x="383250" y="1789925"/>
            <a:ext cx="8533200" cy="4893607"/>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Steps of JSP Life Cycle </a:t>
            </a:r>
          </a:p>
          <a:p>
            <a:pPr algn="just" fontAlgn="base"/>
            <a:endParaRPr lang="en-US" sz="2400" b="1" dirty="0" smtClean="0"/>
          </a:p>
          <a:p>
            <a:pPr fontAlgn="base"/>
            <a:r>
              <a:rPr lang="en-US" sz="2400" b="1" dirty="0" smtClean="0"/>
              <a:t>5. Initialization (</a:t>
            </a:r>
            <a:r>
              <a:rPr lang="en-US" sz="2400" b="1" dirty="0" err="1" smtClean="0"/>
              <a:t>jspInit</a:t>
            </a:r>
            <a:r>
              <a:rPr lang="en-US" sz="2400" b="1" dirty="0" smtClean="0"/>
              <a:t>())</a:t>
            </a:r>
          </a:p>
          <a:p>
            <a:pPr fontAlgn="base"/>
            <a:r>
              <a:rPr lang="en-US" sz="2400" dirty="0" smtClean="0"/>
              <a:t/>
            </a:r>
            <a:br>
              <a:rPr lang="en-US" sz="2400" dirty="0" smtClean="0"/>
            </a:br>
            <a:r>
              <a:rPr lang="en-US" sz="2400" dirty="0" smtClean="0"/>
              <a:t>This method is called only once when the JSP is first loaded.</a:t>
            </a:r>
          </a:p>
          <a:p>
            <a:pPr fontAlgn="base"/>
            <a:r>
              <a:rPr lang="en-US" sz="2400" dirty="0" smtClean="0"/>
              <a:t>It is used for initializing resources like database connections or configurations.</a:t>
            </a:r>
          </a:p>
          <a:p>
            <a:endParaRPr lang="en-US" sz="2400" dirty="0" smtClean="0"/>
          </a:p>
          <a:p>
            <a:r>
              <a:rPr lang="en-US" sz="2400" b="1" dirty="0" smtClean="0"/>
              <a:t>public</a:t>
            </a:r>
            <a:r>
              <a:rPr lang="en-US" sz="2400" dirty="0" smtClean="0"/>
              <a:t> void </a:t>
            </a:r>
            <a:r>
              <a:rPr lang="en-US" sz="2400" dirty="0" err="1" smtClean="0"/>
              <a:t>jspInit</a:t>
            </a:r>
            <a:r>
              <a:rPr lang="en-US" sz="2400" dirty="0" smtClean="0"/>
              <a:t>() { </a:t>
            </a:r>
          </a:p>
          <a:p>
            <a:r>
              <a:rPr lang="en-US" sz="2400" i="1" dirty="0" smtClean="0"/>
              <a:t>	// Initialization code, like setting up resources.</a:t>
            </a:r>
            <a:r>
              <a:rPr lang="en-US" sz="2400" dirty="0" smtClean="0"/>
              <a:t> 	</a:t>
            </a:r>
            <a:r>
              <a:rPr lang="en-US" sz="2400" dirty="0" err="1" smtClean="0"/>
              <a:t>System.out.println</a:t>
            </a:r>
            <a:r>
              <a:rPr lang="en-US" sz="2400" dirty="0" smtClean="0"/>
              <a:t>("JSP Initialized.");</a:t>
            </a:r>
          </a:p>
          <a:p>
            <a:r>
              <a:rPr lang="en-US" sz="2400" dirty="0" smtClean="0"/>
              <a:t>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Lifecycle</a:t>
            </a:r>
          </a:p>
        </p:txBody>
      </p:sp>
      <p:sp>
        <p:nvSpPr>
          <p:cNvPr id="52" name="Google Shape;52;p3"/>
          <p:cNvSpPr/>
          <p:nvPr/>
        </p:nvSpPr>
        <p:spPr>
          <a:xfrm>
            <a:off x="392876" y="1395290"/>
            <a:ext cx="8533200" cy="4585830"/>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Steps of JSP Life Cycle </a:t>
            </a:r>
          </a:p>
          <a:p>
            <a:pPr algn="just" fontAlgn="base"/>
            <a:r>
              <a:rPr lang="en-US" sz="2400" b="1" dirty="0" smtClean="0"/>
              <a:t>6. Request Processing (_</a:t>
            </a:r>
            <a:r>
              <a:rPr lang="en-US" sz="2400" b="1" dirty="0" err="1" smtClean="0"/>
              <a:t>jspService</a:t>
            </a:r>
            <a:r>
              <a:rPr lang="en-US" sz="2400" b="1" dirty="0" smtClean="0"/>
              <a:t>())</a:t>
            </a:r>
          </a:p>
          <a:p>
            <a:pPr algn="just" fontAlgn="base"/>
            <a:r>
              <a:rPr lang="en-US" sz="2400" dirty="0" smtClean="0"/>
              <a:t>This method is called for every request.</a:t>
            </a:r>
          </a:p>
          <a:p>
            <a:pPr algn="just" fontAlgn="base"/>
            <a:r>
              <a:rPr lang="en-US" sz="2400" dirty="0" smtClean="0"/>
              <a:t>It cannot be overridden because it is auto-generated and declared as final.</a:t>
            </a:r>
          </a:p>
          <a:p>
            <a:pPr algn="just" fontAlgn="base"/>
            <a:r>
              <a:rPr lang="en-US" sz="2400" dirty="0" smtClean="0"/>
              <a:t>It receives </a:t>
            </a:r>
            <a:r>
              <a:rPr lang="en-US" sz="2400" dirty="0" err="1" smtClean="0"/>
              <a:t>HttpServletRequest</a:t>
            </a:r>
            <a:r>
              <a:rPr lang="en-US" sz="2400" dirty="0" smtClean="0"/>
              <a:t> and </a:t>
            </a:r>
            <a:r>
              <a:rPr lang="en-US" sz="2400" dirty="0" err="1" smtClean="0"/>
              <a:t>HttpServletResponse</a:t>
            </a:r>
            <a:r>
              <a:rPr lang="en-US" sz="2400" dirty="0" smtClean="0"/>
              <a:t> objects to handle the request.</a:t>
            </a:r>
          </a:p>
          <a:p>
            <a:pPr algn="just" fontAlgn="base"/>
            <a:endParaRPr lang="en-US" sz="2400" dirty="0" smtClean="0"/>
          </a:p>
          <a:p>
            <a:pPr fontAlgn="base"/>
            <a:r>
              <a:rPr lang="en-US" sz="2000" b="1" dirty="0" smtClean="0"/>
              <a:t>public</a:t>
            </a:r>
            <a:r>
              <a:rPr lang="en-US" sz="2000" dirty="0" smtClean="0"/>
              <a:t> void _</a:t>
            </a:r>
            <a:r>
              <a:rPr lang="en-US" sz="2000" dirty="0" err="1" smtClean="0"/>
              <a:t>jspService</a:t>
            </a:r>
            <a:r>
              <a:rPr lang="en-US" sz="2000" dirty="0" smtClean="0"/>
              <a:t>(</a:t>
            </a:r>
            <a:r>
              <a:rPr lang="en-US" sz="2000" dirty="0" err="1" smtClean="0"/>
              <a:t>HttpServletRequest</a:t>
            </a:r>
            <a:r>
              <a:rPr lang="en-US" sz="2000" dirty="0" smtClean="0"/>
              <a:t> request, </a:t>
            </a:r>
            <a:r>
              <a:rPr lang="en-US" sz="2000" dirty="0" err="1" smtClean="0"/>
              <a:t>HttpServletResponse</a:t>
            </a:r>
            <a:r>
              <a:rPr lang="en-US" sz="2000" dirty="0" smtClean="0"/>
              <a:t> response) { </a:t>
            </a:r>
          </a:p>
          <a:p>
            <a:pPr fontAlgn="base"/>
            <a:r>
              <a:rPr lang="en-US" sz="2000" i="1" dirty="0" smtClean="0"/>
              <a:t>// Code that handles the request, like generating HTML output.</a:t>
            </a:r>
            <a:r>
              <a:rPr lang="en-US" sz="2000" dirty="0" smtClean="0"/>
              <a:t> </a:t>
            </a:r>
          </a:p>
          <a:p>
            <a:pPr fontAlgn="base"/>
            <a:r>
              <a:rPr lang="en-US" sz="2000" dirty="0" err="1" smtClean="0"/>
              <a:t>response.getWriter</a:t>
            </a:r>
            <a:r>
              <a:rPr lang="en-US" sz="2000" dirty="0" smtClean="0"/>
              <a:t>().write("&lt;html&gt;&lt;body&gt;Hello, World!&lt;/body&gt;&lt;/html&gt;"); </a:t>
            </a:r>
          </a:p>
          <a:p>
            <a:pPr fontAlgn="base"/>
            <a:r>
              <a:rPr lang="en-US" sz="2000" dirty="0" smtClean="0"/>
              <a:t>}</a:t>
            </a:r>
            <a:endParaRPr lang="en-US" sz="20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Lifecycle</a:t>
            </a:r>
          </a:p>
        </p:txBody>
      </p:sp>
      <p:sp>
        <p:nvSpPr>
          <p:cNvPr id="52" name="Google Shape;52;p3"/>
          <p:cNvSpPr/>
          <p:nvPr/>
        </p:nvSpPr>
        <p:spPr>
          <a:xfrm>
            <a:off x="392876" y="1395290"/>
            <a:ext cx="8533200" cy="5170606"/>
          </a:xfrm>
          <a:prstGeom prst="rect">
            <a:avLst/>
          </a:prstGeom>
          <a:noFill/>
          <a:ln>
            <a:noFill/>
          </a:ln>
        </p:spPr>
        <p:txBody>
          <a:bodyPr spcFirstLastPara="1" wrap="square" lIns="91425" tIns="45700" rIns="91425" bIns="45700" anchor="t" anchorCtr="0">
            <a:spAutoFit/>
          </a:bodyPr>
          <a:lstStyle/>
          <a:p>
            <a:pPr algn="just" fontAlgn="base"/>
            <a:r>
              <a:rPr lang="en-US" sz="2200" b="1" dirty="0" smtClean="0"/>
              <a:t>Steps of JSP Life Cycle </a:t>
            </a:r>
          </a:p>
          <a:p>
            <a:pPr algn="just" fontAlgn="base"/>
            <a:r>
              <a:rPr lang="en-US" sz="2200" b="1" dirty="0" smtClean="0"/>
              <a:t>7. JSP Cleanup (</a:t>
            </a:r>
            <a:r>
              <a:rPr lang="en-US" sz="2200" b="1" dirty="0" err="1" smtClean="0"/>
              <a:t>jspDestroy</a:t>
            </a:r>
            <a:r>
              <a:rPr lang="en-US" sz="2200" b="1" dirty="0" smtClean="0"/>
              <a:t>())</a:t>
            </a:r>
          </a:p>
          <a:p>
            <a:pPr algn="just" fontAlgn="base"/>
            <a:r>
              <a:rPr lang="en-US" sz="2200" dirty="0" smtClean="0"/>
              <a:t>This method is called once before removing the JSP from service.</a:t>
            </a:r>
          </a:p>
          <a:p>
            <a:pPr algn="just" fontAlgn="base"/>
            <a:r>
              <a:rPr lang="en-US" sz="2200" dirty="0" smtClean="0"/>
              <a:t>It is used for releasing resources, such as closing database connections or cleaning up open files.</a:t>
            </a:r>
          </a:p>
          <a:p>
            <a:pPr algn="just" fontAlgn="base"/>
            <a:endParaRPr lang="en-US" sz="2200" dirty="0" smtClean="0"/>
          </a:p>
          <a:p>
            <a:pPr algn="just" fontAlgn="base"/>
            <a:r>
              <a:rPr lang="en-US" sz="2200" b="1" dirty="0" smtClean="0"/>
              <a:t>public</a:t>
            </a:r>
            <a:r>
              <a:rPr lang="en-US" sz="2200" dirty="0" smtClean="0"/>
              <a:t> void </a:t>
            </a:r>
            <a:r>
              <a:rPr lang="en-US" sz="2200" dirty="0" err="1" smtClean="0"/>
              <a:t>jspDestroy</a:t>
            </a:r>
            <a:r>
              <a:rPr lang="en-US" sz="2200" dirty="0" smtClean="0"/>
              <a:t>() { </a:t>
            </a:r>
          </a:p>
          <a:p>
            <a:pPr fontAlgn="base"/>
            <a:r>
              <a:rPr lang="en-US" sz="2200" i="1" dirty="0" smtClean="0"/>
              <a:t>// Clean up resources like closing database connections.</a:t>
            </a:r>
            <a:r>
              <a:rPr lang="en-US" sz="2200" dirty="0" smtClean="0"/>
              <a:t> 	</a:t>
            </a:r>
            <a:r>
              <a:rPr lang="en-US" sz="2200" dirty="0" err="1" smtClean="0"/>
              <a:t>System.out.println</a:t>
            </a:r>
            <a:r>
              <a:rPr lang="en-US" sz="2200" dirty="0" smtClean="0"/>
              <a:t>("JSP Destroyed."); </a:t>
            </a:r>
          </a:p>
          <a:p>
            <a:pPr algn="just" fontAlgn="base"/>
            <a:r>
              <a:rPr lang="en-US" sz="2200" dirty="0" smtClean="0"/>
              <a:t>}</a:t>
            </a:r>
          </a:p>
          <a:p>
            <a:pPr algn="just" fontAlgn="base"/>
            <a:endParaRPr lang="en-US" sz="2200" dirty="0" smtClean="0"/>
          </a:p>
          <a:p>
            <a:pPr algn="just" fontAlgn="base"/>
            <a:r>
              <a:rPr lang="en-US" sz="2200" dirty="0" smtClean="0"/>
              <a:t>This Lifecycle ensures that JSP pages are efficiently compiled, managed and cleaned up by the server container.</a:t>
            </a:r>
          </a:p>
          <a:p>
            <a:pPr algn="just"/>
            <a:r>
              <a:rPr lang="en-US" sz="2200" dirty="0" smtClean="0"/>
              <a:t/>
            </a:r>
            <a:br>
              <a:rPr lang="en-US" sz="2200" dirty="0" smtClean="0"/>
            </a:br>
            <a:endParaRPr lang="en-US" sz="22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Elements</a:t>
            </a:r>
          </a:p>
        </p:txBody>
      </p:sp>
      <p:sp>
        <p:nvSpPr>
          <p:cNvPr id="52" name="Google Shape;52;p3"/>
          <p:cNvSpPr/>
          <p:nvPr/>
        </p:nvSpPr>
        <p:spPr>
          <a:xfrm>
            <a:off x="383250" y="1789925"/>
            <a:ext cx="8533200" cy="2308284"/>
          </a:xfrm>
          <a:prstGeom prst="rect">
            <a:avLst/>
          </a:prstGeom>
          <a:noFill/>
          <a:ln>
            <a:noFill/>
          </a:ln>
        </p:spPr>
        <p:txBody>
          <a:bodyPr spcFirstLastPara="1" wrap="square" lIns="91425" tIns="45700" rIns="91425" bIns="45700" anchor="t" anchorCtr="0">
            <a:spAutoFit/>
          </a:bodyPr>
          <a:lstStyle/>
          <a:p>
            <a:pPr fontAlgn="base"/>
            <a:r>
              <a:rPr lang="en-US" sz="2400" dirty="0" smtClean="0"/>
              <a:t>In JSP elements can be divided into 4 different types.</a:t>
            </a:r>
          </a:p>
          <a:p>
            <a:pPr fontAlgn="base"/>
            <a:endParaRPr lang="en-US" sz="2400" dirty="0" smtClean="0"/>
          </a:p>
          <a:p>
            <a:pPr marL="355600" indent="-355600" fontAlgn="base">
              <a:buFont typeface="Arial" pitchFamily="34" charset="0"/>
              <a:buChar char="•"/>
            </a:pPr>
            <a:r>
              <a:rPr lang="en-US" sz="2400" dirty="0" smtClean="0"/>
              <a:t>Expression</a:t>
            </a:r>
          </a:p>
          <a:p>
            <a:pPr marL="355600" indent="-355600" fontAlgn="base">
              <a:buFont typeface="Arial" pitchFamily="34" charset="0"/>
              <a:buChar char="•"/>
            </a:pPr>
            <a:r>
              <a:rPr lang="en-US" sz="2400" dirty="0" err="1" smtClean="0"/>
              <a:t>Scriplets</a:t>
            </a:r>
            <a:endParaRPr lang="en-US" sz="2400" dirty="0" smtClean="0"/>
          </a:p>
          <a:p>
            <a:pPr marL="355600" indent="-355600" fontAlgn="base">
              <a:buFont typeface="Arial" pitchFamily="34" charset="0"/>
              <a:buChar char="•"/>
            </a:pPr>
            <a:r>
              <a:rPr lang="en-US" sz="2400" dirty="0" smtClean="0"/>
              <a:t>Directives</a:t>
            </a:r>
          </a:p>
          <a:p>
            <a:pPr marL="355600" indent="-355600" fontAlgn="base">
              <a:buFont typeface="Arial" pitchFamily="34" charset="0"/>
              <a:buChar char="•"/>
            </a:pPr>
            <a:r>
              <a:rPr lang="en-US" sz="2400" dirty="0" smtClean="0"/>
              <a:t>Declarations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Elements</a:t>
            </a:r>
          </a:p>
        </p:txBody>
      </p:sp>
      <p:sp>
        <p:nvSpPr>
          <p:cNvPr id="52" name="Google Shape;52;p3"/>
          <p:cNvSpPr/>
          <p:nvPr/>
        </p:nvSpPr>
        <p:spPr>
          <a:xfrm>
            <a:off x="383250" y="1789925"/>
            <a:ext cx="8533200" cy="4154943"/>
          </a:xfrm>
          <a:prstGeom prst="rect">
            <a:avLst/>
          </a:prstGeom>
          <a:noFill/>
          <a:ln>
            <a:noFill/>
          </a:ln>
        </p:spPr>
        <p:txBody>
          <a:bodyPr spcFirstLastPara="1" wrap="square" lIns="91425" tIns="45700" rIns="91425" bIns="45700" anchor="t" anchorCtr="0">
            <a:spAutoFit/>
          </a:bodyPr>
          <a:lstStyle/>
          <a:p>
            <a:pPr marL="355600" indent="-355600" algn="just" fontAlgn="base"/>
            <a:r>
              <a:rPr lang="en-US" sz="2400" b="1" dirty="0" smtClean="0"/>
              <a:t>Expression</a:t>
            </a:r>
          </a:p>
          <a:p>
            <a:pPr algn="just" fontAlgn="base"/>
            <a:endParaRPr lang="en-US" sz="2400" dirty="0" smtClean="0"/>
          </a:p>
          <a:p>
            <a:pPr algn="just" fontAlgn="base"/>
            <a:r>
              <a:rPr lang="en-US" sz="2400" dirty="0" smtClean="0"/>
              <a:t>This tag is used to output any data on the generated page. These data are automatically converted to a string and printed on the output stream.</a:t>
            </a:r>
          </a:p>
          <a:p>
            <a:pPr algn="just" fontAlgn="base"/>
            <a:endParaRPr lang="en-US" sz="2400" b="1" dirty="0" smtClean="0"/>
          </a:p>
          <a:p>
            <a:pPr algn="just" fontAlgn="base"/>
            <a:r>
              <a:rPr lang="en-US" sz="2400" b="1" dirty="0" smtClean="0"/>
              <a:t>Syntax:</a:t>
            </a:r>
          </a:p>
          <a:p>
            <a:pPr algn="just" fontAlgn="base"/>
            <a:r>
              <a:rPr lang="en-US" sz="2400" i="1" dirty="0" smtClean="0"/>
              <a:t>&lt;%= “Anything” %&gt;</a:t>
            </a:r>
            <a:endParaRPr lang="en-US" sz="2400" dirty="0" smtClean="0"/>
          </a:p>
          <a:p>
            <a:pPr marL="355600" indent="-355600" algn="just" fontAlgn="base"/>
            <a:endParaRPr lang="en-US" sz="2400" b="1" dirty="0" smtClean="0"/>
          </a:p>
          <a:p>
            <a:pPr marL="355600" indent="-355600" algn="just" fontAlgn="base"/>
            <a:r>
              <a:rPr lang="en-US" sz="2400" b="1" dirty="0" smtClean="0"/>
              <a:t>Example:</a:t>
            </a:r>
          </a:p>
          <a:p>
            <a:pPr marL="355600" indent="-355600" algn="just" fontAlgn="base"/>
            <a:r>
              <a:rPr lang="en-US" sz="2400" i="1" dirty="0" smtClean="0"/>
              <a:t>&lt;%=”</a:t>
            </a:r>
            <a:r>
              <a:rPr lang="en-US" sz="2400" i="1" dirty="0" err="1" smtClean="0"/>
              <a:t>HelloWorld</a:t>
            </a:r>
            <a:r>
              <a:rPr lang="en-US" sz="2400" i="1" dirty="0" smtClean="0"/>
              <a:t>!” %&gt;</a:t>
            </a:r>
            <a:endParaRPr lang="en-US" sz="2400" b="1"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Elements</a:t>
            </a:r>
          </a:p>
        </p:txBody>
      </p:sp>
      <p:sp>
        <p:nvSpPr>
          <p:cNvPr id="52" name="Google Shape;52;p3"/>
          <p:cNvSpPr/>
          <p:nvPr/>
        </p:nvSpPr>
        <p:spPr>
          <a:xfrm>
            <a:off x="383250" y="1789925"/>
            <a:ext cx="8533200" cy="3785611"/>
          </a:xfrm>
          <a:prstGeom prst="rect">
            <a:avLst/>
          </a:prstGeom>
          <a:noFill/>
          <a:ln>
            <a:noFill/>
          </a:ln>
        </p:spPr>
        <p:txBody>
          <a:bodyPr spcFirstLastPara="1" wrap="square" lIns="91425" tIns="45700" rIns="91425" bIns="45700" anchor="t" anchorCtr="0">
            <a:spAutoFit/>
          </a:bodyPr>
          <a:lstStyle/>
          <a:p>
            <a:pPr marL="355600" indent="-355600" algn="just" fontAlgn="base"/>
            <a:r>
              <a:rPr lang="en-US" sz="2400" b="1" dirty="0" err="1" smtClean="0"/>
              <a:t>Scriplets</a:t>
            </a:r>
            <a:endParaRPr lang="en-US" sz="2400" b="1" dirty="0" smtClean="0"/>
          </a:p>
          <a:p>
            <a:pPr algn="just" fontAlgn="base"/>
            <a:endParaRPr lang="en-US" sz="2400" dirty="0" smtClean="0"/>
          </a:p>
          <a:p>
            <a:pPr algn="just" fontAlgn="base"/>
            <a:r>
              <a:rPr lang="en-US" sz="2400" dirty="0" smtClean="0"/>
              <a:t>This allows inserting any amount of valid Java code. These codes are placed in the _</a:t>
            </a:r>
            <a:r>
              <a:rPr lang="en-US" sz="2400" dirty="0" err="1" smtClean="0"/>
              <a:t>jspService</a:t>
            </a:r>
            <a:r>
              <a:rPr lang="en-US" sz="2400" dirty="0" smtClean="0"/>
              <a:t>() method by the JSP engine.</a:t>
            </a:r>
          </a:p>
          <a:p>
            <a:pPr algn="just" fontAlgn="base"/>
            <a:endParaRPr lang="en-US" sz="2400" dirty="0" smtClean="0"/>
          </a:p>
          <a:p>
            <a:pPr fontAlgn="base"/>
            <a:r>
              <a:rPr lang="en-US" sz="2400" b="1" dirty="0" smtClean="0"/>
              <a:t>Syntax</a:t>
            </a:r>
            <a:r>
              <a:rPr lang="en-US" sz="2400" dirty="0" smtClean="0"/>
              <a:t>:</a:t>
            </a:r>
            <a:br>
              <a:rPr lang="en-US" sz="2400" dirty="0" smtClean="0"/>
            </a:br>
            <a:r>
              <a:rPr lang="en-US" sz="2400" i="1" dirty="0" smtClean="0"/>
              <a:t>&lt;%</a:t>
            </a:r>
          </a:p>
          <a:p>
            <a:pPr fontAlgn="base"/>
            <a:r>
              <a:rPr lang="en-US" sz="2400" i="1" dirty="0" smtClean="0"/>
              <a:t>// Java codes</a:t>
            </a:r>
          </a:p>
          <a:p>
            <a:pPr fontAlgn="base"/>
            <a:r>
              <a:rPr lang="en-US" sz="2400" i="1" dirty="0" smtClean="0"/>
              <a:t>%&gt;</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
        <p:nvSpPr>
          <p:cNvPr id="5" name="Rectangle 4"/>
          <p:cNvSpPr/>
          <p:nvPr/>
        </p:nvSpPr>
        <p:spPr>
          <a:xfrm>
            <a:off x="4485373" y="4010726"/>
            <a:ext cx="4177363" cy="1938992"/>
          </a:xfrm>
          <a:prstGeom prst="rect">
            <a:avLst/>
          </a:prstGeom>
        </p:spPr>
        <p:txBody>
          <a:bodyPr wrap="square">
            <a:spAutoFit/>
          </a:bodyPr>
          <a:lstStyle/>
          <a:p>
            <a:pPr fontAlgn="base"/>
            <a:r>
              <a:rPr lang="en-US" sz="2400" b="1" dirty="0" smtClean="0"/>
              <a:t>Example:</a:t>
            </a:r>
          </a:p>
          <a:p>
            <a:pPr fontAlgn="base"/>
            <a:r>
              <a:rPr lang="en-US" sz="2400" dirty="0" smtClean="0"/>
              <a:t>&lt;%</a:t>
            </a:r>
          </a:p>
          <a:p>
            <a:pPr fontAlgn="base"/>
            <a:r>
              <a:rPr lang="en-US" sz="2400" dirty="0" smtClean="0"/>
              <a:t>String name = “World”;</a:t>
            </a:r>
          </a:p>
          <a:p>
            <a:pPr fontAlgn="base"/>
            <a:r>
              <a:rPr lang="en-US" sz="2400" dirty="0" err="1" smtClean="0"/>
              <a:t>out.println</a:t>
            </a:r>
            <a:r>
              <a:rPr lang="en-US" sz="2400" dirty="0" smtClean="0"/>
              <a:t>(“Hello, ” + name);</a:t>
            </a:r>
          </a:p>
          <a:p>
            <a:pPr fontAlgn="base"/>
            <a:r>
              <a:rPr lang="en-US" sz="2400" dirty="0" smtClean="0"/>
              <a:t>%&gt;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Elements</a:t>
            </a:r>
          </a:p>
        </p:txBody>
      </p:sp>
      <p:sp>
        <p:nvSpPr>
          <p:cNvPr id="52" name="Google Shape;52;p3"/>
          <p:cNvSpPr/>
          <p:nvPr/>
        </p:nvSpPr>
        <p:spPr>
          <a:xfrm>
            <a:off x="383250" y="1789925"/>
            <a:ext cx="8533200" cy="3046948"/>
          </a:xfrm>
          <a:prstGeom prst="rect">
            <a:avLst/>
          </a:prstGeom>
          <a:noFill/>
          <a:ln>
            <a:noFill/>
          </a:ln>
        </p:spPr>
        <p:txBody>
          <a:bodyPr spcFirstLastPara="1" wrap="square" lIns="91425" tIns="45700" rIns="91425" bIns="45700" anchor="t" anchorCtr="0">
            <a:spAutoFit/>
          </a:bodyPr>
          <a:lstStyle/>
          <a:p>
            <a:pPr marL="355600" indent="-355600" algn="just" fontAlgn="base"/>
            <a:r>
              <a:rPr lang="en-US" sz="2400" b="1" dirty="0" err="1" smtClean="0"/>
              <a:t>Scriplets</a:t>
            </a:r>
            <a:endParaRPr lang="en-US" sz="2400" b="1" dirty="0" smtClean="0"/>
          </a:p>
          <a:p>
            <a:pPr algn="just" fontAlgn="base"/>
            <a:endParaRPr lang="en-US" sz="2400" dirty="0" smtClean="0"/>
          </a:p>
          <a:p>
            <a:pPr fontAlgn="base"/>
            <a:r>
              <a:rPr lang="en-US" sz="2400" dirty="0" smtClean="0"/>
              <a:t>Variables available to the JSP </a:t>
            </a:r>
            <a:r>
              <a:rPr lang="en-US" sz="2400" dirty="0" err="1" smtClean="0"/>
              <a:t>Scriptlets</a:t>
            </a:r>
            <a:r>
              <a:rPr lang="en-US" sz="2400" dirty="0" smtClean="0"/>
              <a:t> are:</a:t>
            </a:r>
          </a:p>
          <a:p>
            <a:pPr fontAlgn="base"/>
            <a:endParaRPr lang="en-US" sz="2400" dirty="0" smtClean="0"/>
          </a:p>
          <a:p>
            <a:pPr fontAlgn="base"/>
            <a:r>
              <a:rPr lang="en-US" sz="2400" dirty="0" smtClean="0"/>
              <a:t> Request</a:t>
            </a:r>
          </a:p>
          <a:p>
            <a:pPr fontAlgn="base"/>
            <a:r>
              <a:rPr lang="en-US" sz="2400" dirty="0" smtClean="0"/>
              <a:t> Response</a:t>
            </a:r>
          </a:p>
          <a:p>
            <a:pPr fontAlgn="base"/>
            <a:r>
              <a:rPr lang="en-US" sz="2400" dirty="0" smtClean="0"/>
              <a:t> Session</a:t>
            </a:r>
          </a:p>
          <a:p>
            <a:pPr fontAlgn="base"/>
            <a:r>
              <a:rPr lang="en-US" sz="2400" dirty="0" smtClean="0"/>
              <a:t> Out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Elements</a:t>
            </a:r>
          </a:p>
        </p:txBody>
      </p:sp>
      <p:sp>
        <p:nvSpPr>
          <p:cNvPr id="52" name="Google Shape;52;p3"/>
          <p:cNvSpPr/>
          <p:nvPr/>
        </p:nvSpPr>
        <p:spPr>
          <a:xfrm>
            <a:off x="383250" y="1595061"/>
            <a:ext cx="8533200" cy="5262939"/>
          </a:xfrm>
          <a:prstGeom prst="rect">
            <a:avLst/>
          </a:prstGeom>
          <a:noFill/>
          <a:ln>
            <a:noFill/>
          </a:ln>
        </p:spPr>
        <p:txBody>
          <a:bodyPr spcFirstLastPara="1" wrap="square" lIns="91425" tIns="45700" rIns="91425" bIns="45700" anchor="t" anchorCtr="0">
            <a:spAutoFit/>
          </a:bodyPr>
          <a:lstStyle/>
          <a:p>
            <a:pPr marL="355600" indent="-355600" algn="just" fontAlgn="base"/>
            <a:r>
              <a:rPr lang="en-US" sz="2400" b="1" dirty="0" smtClean="0"/>
              <a:t>Directives</a:t>
            </a:r>
          </a:p>
          <a:p>
            <a:pPr algn="just" fontAlgn="base"/>
            <a:endParaRPr lang="en-US" sz="2400" dirty="0" smtClean="0"/>
          </a:p>
          <a:p>
            <a:pPr algn="just" fontAlgn="base"/>
            <a:r>
              <a:rPr lang="en-US" sz="2400" dirty="0" smtClean="0"/>
              <a:t>A JSP directive starts with &lt;%@ characters. In the directives, we can import packages, define error-handling pages, or configure session information for the JSP page.</a:t>
            </a:r>
          </a:p>
          <a:p>
            <a:pPr algn="just" fontAlgn="base"/>
            <a:endParaRPr lang="en-US" sz="2400" b="1" dirty="0" smtClean="0"/>
          </a:p>
          <a:p>
            <a:pPr algn="just" fontAlgn="base"/>
            <a:r>
              <a:rPr lang="en-US" sz="2400" b="1" dirty="0" smtClean="0"/>
              <a:t>Syntax:</a:t>
            </a:r>
          </a:p>
          <a:p>
            <a:pPr fontAlgn="base"/>
            <a:r>
              <a:rPr lang="en-US" sz="2400" i="1" dirty="0" smtClean="0"/>
              <a:t>&lt;%@ directive attribute=”value” %&gt;  </a:t>
            </a:r>
          </a:p>
          <a:p>
            <a:pPr fontAlgn="base"/>
            <a:r>
              <a:rPr lang="en-US" sz="2400" dirty="0" smtClean="0"/>
              <a:t/>
            </a:r>
            <a:br>
              <a:rPr lang="en-US" sz="2400" dirty="0" smtClean="0"/>
            </a:br>
            <a:r>
              <a:rPr lang="en-US" sz="2400" b="1" dirty="0" smtClean="0"/>
              <a:t>Types of Directives:</a:t>
            </a:r>
          </a:p>
          <a:p>
            <a:pPr fontAlgn="base"/>
            <a:r>
              <a:rPr lang="en-US" sz="2400" dirty="0" smtClean="0"/>
              <a:t>page: It defines page settings.</a:t>
            </a:r>
          </a:p>
          <a:p>
            <a:pPr fontAlgn="base"/>
            <a:r>
              <a:rPr lang="en-US" sz="2400" dirty="0" smtClean="0"/>
              <a:t>include: It includes other files.</a:t>
            </a:r>
          </a:p>
          <a:p>
            <a:pPr fontAlgn="base"/>
            <a:r>
              <a:rPr lang="en-US" sz="2400" dirty="0" err="1" smtClean="0"/>
              <a:t>taglib</a:t>
            </a:r>
            <a:r>
              <a:rPr lang="en-US" sz="2400" dirty="0" smtClean="0"/>
              <a:t>: It declares a custom tag library.</a:t>
            </a:r>
          </a:p>
          <a:p>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Elements</a:t>
            </a:r>
          </a:p>
        </p:txBody>
      </p:sp>
      <p:sp>
        <p:nvSpPr>
          <p:cNvPr id="52" name="Google Shape;52;p3"/>
          <p:cNvSpPr/>
          <p:nvPr/>
        </p:nvSpPr>
        <p:spPr>
          <a:xfrm>
            <a:off x="383250" y="1595061"/>
            <a:ext cx="8533200" cy="3785611"/>
          </a:xfrm>
          <a:prstGeom prst="rect">
            <a:avLst/>
          </a:prstGeom>
          <a:noFill/>
          <a:ln>
            <a:noFill/>
          </a:ln>
        </p:spPr>
        <p:txBody>
          <a:bodyPr spcFirstLastPara="1" wrap="square" lIns="91425" tIns="45700" rIns="91425" bIns="45700" anchor="t" anchorCtr="0">
            <a:spAutoFit/>
          </a:bodyPr>
          <a:lstStyle/>
          <a:p>
            <a:pPr fontAlgn="base"/>
            <a:r>
              <a:rPr lang="en-US" sz="2400" b="1" dirty="0" smtClean="0"/>
              <a:t>Declarations</a:t>
            </a:r>
          </a:p>
          <a:p>
            <a:pPr algn="just" fontAlgn="base"/>
            <a:endParaRPr lang="en-US" sz="2400" dirty="0" smtClean="0"/>
          </a:p>
          <a:p>
            <a:pPr fontAlgn="base"/>
            <a:r>
              <a:rPr lang="en-US" sz="2400" dirty="0" smtClean="0"/>
              <a:t>This is used for defining functions and variables to be used in the JSP.</a:t>
            </a:r>
          </a:p>
          <a:p>
            <a:r>
              <a:rPr lang="en-US" sz="2400" dirty="0" smtClean="0"/>
              <a:t/>
            </a:r>
            <a:br>
              <a:rPr lang="en-US" sz="2400" dirty="0" smtClean="0"/>
            </a:br>
            <a:endParaRPr lang="en-US" sz="2400" b="1" dirty="0" smtClean="0"/>
          </a:p>
          <a:p>
            <a:pPr algn="just" fontAlgn="base"/>
            <a:r>
              <a:rPr lang="en-US" sz="2400" b="1" dirty="0" smtClean="0"/>
              <a:t>Syntax:</a:t>
            </a:r>
          </a:p>
          <a:p>
            <a:pPr fontAlgn="base"/>
            <a:r>
              <a:rPr lang="en-US" sz="2400" i="1" dirty="0" smtClean="0"/>
              <a:t>&lt;%!</a:t>
            </a:r>
          </a:p>
          <a:p>
            <a:pPr fontAlgn="base"/>
            <a:r>
              <a:rPr lang="en-US" sz="2400" i="1" dirty="0" smtClean="0"/>
              <a:t>//java codes</a:t>
            </a:r>
          </a:p>
          <a:p>
            <a:pPr fontAlgn="base"/>
            <a:r>
              <a:rPr lang="en-US" sz="2400" i="1" dirty="0" smtClean="0"/>
              <a:t>%&gt;</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JSP Elements</a:t>
            </a:r>
          </a:p>
        </p:txBody>
      </p:sp>
      <p:sp>
        <p:nvSpPr>
          <p:cNvPr id="52" name="Google Shape;52;p3"/>
          <p:cNvSpPr/>
          <p:nvPr/>
        </p:nvSpPr>
        <p:spPr>
          <a:xfrm>
            <a:off x="383250" y="1595061"/>
            <a:ext cx="8533200" cy="3416279"/>
          </a:xfrm>
          <a:prstGeom prst="rect">
            <a:avLst/>
          </a:prstGeom>
          <a:noFill/>
          <a:ln>
            <a:noFill/>
          </a:ln>
        </p:spPr>
        <p:txBody>
          <a:bodyPr spcFirstLastPara="1" wrap="square" lIns="91425" tIns="45700" rIns="91425" bIns="45700" anchor="t" anchorCtr="0">
            <a:spAutoFit/>
          </a:bodyPr>
          <a:lstStyle/>
          <a:p>
            <a:pPr fontAlgn="base"/>
            <a:r>
              <a:rPr lang="en-US" sz="2400" b="1" dirty="0" smtClean="0"/>
              <a:t>Why Use JSP?</a:t>
            </a:r>
          </a:p>
          <a:p>
            <a:pPr fontAlgn="base"/>
            <a:endParaRPr lang="en-US" sz="2400" b="1" dirty="0" smtClean="0"/>
          </a:p>
          <a:p>
            <a:pPr fontAlgn="base"/>
            <a:r>
              <a:rPr lang="en-US" sz="2400" dirty="0" smtClean="0"/>
              <a:t>JSP is powerful because it allows us to:</a:t>
            </a:r>
          </a:p>
          <a:p>
            <a:pPr fontAlgn="base"/>
            <a:endParaRPr lang="en-US" sz="2400" dirty="0" smtClean="0"/>
          </a:p>
          <a:p>
            <a:pPr marL="355600" indent="-355600" fontAlgn="base">
              <a:buFont typeface="Arial" pitchFamily="34" charset="0"/>
              <a:buChar char="•"/>
            </a:pPr>
            <a:r>
              <a:rPr lang="en-US" sz="2400" dirty="0" smtClean="0"/>
              <a:t>Embed Java logic directly into HTML.</a:t>
            </a:r>
          </a:p>
          <a:p>
            <a:pPr marL="355600" indent="-355600" fontAlgn="base">
              <a:buFont typeface="Arial" pitchFamily="34" charset="0"/>
              <a:buChar char="•"/>
            </a:pPr>
            <a:r>
              <a:rPr lang="en-US" sz="2400" dirty="0" smtClean="0"/>
              <a:t>To create dynamic pages that respond to user actions.</a:t>
            </a:r>
          </a:p>
          <a:p>
            <a:pPr marL="355600" indent="-355600" fontAlgn="base">
              <a:buFont typeface="Arial" pitchFamily="34" charset="0"/>
              <a:buChar char="•"/>
            </a:pPr>
            <a:r>
              <a:rPr lang="en-US" sz="2400" dirty="0" smtClean="0"/>
              <a:t>To customize content for each user or session.</a:t>
            </a:r>
          </a:p>
          <a:p>
            <a:r>
              <a:rPr lang="en-US" sz="2400" dirty="0" smtClean="0"/>
              <a:t/>
            </a:r>
            <a:br>
              <a:rPr lang="en-US" sz="2400" dirty="0" smtClean="0"/>
            </a:br>
            <a:endParaRPr lang="en-US" sz="2400" b="1"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264a707208_0_9"/>
          <p:cNvSpPr/>
          <p:nvPr/>
        </p:nvSpPr>
        <p:spPr>
          <a:xfrm>
            <a:off x="354577" y="1023576"/>
            <a:ext cx="57402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Calibri"/>
                <a:ea typeface="Calibri"/>
                <a:cs typeface="Calibri"/>
                <a:sym typeface="Calibri"/>
              </a:rPr>
              <a:t>PPT Content Resources Reference Sample: </a:t>
            </a:r>
            <a:endParaRPr sz="2400" b="1" i="0" u="none" strike="noStrike" cap="none">
              <a:solidFill>
                <a:srgbClr val="000000"/>
              </a:solidFill>
              <a:latin typeface="Arial"/>
              <a:ea typeface="Arial"/>
              <a:cs typeface="Arial"/>
              <a:sym typeface="Arial"/>
            </a:endParaRPr>
          </a:p>
        </p:txBody>
      </p:sp>
      <p:cxnSp>
        <p:nvCxnSpPr>
          <p:cNvPr id="86" name="Google Shape;86;g3264a707208_0_9"/>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87" name="Google Shape;87;g3264a707208_0_9"/>
          <p:cNvSpPr/>
          <p:nvPr/>
        </p:nvSpPr>
        <p:spPr>
          <a:xfrm>
            <a:off x="383250" y="1789925"/>
            <a:ext cx="8395500" cy="4527748"/>
          </a:xfrm>
          <a:prstGeom prst="rect">
            <a:avLst/>
          </a:prstGeom>
          <a:noFill/>
          <a:ln>
            <a:noFill/>
          </a:ln>
        </p:spPr>
        <p:txBody>
          <a:bodyPr spcFirstLastPara="1" wrap="square" lIns="91425" tIns="45700" rIns="91425" bIns="45700" anchor="t" anchorCtr="0">
            <a:noAutofit/>
          </a:bodyPr>
          <a:lstStyle/>
          <a:p>
            <a:pPr marL="457200" indent="-304800">
              <a:lnSpc>
                <a:spcPct val="150000"/>
              </a:lnSpc>
              <a:buClr>
                <a:schemeClr val="dk1"/>
              </a:buClr>
              <a:buSzPts val="1200"/>
              <a:buFont typeface="Arial"/>
              <a:buAutoNum type="arabicPeriod"/>
            </a:pPr>
            <a:r>
              <a:rPr lang="en-US" sz="1200" b="1" dirty="0" smtClean="0">
                <a:solidFill>
                  <a:srgbClr val="FF0000"/>
                </a:solidFill>
              </a:rPr>
              <a:t>Book Reference</a:t>
            </a:r>
            <a:br>
              <a:rPr lang="en-US" sz="1200" b="1" dirty="0" smtClean="0">
                <a:solidFill>
                  <a:srgbClr val="FF0000"/>
                </a:solidFill>
              </a:rPr>
            </a:br>
            <a:r>
              <a:rPr lang="en-US" sz="1200" dirty="0" smtClean="0">
                <a:solidFill>
                  <a:srgbClr val="FF0000"/>
                </a:solidFill>
              </a:rPr>
              <a:t>Jim Farley, William Crawford, David Flanagan. Java Enterprise in a Nutshell, O'Reilly</a:t>
            </a:r>
          </a:p>
          <a:p>
            <a:pPr marL="457200" lvl="0" indent="-304800">
              <a:lnSpc>
                <a:spcPct val="150000"/>
              </a:lnSpc>
              <a:buClr>
                <a:schemeClr val="dk1"/>
              </a:buClr>
              <a:buSzPts val="1200"/>
              <a:buFont typeface="Arial"/>
              <a:buAutoNum type="arabicPeriod"/>
            </a:pPr>
            <a:r>
              <a:rPr lang="en-US" sz="1200" b="1" dirty="0" smtClean="0">
                <a:solidFill>
                  <a:srgbClr val="FF0000"/>
                </a:solidFill>
              </a:rPr>
              <a:t>Book Reference</a:t>
            </a:r>
          </a:p>
          <a:p>
            <a:pPr marL="457200" lvl="0">
              <a:lnSpc>
                <a:spcPct val="150000"/>
              </a:lnSpc>
              <a:buSzPts val="1200"/>
            </a:pPr>
            <a:r>
              <a:rPr lang="en-US" sz="1200" dirty="0" smtClean="0">
                <a:solidFill>
                  <a:srgbClr val="FF0000"/>
                </a:solidFill>
              </a:rPr>
              <a:t>Rocha, R., </a:t>
            </a:r>
            <a:r>
              <a:rPr lang="en-US" sz="1200" dirty="0" err="1" smtClean="0">
                <a:solidFill>
                  <a:srgbClr val="FF0000"/>
                </a:solidFill>
              </a:rPr>
              <a:t>Purificação</a:t>
            </a:r>
            <a:r>
              <a:rPr lang="en-US" sz="1200" dirty="0" smtClean="0">
                <a:solidFill>
                  <a:srgbClr val="FF0000"/>
                </a:solidFill>
              </a:rPr>
              <a:t>, J. (2018). Java EE 8 Design Patterns and Best Practices: Build Enterprise-ready Scalable Applications with Architectural Design Patterns. Germany: </a:t>
            </a:r>
            <a:r>
              <a:rPr lang="en-US" sz="1200" dirty="0" err="1" smtClean="0">
                <a:solidFill>
                  <a:srgbClr val="FF0000"/>
                </a:solidFill>
              </a:rPr>
              <a:t>Packt</a:t>
            </a:r>
            <a:r>
              <a:rPr lang="en-US" sz="1200" dirty="0" smtClean="0">
                <a:solidFill>
                  <a:srgbClr val="FF0000"/>
                </a:solidFill>
              </a:rPr>
              <a:t> Publishing..</a:t>
            </a:r>
            <a:endParaRPr lang="en-US" sz="1200" b="1" dirty="0" smtClean="0">
              <a:solidFill>
                <a:srgbClr val="FF0000"/>
              </a:solidFill>
            </a:endParaRPr>
          </a:p>
          <a:p>
            <a:pPr marL="457200" lvl="0" indent="-304800">
              <a:lnSpc>
                <a:spcPct val="150000"/>
              </a:lnSpc>
              <a:buClr>
                <a:schemeClr val="dk1"/>
              </a:buClr>
              <a:buSzPts val="1200"/>
              <a:buFont typeface="+mj-lt"/>
              <a:buAutoNum type="arabicPeriod" startAt="3"/>
            </a:pPr>
            <a:r>
              <a:rPr lang="en-US" sz="1200" b="1" dirty="0" smtClean="0">
                <a:solidFill>
                  <a:srgbClr val="FF0000"/>
                </a:solidFill>
              </a:rPr>
              <a:t>Website Reference</a:t>
            </a:r>
          </a:p>
          <a:p>
            <a:pPr marL="457200" lvl="0">
              <a:lnSpc>
                <a:spcPct val="150000"/>
              </a:lnSpc>
              <a:buSzPts val="1200"/>
            </a:pPr>
            <a:r>
              <a:rPr lang="en-US" sz="1200" dirty="0" smtClean="0">
                <a:solidFill>
                  <a:srgbClr val="FF0000"/>
                </a:solidFill>
              </a:rPr>
              <a:t>https://www.scribd.com/document/268349254/Java-8-Programming-Black-Book .</a:t>
            </a:r>
          </a:p>
          <a:p>
            <a:pPr marL="457200" lvl="0" indent="-304800">
              <a:lnSpc>
                <a:spcPct val="150000"/>
              </a:lnSpc>
              <a:buClr>
                <a:schemeClr val="dk1"/>
              </a:buClr>
              <a:buSzPts val="1200"/>
              <a:buFont typeface="Arial"/>
              <a:buAutoNum type="arabicPeriod" startAt="4"/>
            </a:pPr>
            <a:r>
              <a:rPr lang="en-US" sz="1200" b="1" dirty="0" smtClean="0">
                <a:solidFill>
                  <a:srgbClr val="FF0000"/>
                </a:solidFill>
              </a:rPr>
              <a:t>Sources</a:t>
            </a:r>
          </a:p>
          <a:p>
            <a:pPr marL="452438" lvl="2">
              <a:lnSpc>
                <a:spcPct val="150000"/>
              </a:lnSpc>
              <a:buClr>
                <a:schemeClr val="dk1"/>
              </a:buClr>
              <a:buSzPts val="1200"/>
            </a:pPr>
            <a:r>
              <a:rPr lang="en-US" sz="1200" dirty="0" smtClean="0">
                <a:solidFill>
                  <a:srgbClr val="FF0000"/>
                </a:solidFill>
              </a:rPr>
              <a:t>https://developers.redhat.com/topics/enterprise-java</a:t>
            </a:r>
            <a:endParaRPr lang="en-US" sz="1200" b="1" dirty="0" smtClean="0">
              <a:solidFill>
                <a:srgbClr val="FF0000"/>
              </a:solidFill>
            </a:endParaRPr>
          </a:p>
          <a:p>
            <a:pPr marL="457200" lvl="0" indent="-304800">
              <a:lnSpc>
                <a:spcPct val="150000"/>
              </a:lnSpc>
              <a:buClr>
                <a:schemeClr val="dk1"/>
              </a:buClr>
              <a:buSzPts val="1200"/>
              <a:buFont typeface="Arial"/>
              <a:buAutoNum type="arabicPeriod" startAt="4"/>
            </a:pPr>
            <a:r>
              <a:rPr lang="en-US" sz="1200" b="1" dirty="0" smtClean="0">
                <a:solidFill>
                  <a:srgbClr val="FF0000"/>
                </a:solidFill>
              </a:rPr>
              <a:t>Article</a:t>
            </a:r>
            <a:endParaRPr lang="en-US" sz="1200" dirty="0" smtClean="0">
              <a:solidFill>
                <a:srgbClr val="FF0000"/>
              </a:solidFill>
            </a:endParaRPr>
          </a:p>
          <a:p>
            <a:pPr marL="452438" lvl="0">
              <a:lnSpc>
                <a:spcPct val="150000"/>
              </a:lnSpc>
              <a:buClr>
                <a:schemeClr val="dk1"/>
              </a:buClr>
              <a:buSzPts val="1200"/>
            </a:pPr>
            <a:r>
              <a:rPr lang="en-US" sz="1200" smtClean="0">
                <a:solidFill>
                  <a:srgbClr val="FF0000"/>
                </a:solidFill>
              </a:rPr>
              <a:t>https://www.researchgate.net/publication/276412369_Advanced_Java_Programming</a:t>
            </a:r>
          </a:p>
          <a:p>
            <a:pPr marL="457200" lvl="0">
              <a:lnSpc>
                <a:spcPct val="150000"/>
              </a:lnSpc>
              <a:buSzPts val="1200"/>
            </a:pPr>
            <a:endParaRPr lang="en-US" sz="1200" dirty="0" smtClean="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469</TotalTime>
  <Words>530</Words>
  <Application>Microsoft Office PowerPoint</Application>
  <PresentationFormat>On-screen Show (4:3)</PresentationFormat>
  <Paragraphs>209</Paragraphs>
  <Slides>31</Slides>
  <Notes>31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key</cp:lastModifiedBy>
  <cp:revision>114</cp:revision>
  <dcterms:created xsi:type="dcterms:W3CDTF">2024-12-13T07:18:04Z</dcterms:created>
  <dcterms:modified xsi:type="dcterms:W3CDTF">2025-05-17T05:25:22Z</dcterms:modified>
</cp:coreProperties>
</file>