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88" r:id="rId4"/>
    <p:sldId id="330" r:id="rId5"/>
    <p:sldId id="331" r:id="rId6"/>
    <p:sldId id="332" r:id="rId7"/>
    <p:sldId id="333" r:id="rId8"/>
    <p:sldId id="338" r:id="rId9"/>
    <p:sldId id="339" r:id="rId10"/>
    <p:sldId id="340" r:id="rId11"/>
    <p:sldId id="336" r:id="rId12"/>
    <p:sldId id="335" r:id="rId13"/>
    <p:sldId id="341" r:id="rId14"/>
    <p:sldId id="342" r:id="rId15"/>
    <p:sldId id="343" r:id="rId16"/>
    <p:sldId id="344" r:id="rId17"/>
    <p:sldId id="345" r:id="rId18"/>
    <p:sldId id="346" r:id="rId19"/>
    <p:sldId id="262" r:id="rId20"/>
    <p:sldId id="263"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66" d="100"/>
          <a:sy n="66" d="100"/>
        </p:scale>
        <p:origin x="-1204" y="2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6547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Chapter-5: Spring</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569620"/>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Introduction to Spring……………………………. 3</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Spring Architecture ……………………………….. 7</a:t>
            </a:r>
          </a:p>
          <a:p>
            <a:pPr marL="457200" indent="-368300">
              <a:buClr>
                <a:schemeClr val="dk1"/>
              </a:buClr>
              <a:buSzPts val="2200"/>
              <a:buFont typeface="Calibri"/>
              <a:buAutoNum type="arabicPeriod"/>
            </a:pPr>
            <a:r>
              <a:rPr lang="en-US" sz="2400" dirty="0" smtClean="0">
                <a:latin typeface="Calibri" pitchFamily="34" charset="0"/>
                <a:cs typeface="Calibri" pitchFamily="34" charset="0"/>
              </a:rPr>
              <a:t>Dependency Injection</a:t>
            </a:r>
            <a:r>
              <a:rPr lang="en-US" sz="2400" dirty="0" smtClean="0">
                <a:solidFill>
                  <a:schemeClr val="dk1"/>
                </a:solidFill>
                <a:latin typeface="Calibri" pitchFamily="34" charset="0"/>
                <a:ea typeface="Calibri"/>
                <a:cs typeface="Calibri" pitchFamily="34" charset="0"/>
                <a:sym typeface="Calibri"/>
              </a:rPr>
              <a:t>…………….……………....8</a:t>
            </a:r>
            <a:endParaRPr lang="en-US" sz="2400" dirty="0" smtClean="0">
              <a:latin typeface="Calibri" pitchFamily="34" charset="0"/>
              <a:cs typeface="Calibri" pitchFamily="34" charset="0"/>
            </a:endParaRP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Modules………………………………………………..11</a:t>
            </a: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a:t>
            </a:r>
          </a:p>
        </p:txBody>
      </p:sp>
      <p:sp>
        <p:nvSpPr>
          <p:cNvPr id="52" name="Google Shape;52;p3"/>
          <p:cNvSpPr/>
          <p:nvPr/>
        </p:nvSpPr>
        <p:spPr>
          <a:xfrm>
            <a:off x="383250" y="1789925"/>
            <a:ext cx="8533200" cy="3785611"/>
          </a:xfrm>
          <a:prstGeom prst="rect">
            <a:avLst/>
          </a:prstGeom>
          <a:noFill/>
          <a:ln>
            <a:noFill/>
          </a:ln>
        </p:spPr>
        <p:txBody>
          <a:bodyPr spcFirstLastPara="1" wrap="square" lIns="91425" tIns="45700" rIns="91425" bIns="45700" anchor="t" anchorCtr="0">
            <a:spAutoFit/>
          </a:bodyPr>
          <a:lstStyle/>
          <a:p>
            <a:pPr marL="355600" lvl="0" indent="-355600" algn="just">
              <a:buSzPts val="2200"/>
              <a:buFont typeface="Arial" pitchFamily="34" charset="0"/>
              <a:buChar char="•"/>
            </a:pPr>
            <a:r>
              <a:rPr lang="en-US" sz="2400" dirty="0" smtClean="0"/>
              <a:t>Spring Framework is a comprehensive and versatile platform for enterprise Java development. It is known for its </a:t>
            </a:r>
            <a:r>
              <a:rPr lang="en-US" sz="2400" b="1" dirty="0" smtClean="0"/>
              <a:t>Inversion of Control (</a:t>
            </a:r>
            <a:r>
              <a:rPr lang="en-US" sz="2400" b="1" dirty="0" err="1" smtClean="0"/>
              <a:t>IoC</a:t>
            </a:r>
            <a:r>
              <a:rPr lang="en-US" sz="2400" b="1" dirty="0" smtClean="0"/>
              <a:t>) </a:t>
            </a:r>
            <a:r>
              <a:rPr lang="en-US" sz="2400" dirty="0" smtClean="0"/>
              <a:t>and </a:t>
            </a:r>
            <a:r>
              <a:rPr lang="en-US" sz="2400" b="1" dirty="0" smtClean="0"/>
              <a:t>Dependency Injection (DI) </a:t>
            </a:r>
            <a:r>
              <a:rPr lang="en-US" sz="2400" dirty="0" smtClean="0"/>
              <a:t>capabilities that simplify creating modular and testable applications. </a:t>
            </a:r>
          </a:p>
          <a:p>
            <a:pPr marL="355600" lvl="0" indent="-355600" algn="just">
              <a:buSzPts val="2200"/>
              <a:buFont typeface="Arial" pitchFamily="34" charset="0"/>
              <a:buChar char="•"/>
            </a:pPr>
            <a:endParaRPr lang="en-US" sz="2400" dirty="0" smtClean="0"/>
          </a:p>
          <a:p>
            <a:pPr marL="355600" lvl="0" indent="-355600" algn="just">
              <a:buSzPts val="2200"/>
              <a:buFont typeface="Arial" pitchFamily="34" charset="0"/>
              <a:buChar char="•"/>
            </a:pPr>
            <a:r>
              <a:rPr lang="en-US" sz="2400" dirty="0" smtClean="0"/>
              <a:t>Key features include </a:t>
            </a:r>
            <a:r>
              <a:rPr lang="en-US" sz="2400" b="1" dirty="0" smtClean="0"/>
              <a:t>Spring MVC </a:t>
            </a:r>
            <a:r>
              <a:rPr lang="en-US" sz="2400" dirty="0" smtClean="0"/>
              <a:t>for web development, </a:t>
            </a:r>
            <a:r>
              <a:rPr lang="en-US" sz="2400" b="1" dirty="0" smtClean="0"/>
              <a:t>Spring Boot </a:t>
            </a:r>
            <a:r>
              <a:rPr lang="en-US" sz="2400" dirty="0" smtClean="0"/>
              <a:t>for rapid application setup, and </a:t>
            </a:r>
            <a:r>
              <a:rPr lang="en-US" sz="2400" b="1" dirty="0" smtClean="0"/>
              <a:t>Spring Security </a:t>
            </a:r>
            <a:r>
              <a:rPr lang="en-US" sz="2400" dirty="0" smtClean="0"/>
              <a:t>for robust authentication and authorization. </a:t>
            </a:r>
            <a:endParaRPr sz="2400" b="0" i="0" u="none" strike="noStrike" cap="none">
              <a:solidFill>
                <a:schemeClr val="dk1"/>
              </a:solidFill>
              <a:latin typeface="+mj-lt"/>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marL="355600" lvl="0" indent="-355600" algn="just">
              <a:buSzPts val="2200"/>
              <a:buFont typeface="Arial" pitchFamily="34" charset="0"/>
              <a:buChar char="•"/>
            </a:pPr>
            <a:r>
              <a:rPr lang="en-US" sz="2400" dirty="0" smtClean="0"/>
              <a:t>With a rich ecosystem covering </a:t>
            </a:r>
            <a:r>
              <a:rPr lang="en-US" sz="2400" b="1" dirty="0" smtClean="0"/>
              <a:t>Spring Data </a:t>
            </a:r>
            <a:r>
              <a:rPr lang="en-US" sz="2400" dirty="0" smtClean="0"/>
              <a:t>for database interactions and </a:t>
            </a:r>
            <a:r>
              <a:rPr lang="en-US" sz="2400" b="1" dirty="0" smtClean="0"/>
              <a:t>Spring Cloud </a:t>
            </a:r>
            <a:r>
              <a:rPr lang="en-US" sz="2400" dirty="0" smtClean="0"/>
              <a:t>for building </a:t>
            </a:r>
            <a:r>
              <a:rPr lang="en-US" sz="2400" dirty="0" err="1" smtClean="0"/>
              <a:t>microservices</a:t>
            </a:r>
            <a:r>
              <a:rPr lang="en-US" sz="2400" dirty="0" smtClean="0"/>
              <a:t>, </a:t>
            </a:r>
            <a:r>
              <a:rPr lang="en-US" sz="2400" b="1" dirty="0" smtClean="0"/>
              <a:t>Spring </a:t>
            </a:r>
            <a:r>
              <a:rPr lang="en-US" sz="2400" dirty="0" smtClean="0"/>
              <a:t>supports scalable and resilient enterprise solutions, making it an essential framework for developers of all experience levels.</a:t>
            </a:r>
          </a:p>
          <a:p>
            <a:pPr marL="355600" lvl="0" indent="-355600" algn="just">
              <a:buSzPts val="2200"/>
              <a:buFont typeface="Arial" pitchFamily="34" charset="0"/>
              <a:buChar char="•"/>
            </a:pPr>
            <a:endParaRPr lang="en-US" sz="2400" dirty="0" smtClean="0"/>
          </a:p>
          <a:p>
            <a:pPr marL="355600" lvl="0" indent="-355600" algn="just">
              <a:buSzPts val="2200"/>
              <a:buFont typeface="Arial" pitchFamily="34" charset="0"/>
              <a:buChar char="•"/>
            </a:pPr>
            <a:r>
              <a:rPr lang="en-US" sz="2400" dirty="0" smtClean="0"/>
              <a:t>Spring framework is a Java platform that is open source. Rod Johnson created it, and it was first released under the Apache 2.0 license in June 2003. When it comes to size and transparency, Spring is a featherweight. Spring framework's basic version is about 2MB in size.</a:t>
            </a:r>
            <a:endParaRPr sz="2400" b="0" i="0" u="none" strike="noStrike" cap="none">
              <a:solidFill>
                <a:schemeClr val="dk1"/>
              </a:solidFill>
              <a:latin typeface="+mj-lt"/>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a:t>
            </a:r>
          </a:p>
        </p:txBody>
      </p:sp>
      <p:sp>
        <p:nvSpPr>
          <p:cNvPr id="52" name="Google Shape;52;p3"/>
          <p:cNvSpPr/>
          <p:nvPr/>
        </p:nvSpPr>
        <p:spPr>
          <a:xfrm>
            <a:off x="383250" y="1597420"/>
            <a:ext cx="8533200" cy="4893607"/>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Applications of Spring</a:t>
            </a:r>
          </a:p>
          <a:p>
            <a:pPr algn="just" fontAlgn="base"/>
            <a:endParaRPr lang="en-US" sz="2400" b="1" dirty="0" smtClean="0"/>
          </a:p>
          <a:p>
            <a:pPr marL="355600" indent="-355600" algn="just" fontAlgn="base">
              <a:buFont typeface="Arial" pitchFamily="34" charset="0"/>
              <a:buChar char="•"/>
            </a:pPr>
            <a:r>
              <a:rPr lang="en-US" sz="2400" b="1" dirty="0" smtClean="0"/>
              <a:t>POJO Based: </a:t>
            </a:r>
            <a:r>
              <a:rPr lang="en-US" sz="2400" dirty="0" smtClean="0"/>
              <a:t>Spring allows developers to use POJOs to create enterprise-class apps</a:t>
            </a:r>
          </a:p>
          <a:p>
            <a:pPr marL="355600" indent="-355600" algn="just" fontAlgn="base">
              <a:buFont typeface="Arial" pitchFamily="34" charset="0"/>
              <a:buChar char="•"/>
            </a:pPr>
            <a:r>
              <a:rPr lang="en-US" sz="2400" b="1" dirty="0" smtClean="0"/>
              <a:t>Modular </a:t>
            </a:r>
            <a:r>
              <a:rPr lang="en-US" sz="2400" dirty="0" smtClean="0"/>
              <a:t>: Spring is set up in a modular approach. </a:t>
            </a:r>
          </a:p>
          <a:p>
            <a:pPr marL="355600" indent="-355600" algn="just" fontAlgn="base">
              <a:buFont typeface="Arial" pitchFamily="34" charset="0"/>
              <a:buChar char="•"/>
            </a:pPr>
            <a:r>
              <a:rPr lang="en-US" sz="2400" b="1" dirty="0" smtClean="0"/>
              <a:t>Integration with Existing Frameworks: </a:t>
            </a:r>
            <a:r>
              <a:rPr lang="en-US" sz="2400" dirty="0" smtClean="0"/>
              <a:t>Spring does not reinvent the wheel; rather, it makes extensive use of existing technologies such as numerous ORM frameworks, logging frameworks, JEE, Quartz, and JDK timers, and other view technologies.</a:t>
            </a:r>
          </a:p>
          <a:p>
            <a:pPr marL="355600" indent="-355600" algn="just" fontAlgn="base">
              <a:buFont typeface="Arial" pitchFamily="34" charset="0"/>
              <a:buChar char="•"/>
            </a:pPr>
            <a:r>
              <a:rPr lang="en-US" sz="2400" b="1" dirty="0" smtClean="0"/>
              <a:t>Testability: </a:t>
            </a:r>
            <a:r>
              <a:rPr lang="en-US" sz="2400" dirty="0" smtClean="0"/>
              <a:t>Because environment-dependent code is put into this framework, testing a Spring-written application is trivial. </a:t>
            </a:r>
            <a:endParaRPr lang="en-US" sz="2400" b="1"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a:t>
            </a:r>
          </a:p>
        </p:txBody>
      </p:sp>
      <p:sp>
        <p:nvSpPr>
          <p:cNvPr id="52" name="Google Shape;52;p3"/>
          <p:cNvSpPr/>
          <p:nvPr/>
        </p:nvSpPr>
        <p:spPr>
          <a:xfrm>
            <a:off x="383250" y="1789925"/>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Applications of Spring</a:t>
            </a:r>
          </a:p>
          <a:p>
            <a:pPr algn="just" fontAlgn="base"/>
            <a:endParaRPr lang="en-US" sz="2400" b="1" dirty="0" smtClean="0"/>
          </a:p>
          <a:p>
            <a:pPr marL="355600" indent="-355600" algn="just" fontAlgn="base">
              <a:buFont typeface="Arial" pitchFamily="34" charset="0"/>
              <a:buChar char="•"/>
            </a:pPr>
            <a:r>
              <a:rPr lang="en-US" sz="2400" b="1" dirty="0" smtClean="0"/>
              <a:t>Web MVC: </a:t>
            </a:r>
            <a:r>
              <a:rPr lang="en-US" sz="2400" dirty="0" smtClean="0"/>
              <a:t>Spring's web framework is a well-designed web MVC framework that is an excellent alternative to web frameworks like Struts and other over-engineered or less popular web frameworks.</a:t>
            </a:r>
          </a:p>
          <a:p>
            <a:pPr marL="355600" indent="-355600" algn="just" fontAlgn="base">
              <a:buFont typeface="Arial" pitchFamily="34" charset="0"/>
              <a:buChar char="•"/>
            </a:pPr>
            <a:r>
              <a:rPr lang="en-US" sz="2400" b="1" dirty="0" smtClean="0"/>
              <a:t>Central Exception Handling: </a:t>
            </a:r>
            <a:r>
              <a:rPr lang="en-US" sz="2400" dirty="0" smtClean="0"/>
              <a:t>Spring provides a handy API for converting technology-specific exceptions (such as those raised by JDBC, Hibernate, or JDO) into consistent, unchecked exceptions.</a:t>
            </a:r>
          </a:p>
          <a:p>
            <a:pPr marL="355600" indent="-355600" algn="just" fontAlgn="base">
              <a:buFont typeface="Arial" pitchFamily="34" charset="0"/>
              <a:buChar char="•"/>
            </a:pPr>
            <a:r>
              <a:rPr lang="en-US" sz="2400" b="1" dirty="0" smtClean="0"/>
              <a:t>Lightweight: </a:t>
            </a:r>
            <a:r>
              <a:rPr lang="en-US" sz="2400" dirty="0" err="1" smtClean="0"/>
              <a:t>IoC</a:t>
            </a:r>
            <a:r>
              <a:rPr lang="en-US" sz="2400" dirty="0" smtClean="0"/>
              <a:t> containers are typically lightweight, especially when compared to EJB containers, for example.</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Architecture</a:t>
            </a:r>
          </a:p>
        </p:txBody>
      </p:sp>
      <p:sp>
        <p:nvSpPr>
          <p:cNvPr id="52" name="Google Shape;52;p3"/>
          <p:cNvSpPr/>
          <p:nvPr/>
        </p:nvSpPr>
        <p:spPr>
          <a:xfrm>
            <a:off x="383250" y="1789925"/>
            <a:ext cx="8533200" cy="3046948"/>
          </a:xfrm>
          <a:prstGeom prst="rect">
            <a:avLst/>
          </a:prstGeom>
          <a:noFill/>
          <a:ln>
            <a:noFill/>
          </a:ln>
        </p:spPr>
        <p:txBody>
          <a:bodyPr spcFirstLastPara="1" wrap="square" lIns="91425" tIns="45700" rIns="91425" bIns="45700" anchor="t" anchorCtr="0">
            <a:spAutoFit/>
          </a:bodyPr>
          <a:lstStyle/>
          <a:p>
            <a:pPr marL="355600" indent="-355600" algn="just" fontAlgn="base">
              <a:buFont typeface="Arial" pitchFamily="34" charset="0"/>
              <a:buChar char="•"/>
            </a:pPr>
            <a:r>
              <a:rPr lang="en-US" sz="2400" dirty="0" smtClean="0"/>
              <a:t>The </a:t>
            </a:r>
            <a:r>
              <a:rPr lang="en-US" sz="2400" b="1" dirty="0" smtClean="0"/>
              <a:t>Spring framework</a:t>
            </a:r>
            <a:r>
              <a:rPr lang="en-US" sz="2400" dirty="0" smtClean="0"/>
              <a:t> is a widely used open-source Java framework that provides a comprehensive programming and configuration model for building enterprise applications.</a:t>
            </a:r>
          </a:p>
          <a:p>
            <a:pPr marL="355600" indent="-355600" algn="just" fontAlgn="base"/>
            <a:endParaRPr lang="en-US" sz="2400" dirty="0" smtClean="0"/>
          </a:p>
          <a:p>
            <a:pPr marL="355600" indent="-355600" algn="just" fontAlgn="base">
              <a:buFont typeface="Arial" pitchFamily="34" charset="0"/>
              <a:buChar char="•"/>
            </a:pPr>
            <a:r>
              <a:rPr lang="en-US" sz="2400" dirty="0" smtClean="0"/>
              <a:t>Its architecture is designed around two core principles:</a:t>
            </a:r>
          </a:p>
          <a:p>
            <a:pPr marL="722313" lvl="5" indent="-182563" algn="just" fontAlgn="base">
              <a:buFont typeface="+mj-lt"/>
              <a:buAutoNum type="arabicPeriod"/>
            </a:pPr>
            <a:r>
              <a:rPr lang="en-US" sz="2400" dirty="0" smtClean="0">
                <a:solidFill>
                  <a:schemeClr val="tx1"/>
                </a:solidFill>
              </a:rPr>
              <a:t>	Dependency Injection (DI)</a:t>
            </a:r>
          </a:p>
          <a:p>
            <a:pPr marL="722313" lvl="5" indent="-182563" algn="just" fontAlgn="base">
              <a:buFont typeface="+mj-lt"/>
              <a:buAutoNum type="arabicPeriod"/>
            </a:pPr>
            <a:r>
              <a:rPr lang="en-US" sz="2400" dirty="0" smtClean="0">
                <a:solidFill>
                  <a:schemeClr val="tx1"/>
                </a:solidFill>
              </a:rPr>
              <a:t>Aspect-Oriented Programming (AOP)</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Architecture</a:t>
            </a:r>
          </a:p>
        </p:txBody>
      </p:sp>
      <p:sp>
        <p:nvSpPr>
          <p:cNvPr id="52" name="Google Shape;52;p3"/>
          <p:cNvSpPr/>
          <p:nvPr/>
        </p:nvSpPr>
        <p:spPr>
          <a:xfrm>
            <a:off x="392875" y="1472291"/>
            <a:ext cx="8533200" cy="5509160"/>
          </a:xfrm>
          <a:prstGeom prst="rect">
            <a:avLst/>
          </a:prstGeom>
          <a:noFill/>
          <a:ln>
            <a:noFill/>
          </a:ln>
        </p:spPr>
        <p:txBody>
          <a:bodyPr spcFirstLastPara="1" wrap="square" lIns="91425" tIns="45700" rIns="91425" bIns="45700" anchor="t" anchorCtr="0">
            <a:spAutoFit/>
          </a:bodyPr>
          <a:lstStyle/>
          <a:p>
            <a:pPr marL="355600" lvl="4" indent="-355600" algn="just" fontAlgn="base">
              <a:buFont typeface="+mj-lt"/>
              <a:buAutoNum type="arabicPeriod"/>
            </a:pPr>
            <a:r>
              <a:rPr lang="en-US" sz="2200" b="1" dirty="0" smtClean="0">
                <a:solidFill>
                  <a:schemeClr val="tx1"/>
                </a:solidFill>
              </a:rPr>
              <a:t>Dependency Injection (DI)</a:t>
            </a:r>
          </a:p>
          <a:p>
            <a:pPr marL="355600" indent="-355600" algn="just" fontAlgn="base">
              <a:buFont typeface="Arial" pitchFamily="34" charset="0"/>
              <a:buChar char="•"/>
            </a:pPr>
            <a:r>
              <a:rPr lang="en-US" sz="2200" dirty="0" smtClean="0"/>
              <a:t>DI is a design pattern that promotes loose coupling between components by allowing objects to be injected into a class rather than the class creating them itself. The Spring framework provides an Inversion of Control (</a:t>
            </a:r>
            <a:r>
              <a:rPr lang="en-US" sz="2200" dirty="0" err="1" smtClean="0"/>
              <a:t>IoC</a:t>
            </a:r>
            <a:r>
              <a:rPr lang="en-US" sz="2200" dirty="0" smtClean="0"/>
              <a:t>) container which is responsible for managing these dependencies.</a:t>
            </a:r>
          </a:p>
          <a:p>
            <a:pPr marL="355600" indent="-355600" algn="just" fontAlgn="base">
              <a:buFont typeface="Arial" pitchFamily="34" charset="0"/>
              <a:buChar char="•"/>
            </a:pPr>
            <a:r>
              <a:rPr lang="en-US" sz="2200" dirty="0" smtClean="0"/>
              <a:t>The </a:t>
            </a:r>
            <a:r>
              <a:rPr lang="en-US" sz="2200" dirty="0" err="1" smtClean="0"/>
              <a:t>BeanFactory</a:t>
            </a:r>
            <a:r>
              <a:rPr lang="en-US" sz="2200" dirty="0" smtClean="0"/>
              <a:t> and </a:t>
            </a:r>
            <a:r>
              <a:rPr lang="en-US" sz="2200" dirty="0" err="1" smtClean="0"/>
              <a:t>ApplicationContext</a:t>
            </a:r>
            <a:r>
              <a:rPr lang="en-US" sz="2200" dirty="0" smtClean="0"/>
              <a:t> are the core interfaces of the </a:t>
            </a:r>
            <a:r>
              <a:rPr lang="en-US" sz="2200" dirty="0" err="1" smtClean="0"/>
              <a:t>IoC</a:t>
            </a:r>
            <a:r>
              <a:rPr lang="en-US" sz="2200" dirty="0" smtClean="0"/>
              <a:t> container.</a:t>
            </a:r>
          </a:p>
          <a:p>
            <a:pPr marL="722313" lvl="1" indent="-182563" algn="just" fontAlgn="base">
              <a:buFont typeface="Arial" pitchFamily="34" charset="0"/>
              <a:buChar char="•"/>
            </a:pPr>
            <a:r>
              <a:rPr lang="en-US" sz="2200" dirty="0" smtClean="0"/>
              <a:t>	</a:t>
            </a:r>
            <a:r>
              <a:rPr lang="en-US" sz="2200" dirty="0" err="1" smtClean="0"/>
              <a:t>BeanFactory</a:t>
            </a:r>
            <a:r>
              <a:rPr lang="en-US" sz="2200" dirty="0" smtClean="0"/>
              <a:t> provides basic dependency injection.</a:t>
            </a:r>
          </a:p>
          <a:p>
            <a:pPr marL="895350" lvl="1" indent="-355600" algn="just" fontAlgn="base">
              <a:buFont typeface="Arial" pitchFamily="34" charset="0"/>
              <a:buChar char="•"/>
            </a:pPr>
            <a:r>
              <a:rPr lang="en-US" sz="2200" dirty="0" err="1" smtClean="0"/>
              <a:t>ApplicationContext</a:t>
            </a:r>
            <a:r>
              <a:rPr lang="en-US" sz="2200" dirty="0" smtClean="0"/>
              <a:t> adds advanced features like 	internationalization, event propagation, and resource 	loading.</a:t>
            </a:r>
          </a:p>
          <a:p>
            <a:pPr marL="355600" indent="-355600" algn="just" fontAlgn="base">
              <a:buFont typeface="Arial" pitchFamily="34" charset="0"/>
              <a:buChar char="•"/>
            </a:pPr>
            <a:r>
              <a:rPr lang="en-US" sz="2200" dirty="0" smtClean="0"/>
              <a:t>Spring manages the lifecycle of beans, including initialization, destruction, and scopes (e.g., singleton, prototype, request, session).</a:t>
            </a:r>
          </a:p>
          <a:p>
            <a:pPr marL="355600" lvl="4" indent="-355600" algn="just" fontAlgn="base">
              <a:buFont typeface="+mj-lt"/>
              <a:buAutoNum type="arabicPeriod"/>
            </a:pPr>
            <a:endParaRPr lang="en-US" sz="2200" dirty="0" smtClean="0">
              <a:solidFill>
                <a:schemeClr val="tx1"/>
              </a:solidFill>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Architecture</a:t>
            </a:r>
          </a:p>
        </p:txBody>
      </p:sp>
      <p:sp>
        <p:nvSpPr>
          <p:cNvPr id="52" name="Google Shape;52;p3"/>
          <p:cNvSpPr/>
          <p:nvPr/>
        </p:nvSpPr>
        <p:spPr>
          <a:xfrm>
            <a:off x="392875" y="1472291"/>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2. Aspect-Oriented Programming (AOP)</a:t>
            </a:r>
          </a:p>
          <a:p>
            <a:pPr marL="355600" indent="-355600" algn="just" fontAlgn="base">
              <a:buFont typeface="Arial" pitchFamily="34" charset="0"/>
              <a:buChar char="•"/>
            </a:pPr>
            <a:r>
              <a:rPr lang="en-US" sz="2400" dirty="0" smtClean="0"/>
              <a:t>AOP allows developers to modularize cross-cutting concerns such as logging, security, and transaction management. </a:t>
            </a:r>
          </a:p>
          <a:p>
            <a:pPr marL="355600" indent="-355600" algn="just" fontAlgn="base">
              <a:buFont typeface="Arial" pitchFamily="34" charset="0"/>
              <a:buChar char="•"/>
            </a:pPr>
            <a:endParaRPr lang="en-US" sz="2400" dirty="0" smtClean="0"/>
          </a:p>
          <a:p>
            <a:pPr marL="355600" indent="-355600" algn="just" fontAlgn="base">
              <a:buFont typeface="Arial" pitchFamily="34" charset="0"/>
              <a:buChar char="•"/>
            </a:pPr>
            <a:r>
              <a:rPr lang="en-US" sz="2400" dirty="0" smtClean="0"/>
              <a:t>These concerns can be applied across multiple components without modifying the core business logic.</a:t>
            </a:r>
          </a:p>
          <a:p>
            <a:pPr marL="355600" indent="-355600" algn="just" fontAlgn="base">
              <a:buFont typeface="Arial" pitchFamily="34" charset="0"/>
              <a:buChar char="•"/>
            </a:pPr>
            <a:endParaRPr lang="en-US" sz="2400" dirty="0" smtClean="0"/>
          </a:p>
          <a:p>
            <a:pPr marL="355600" indent="-355600" algn="just" fontAlgn="base">
              <a:buFont typeface="Arial" pitchFamily="34" charset="0"/>
              <a:buChar char="•"/>
            </a:pPr>
            <a:r>
              <a:rPr lang="en-US" sz="2400" dirty="0" smtClean="0"/>
              <a:t>Spring AOP uses advice, </a:t>
            </a:r>
            <a:r>
              <a:rPr lang="en-US" sz="2400" dirty="0" err="1" smtClean="0"/>
              <a:t>pointcuts</a:t>
            </a:r>
            <a:r>
              <a:rPr lang="en-US" sz="2400" dirty="0" smtClean="0"/>
              <a:t>, and aspects to implement cross-cutting concerns. For example, you can use AOP to log method execution times or enforce security checks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Architecture</a:t>
            </a:r>
          </a:p>
        </p:txBody>
      </p:sp>
      <p:sp>
        <p:nvSpPr>
          <p:cNvPr id="52" name="Google Shape;52;p3"/>
          <p:cNvSpPr/>
          <p:nvPr/>
        </p:nvSpPr>
        <p:spPr>
          <a:xfrm>
            <a:off x="392875" y="1472291"/>
            <a:ext cx="8533200" cy="2308284"/>
          </a:xfrm>
          <a:prstGeom prst="rect">
            <a:avLst/>
          </a:prstGeom>
          <a:noFill/>
          <a:ln>
            <a:noFill/>
          </a:ln>
        </p:spPr>
        <p:txBody>
          <a:bodyPr spcFirstLastPara="1" wrap="square" lIns="91425" tIns="45700" rIns="91425" bIns="45700" anchor="t" anchorCtr="0">
            <a:spAutoFit/>
          </a:bodyPr>
          <a:lstStyle/>
          <a:p>
            <a:pPr algn="just" fontAlgn="base"/>
            <a:endParaRPr lang="en-US" sz="2400" dirty="0" smtClean="0"/>
          </a:p>
          <a:p>
            <a:pPr marL="355600" indent="-355600" algn="just" fontAlgn="base">
              <a:buFont typeface="Arial" pitchFamily="34" charset="0"/>
              <a:buChar char="•"/>
            </a:pPr>
            <a:r>
              <a:rPr lang="en-US" sz="2400" dirty="0" smtClean="0"/>
              <a:t>Overall, the Spring framework architecture is based on the principles of modularity, separation of concerns, and flexibility, providing developers with a powerful set of tools to build robust, scalable, and maintainable enterprise applications.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Modules</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1026" name="Picture 2"/>
          <p:cNvPicPr>
            <a:picLocks noChangeAspect="1" noChangeArrowheads="1"/>
          </p:cNvPicPr>
          <p:nvPr/>
        </p:nvPicPr>
        <p:blipFill>
          <a:blip r:embed="rId3"/>
          <a:srcRect/>
          <a:stretch>
            <a:fillRect/>
          </a:stretch>
        </p:blipFill>
        <p:spPr bwMode="auto">
          <a:xfrm>
            <a:off x="1164656" y="1582620"/>
            <a:ext cx="7371615" cy="4038533"/>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5170606"/>
          </a:xfrm>
          <a:prstGeom prst="rect">
            <a:avLst/>
          </a:prstGeom>
          <a:noFill/>
          <a:ln>
            <a:noFill/>
          </a:ln>
        </p:spPr>
        <p:txBody>
          <a:bodyPr spcFirstLastPara="1" wrap="square" lIns="91425" tIns="45700" rIns="91425" bIns="45700" anchor="t" anchorCtr="0">
            <a:spAutoFit/>
          </a:bodyPr>
          <a:lstStyle/>
          <a:p>
            <a:pPr algn="just" fontAlgn="base"/>
            <a:r>
              <a:rPr lang="en-US" sz="2200" dirty="0" smtClean="0">
                <a:solidFill>
                  <a:schemeClr val="tx1"/>
                </a:solidFill>
              </a:rPr>
              <a:t>The Spring framework </a:t>
            </a:r>
            <a:r>
              <a:rPr lang="en-US" sz="2200" dirty="0" smtClean="0"/>
              <a:t>consists of several </a:t>
            </a:r>
            <a:r>
              <a:rPr lang="en-US" sz="2200" b="1" dirty="0" smtClean="0"/>
              <a:t>modules</a:t>
            </a:r>
            <a:r>
              <a:rPr lang="en-US" sz="2200" dirty="0" smtClean="0"/>
              <a:t>, which can be categorized into four main areas:</a:t>
            </a:r>
            <a:endParaRPr lang="en-US" sz="2400" dirty="0" smtClean="0"/>
          </a:p>
          <a:p>
            <a:pPr marL="457200" indent="-457200" algn="just" fontAlgn="base">
              <a:buFont typeface="+mj-lt"/>
              <a:buAutoNum type="arabicPeriod"/>
            </a:pPr>
            <a:r>
              <a:rPr lang="en-US" sz="2200" b="1" dirty="0" smtClean="0"/>
              <a:t>Core Container:</a:t>
            </a:r>
            <a:r>
              <a:rPr lang="en-US" sz="2200" dirty="0" smtClean="0"/>
              <a:t> The Core Container provides the fundamental functionality of the Spring framework, including the </a:t>
            </a:r>
            <a:r>
              <a:rPr lang="en-US" sz="2200" dirty="0" err="1" smtClean="0"/>
              <a:t>IoC</a:t>
            </a:r>
            <a:r>
              <a:rPr lang="en-US" sz="2200" dirty="0" smtClean="0"/>
              <a:t> container and </a:t>
            </a:r>
            <a:r>
              <a:rPr lang="en-US" sz="2200" dirty="0" err="1" smtClean="0"/>
              <a:t>ApplicationContext</a:t>
            </a:r>
            <a:r>
              <a:rPr lang="en-US" sz="2200" dirty="0" smtClean="0"/>
              <a:t>. </a:t>
            </a:r>
          </a:p>
          <a:p>
            <a:pPr marL="457200" indent="-457200" algn="just" fontAlgn="base">
              <a:buFont typeface="+mj-lt"/>
              <a:buAutoNum type="arabicPeriod"/>
            </a:pPr>
            <a:r>
              <a:rPr lang="en-US" sz="2200" b="1" dirty="0" smtClean="0"/>
              <a:t>Data Access/Integration: </a:t>
            </a:r>
            <a:r>
              <a:rPr lang="en-US" sz="2200" dirty="0" smtClean="0"/>
              <a:t>The Data Access/Integration area provides support for integrating with databases and other data sources. 	</a:t>
            </a:r>
          </a:p>
          <a:p>
            <a:pPr marL="457200" indent="-457200" algn="just" fontAlgn="base">
              <a:buFont typeface="+mj-lt"/>
              <a:buAutoNum type="arabicPeriod"/>
            </a:pPr>
            <a:r>
              <a:rPr lang="en-US" sz="2200" b="1" dirty="0" smtClean="0"/>
              <a:t>Web: </a:t>
            </a:r>
            <a:r>
              <a:rPr lang="en-US" sz="2200" dirty="0" smtClean="0"/>
              <a:t>The Web area provides support for building web applications, including the Spring MVC and Spring </a:t>
            </a:r>
            <a:r>
              <a:rPr lang="en-US" sz="2200" dirty="0" err="1" smtClean="0"/>
              <a:t>WebFlux</a:t>
            </a:r>
            <a:r>
              <a:rPr lang="en-US" sz="2200" dirty="0" smtClean="0"/>
              <a:t> modules.</a:t>
            </a:r>
          </a:p>
          <a:p>
            <a:pPr marL="457200" indent="-457200" algn="just" fontAlgn="base">
              <a:buFont typeface="+mj-lt"/>
              <a:buAutoNum type="arabicPeriod"/>
            </a:pPr>
            <a:r>
              <a:rPr lang="en-US" sz="2200" b="1" dirty="0" smtClean="0"/>
              <a:t>Miscellaneous: </a:t>
            </a:r>
            <a:r>
              <a:rPr lang="en-US" sz="2200" dirty="0" smtClean="0"/>
              <a:t>The Miscellaneous area includes other modules that provide additional functionality, such as the Spring Security module for authentication and authorization features.</a:t>
            </a:r>
            <a:endParaRPr lang="en-US" sz="22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5601493"/>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Core Container</a:t>
            </a:r>
            <a:endParaRPr lang="en-US" sz="2400" dirty="0" smtClean="0"/>
          </a:p>
          <a:p>
            <a:pPr marL="355600" indent="-355600" algn="just" fontAlgn="base">
              <a:buFont typeface="Arial" pitchFamily="34" charset="0"/>
              <a:buChar char="•"/>
            </a:pPr>
            <a:r>
              <a:rPr lang="en-US" sz="2400" b="1" dirty="0" smtClean="0"/>
              <a:t>Spring Core: </a:t>
            </a:r>
            <a:r>
              <a:rPr lang="en-US" sz="2400" dirty="0" smtClean="0"/>
              <a:t>This module provides the fundamental functionality of the Spring framework, including </a:t>
            </a:r>
            <a:r>
              <a:rPr lang="en-US" sz="2400" dirty="0" err="1" smtClean="0"/>
              <a:t>IoC</a:t>
            </a:r>
            <a:r>
              <a:rPr lang="en-US" sz="2400" dirty="0" smtClean="0"/>
              <a:t> and DI. The </a:t>
            </a:r>
            <a:r>
              <a:rPr lang="en-US" sz="2400" dirty="0" err="1" smtClean="0"/>
              <a:t>IoC</a:t>
            </a:r>
            <a:r>
              <a:rPr lang="en-US" sz="2400" dirty="0" smtClean="0"/>
              <a:t> container is the heart of the Spring Framework, responsible for creating and managing instances of JavaBeans. It uses dependency injection to wire the beans together.</a:t>
            </a:r>
          </a:p>
          <a:p>
            <a:pPr marL="355600" indent="-355600" algn="just" fontAlgn="base">
              <a:buFont typeface="Arial" pitchFamily="34" charset="0"/>
              <a:buChar char="•"/>
            </a:pPr>
            <a:r>
              <a:rPr lang="en-US" sz="2400" b="1" dirty="0" smtClean="0"/>
              <a:t>Spring Beans:</a:t>
            </a:r>
            <a:r>
              <a:rPr lang="en-US" sz="2400" dirty="0" smtClean="0"/>
              <a:t> This module provides the </a:t>
            </a:r>
            <a:r>
              <a:rPr lang="en-US" sz="2400" dirty="0" err="1" smtClean="0"/>
              <a:t>BeanFactory</a:t>
            </a:r>
            <a:r>
              <a:rPr lang="en-US" sz="2400" dirty="0" smtClean="0"/>
              <a:t>, which is the basic building block of the </a:t>
            </a:r>
            <a:r>
              <a:rPr lang="en-US" sz="2400" dirty="0" err="1" smtClean="0"/>
              <a:t>IoC</a:t>
            </a:r>
            <a:r>
              <a:rPr lang="en-US" sz="2400" dirty="0" smtClean="0"/>
              <a:t> container, and the </a:t>
            </a:r>
            <a:r>
              <a:rPr lang="en-US" sz="2400" dirty="0" err="1" smtClean="0"/>
              <a:t>BeanWrapper</a:t>
            </a:r>
            <a:r>
              <a:rPr lang="en-US" sz="2400" dirty="0" smtClean="0"/>
              <a:t>, which is responsible for managing the lifecycle of a bean. The Bean Factory is the core interface for accessing the </a:t>
            </a:r>
            <a:r>
              <a:rPr lang="en-US" sz="2400" dirty="0" err="1" smtClean="0"/>
              <a:t>IoC</a:t>
            </a:r>
            <a:r>
              <a:rPr lang="en-US" sz="2400" dirty="0" smtClean="0"/>
              <a:t> container. It provides methods for retrieving beans.</a:t>
            </a:r>
          </a:p>
          <a:p>
            <a:pPr algn="just"/>
            <a:r>
              <a:rPr lang="en-US" sz="2400" dirty="0" smtClean="0"/>
              <a:t/>
            </a:r>
            <a:br>
              <a:rPr lang="en-US" sz="2400" dirty="0" smtClean="0"/>
            </a:br>
            <a:endParaRPr lang="en-US" sz="22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4154943"/>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Core Container</a:t>
            </a:r>
            <a:endParaRPr lang="en-US" sz="2400" dirty="0" smtClean="0"/>
          </a:p>
          <a:p>
            <a:pPr marL="355600" indent="-355600" algn="just" fontAlgn="base">
              <a:buFont typeface="Arial" pitchFamily="34" charset="0"/>
              <a:buChar char="•"/>
            </a:pPr>
            <a:r>
              <a:rPr lang="en-US" sz="2400" b="1" dirty="0" smtClean="0"/>
              <a:t>Spring Context:</a:t>
            </a:r>
            <a:r>
              <a:rPr lang="en-US" sz="2400" dirty="0" smtClean="0"/>
              <a:t> This module provides the </a:t>
            </a:r>
            <a:r>
              <a:rPr lang="en-US" sz="2400" dirty="0" err="1" smtClean="0"/>
              <a:t>ApplicationContext</a:t>
            </a:r>
            <a:r>
              <a:rPr lang="en-US" sz="2400" dirty="0" smtClean="0"/>
              <a:t>, which is an advanced version of the </a:t>
            </a:r>
            <a:r>
              <a:rPr lang="en-US" sz="2400" dirty="0" err="1" smtClean="0"/>
              <a:t>BeanFactory</a:t>
            </a:r>
            <a:r>
              <a:rPr lang="en-US" sz="2400" dirty="0" smtClean="0"/>
              <a:t> and provides additional features, such as internationalization and resource loading, and the ability to publish and consume events.</a:t>
            </a:r>
          </a:p>
          <a:p>
            <a:pPr marL="355600" indent="-355600" algn="just" fontAlgn="base">
              <a:buFont typeface="Arial" pitchFamily="34" charset="0"/>
              <a:buChar char="•"/>
            </a:pPr>
            <a:r>
              <a:rPr lang="en-US" sz="2400" b="1" dirty="0" smtClean="0"/>
              <a:t>Spring Expression Language (</a:t>
            </a:r>
            <a:r>
              <a:rPr lang="en-US" sz="2400" b="1" dirty="0" err="1" smtClean="0"/>
              <a:t>SpEL</a:t>
            </a:r>
            <a:r>
              <a:rPr lang="en-US" sz="2400" b="1" dirty="0" smtClean="0"/>
              <a:t>):</a:t>
            </a:r>
            <a:r>
              <a:rPr lang="en-US" sz="2400" dirty="0" smtClean="0"/>
              <a:t> This module provides a powerful expression language for querying and manipulating objects during runtime. </a:t>
            </a:r>
            <a:r>
              <a:rPr lang="en-US" sz="2400" dirty="0" err="1" smtClean="0"/>
              <a:t>SpEL</a:t>
            </a:r>
            <a:r>
              <a:rPr lang="en-US" sz="2400" dirty="0" smtClean="0"/>
              <a:t> supports a wide range of features, including property access, method invocation, conditionals, loops, and type conversion. </a:t>
            </a:r>
            <a:endParaRPr lang="en-US" sz="22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4878218"/>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Data Access/Integration:</a:t>
            </a:r>
          </a:p>
          <a:p>
            <a:pPr algn="just" fontAlgn="base"/>
            <a:endParaRPr lang="en-US" sz="2400" b="1" dirty="0" smtClean="0"/>
          </a:p>
          <a:p>
            <a:pPr marL="355600" indent="-355600" algn="just" fontAlgn="base">
              <a:buFont typeface="Arial" pitchFamily="34" charset="0"/>
              <a:buChar char="•"/>
            </a:pPr>
            <a:r>
              <a:rPr lang="en-US" sz="2400" b="1" dirty="0" smtClean="0"/>
              <a:t>Spring ORM: </a:t>
            </a:r>
            <a:r>
              <a:rPr lang="en-US" sz="2400" dirty="0" smtClean="0"/>
              <a:t>Spring ORM provides a higher-level abstraction layer on top of ORM frameworks, allowing developers to write less boilerplate code and more easily integrate ORM technologies with other Spring features, such as transaction management and caching.</a:t>
            </a:r>
          </a:p>
          <a:p>
            <a:pPr algn="just" fontAlgn="base"/>
            <a:endParaRPr lang="en-US" sz="2400" dirty="0" smtClean="0"/>
          </a:p>
          <a:p>
            <a:pPr marL="355600" indent="-355600" algn="just" fontAlgn="base">
              <a:buFont typeface="Arial" pitchFamily="34" charset="0"/>
              <a:buChar char="•"/>
            </a:pPr>
            <a:r>
              <a:rPr lang="en-US" sz="2400" b="1" dirty="0" smtClean="0"/>
              <a:t>Spring Data: </a:t>
            </a:r>
            <a:r>
              <a:rPr lang="en-US" sz="2400" dirty="0" smtClean="0"/>
              <a:t>This module provides a consistent and easy-to-use programming model for working with data access technologies, including databases, </a:t>
            </a:r>
            <a:r>
              <a:rPr lang="en-US" sz="2400" dirty="0" err="1" smtClean="0"/>
              <a:t>NoSQL</a:t>
            </a:r>
            <a:r>
              <a:rPr lang="en-US" sz="2400" dirty="0" smtClean="0"/>
              <a:t>, and cloud-based data services. </a:t>
            </a:r>
          </a:p>
          <a:p>
            <a:pPr algn="just"/>
            <a:endParaRPr lang="en-US" sz="22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269300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Data Access/Integration:</a:t>
            </a:r>
          </a:p>
          <a:p>
            <a:pPr algn="just" fontAlgn="base"/>
            <a:endParaRPr lang="en-US" sz="2400" b="1" dirty="0" smtClean="0"/>
          </a:p>
          <a:p>
            <a:pPr marL="355600" indent="-355600" algn="just" fontAlgn="base">
              <a:buFont typeface="Arial" pitchFamily="34" charset="0"/>
              <a:buChar char="•"/>
            </a:pPr>
            <a:r>
              <a:rPr lang="en-US" sz="2400" b="1" dirty="0" smtClean="0"/>
              <a:t>Spring Transaction: </a:t>
            </a:r>
            <a:r>
              <a:rPr lang="en-US" sz="2400" dirty="0" smtClean="0"/>
              <a:t>This module provides support for declarative transaction management in Spring applications. Spring Transaction provides support for various transaction propagation and isolation levels, allowing developers to manage transactions at different levels of granularity. </a:t>
            </a:r>
            <a:endParaRPr lang="en-US" sz="22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4862829"/>
          </a:xfrm>
          <a:prstGeom prst="rect">
            <a:avLst/>
          </a:prstGeom>
          <a:noFill/>
          <a:ln>
            <a:noFill/>
          </a:ln>
        </p:spPr>
        <p:txBody>
          <a:bodyPr spcFirstLastPara="1" wrap="square" lIns="91425" tIns="45700" rIns="91425" bIns="45700" anchor="t" anchorCtr="0">
            <a:spAutoFit/>
          </a:bodyPr>
          <a:lstStyle/>
          <a:p>
            <a:pPr fontAlgn="base"/>
            <a:r>
              <a:rPr lang="en-US" sz="2400" b="1" dirty="0" smtClean="0"/>
              <a:t>Web</a:t>
            </a:r>
            <a:endParaRPr lang="en-US" sz="2200" b="1" dirty="0" smtClean="0"/>
          </a:p>
          <a:p>
            <a:pPr marL="355600" indent="-355600" algn="just" fontAlgn="base">
              <a:buFont typeface="Arial" pitchFamily="34" charset="0"/>
              <a:buChar char="•"/>
            </a:pPr>
            <a:r>
              <a:rPr lang="en-US" sz="2200" b="1" dirty="0" smtClean="0"/>
              <a:t>Spring MVC: </a:t>
            </a:r>
            <a:r>
              <a:rPr lang="en-US" sz="2200" dirty="0" smtClean="0"/>
              <a:t>This module provides a Model-View-Controller (MVC) framework for building web applications. Spring MVC provides a range of features, including support for handling HTTP requests and responses, form handling, data binding, validation, and more.</a:t>
            </a:r>
            <a:endParaRPr lang="en-US" sz="2200" b="1" dirty="0" smtClean="0"/>
          </a:p>
          <a:p>
            <a:pPr marL="355600" indent="-355600" algn="just" fontAlgn="base">
              <a:buFont typeface="Arial" pitchFamily="34" charset="0"/>
              <a:buChar char="•"/>
            </a:pPr>
            <a:r>
              <a:rPr lang="en-US" sz="2200" b="1" dirty="0" smtClean="0"/>
              <a:t>Spring </a:t>
            </a:r>
            <a:r>
              <a:rPr lang="en-US" sz="2200" b="1" dirty="0" err="1" smtClean="0"/>
              <a:t>WebFlux</a:t>
            </a:r>
            <a:r>
              <a:rPr lang="en-US" sz="2200" b="1" dirty="0" smtClean="0"/>
              <a:t>: </a:t>
            </a:r>
            <a:r>
              <a:rPr lang="en-US" sz="2200" dirty="0" smtClean="0"/>
              <a:t>This module provides a reactive programming model for building web applications that require high concurrency and scalability. </a:t>
            </a:r>
          </a:p>
          <a:p>
            <a:pPr marL="355600" indent="-355600" algn="just" fontAlgn="base">
              <a:buFont typeface="Arial" pitchFamily="34" charset="0"/>
              <a:buChar char="•"/>
            </a:pPr>
            <a:r>
              <a:rPr lang="en-US" sz="2200" b="1" dirty="0" smtClean="0"/>
              <a:t>Spring Web Services:</a:t>
            </a:r>
            <a:r>
              <a:rPr lang="en-US" sz="2200" dirty="0" smtClean="0"/>
              <a:t> This module provides support for building SOAP-based and </a:t>
            </a:r>
            <a:r>
              <a:rPr lang="en-US" sz="2200" dirty="0" err="1" smtClean="0"/>
              <a:t>RESTful</a:t>
            </a:r>
            <a:r>
              <a:rPr lang="en-US" sz="2200" dirty="0" smtClean="0"/>
              <a:t> web services. Spring Web Services provides support for generating WSDL (Web Services Description Language) from Java classes, and for generating Java classes from WSDL. </a:t>
            </a:r>
            <a:endParaRPr lang="en-US" sz="2200" b="1"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46574"/>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Modules</a:t>
            </a:r>
          </a:p>
        </p:txBody>
      </p:sp>
      <p:sp>
        <p:nvSpPr>
          <p:cNvPr id="52" name="Google Shape;52;p3"/>
          <p:cNvSpPr/>
          <p:nvPr/>
        </p:nvSpPr>
        <p:spPr>
          <a:xfrm>
            <a:off x="383250" y="1385663"/>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Miscellaneous</a:t>
            </a:r>
          </a:p>
          <a:p>
            <a:pPr marL="355600" indent="-355600" algn="just" fontAlgn="base">
              <a:buFont typeface="Arial" pitchFamily="34" charset="0"/>
              <a:buChar char="•"/>
            </a:pPr>
            <a:r>
              <a:rPr lang="en-US" sz="2400" b="1" dirty="0" smtClean="0"/>
              <a:t>Spring Security: </a:t>
            </a:r>
            <a:r>
              <a:rPr lang="en-US" sz="2400" dirty="0" smtClean="0"/>
              <a:t>This module provides authentication and authorization features for Spring applications. Spring Security provides a range of authorization mechanisms, such as role-based access control and expression-based access control.</a:t>
            </a:r>
          </a:p>
          <a:p>
            <a:pPr marL="355600" indent="-355600" algn="just" fontAlgn="base">
              <a:buFont typeface="Arial" pitchFamily="34" charset="0"/>
              <a:buChar char="•"/>
            </a:pPr>
            <a:r>
              <a:rPr lang="en-US" sz="2400" b="1" dirty="0" smtClean="0"/>
              <a:t>Spring Integration:</a:t>
            </a:r>
            <a:r>
              <a:rPr lang="en-US" sz="2400" dirty="0" smtClean="0"/>
              <a:t> This module provides support for building message-driven and event-driven architectures.</a:t>
            </a:r>
          </a:p>
          <a:p>
            <a:pPr marL="355600" indent="-355600" algn="just" fontAlgn="base">
              <a:buFont typeface="Arial" pitchFamily="34" charset="0"/>
              <a:buChar char="•"/>
            </a:pPr>
            <a:r>
              <a:rPr lang="en-US" sz="2400" b="1" dirty="0" smtClean="0"/>
              <a:t>Spring Batch: </a:t>
            </a:r>
            <a:r>
              <a:rPr lang="en-US" sz="2400" dirty="0" smtClean="0"/>
              <a:t>This module provides support for batch processing and integration with enterprise systems.</a:t>
            </a:r>
          </a:p>
          <a:p>
            <a:pPr marL="355600" indent="-355600" algn="just" fontAlgn="base">
              <a:buFont typeface="Arial" pitchFamily="34" charset="0"/>
              <a:buChar char="•"/>
            </a:pPr>
            <a:r>
              <a:rPr lang="en-US" sz="2400" b="1" dirty="0" smtClean="0"/>
              <a:t>Spring Cloud:</a:t>
            </a:r>
            <a:r>
              <a:rPr lang="en-US" sz="2400" dirty="0" smtClean="0"/>
              <a:t> This module provides support for building cloud-native applications using Spring technologies.</a:t>
            </a:r>
            <a:endParaRPr lang="en-US" sz="2400" b="1"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66025"/>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TotalTime>
  <Words>442</Words>
  <Application>Microsoft Office PowerPoint</Application>
  <PresentationFormat>On-screen Show (4:3)</PresentationFormat>
  <Paragraphs>101</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152</cp:revision>
  <dcterms:created xsi:type="dcterms:W3CDTF">2024-12-13T07:18:04Z</dcterms:created>
  <dcterms:modified xsi:type="dcterms:W3CDTF">2025-05-17T05:26:42Z</dcterms:modified>
</cp:coreProperties>
</file>