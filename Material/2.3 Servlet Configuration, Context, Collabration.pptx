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62" r:id="rId18"/>
    <p:sldId id="263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iwGEa46m3SqSJsxoXyCwcLQke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D3BA4600-CF29-4966-8986-3B1AA4679568}">
  <a:tblStyle styleId="{D3BA4600-CF29-4966-8986-3B1AA46795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664" y="-3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4a70720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264a70720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lang="en-US" sz="4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sz="4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 Layout">
  <p:cSld name="Index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8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5" name="Google Shape;15;p8"/>
            <p:cNvSpPr/>
            <p:nvPr/>
          </p:nvSpPr>
          <p:spPr>
            <a:xfrm>
              <a:off x="-4801433" y="1790698"/>
              <a:ext cx="12600815" cy="983099"/>
            </a:xfrm>
            <a:custGeom>
              <a:avLst/>
              <a:gdLst/>
              <a:ahLst/>
              <a:cxnLst/>
              <a:rect l="l" t="t" r="r" b="b"/>
              <a:pathLst>
                <a:path w="4610100" h="660400" extrusionOk="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 extrusionOk="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26923" y="234877"/>
            <a:ext cx="2063449" cy="6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slide Layout">
  <p:cSld name="Endslide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ayout">
  <p:cSld name="Content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lang="en-US" sz="11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0" y="2366690"/>
            <a:ext cx="91440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Programming using JAVA</a:t>
            </a:r>
            <a:endParaRPr sz="3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000"/>
            </a:pPr>
            <a:r>
              <a:rPr lang="en-US" sz="3000" b="1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Chapter-2: </a:t>
            </a:r>
            <a:r>
              <a:rPr lang="en-US" sz="3000" b="1" dirty="0" err="1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Servlets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42741" y="5601409"/>
            <a:ext cx="3832829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ARNIKA PATEL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61900" y="2370175"/>
            <a:ext cx="60279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Servlets</a:t>
            </a: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Configuration…....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…………….……….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Servlet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Context....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……………………….….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……….	6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Servlet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Collabration</a:t>
            </a:r>
            <a:r>
              <a:rPr lang="en-US" sz="22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…………………………………... 9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61889" y="1734925"/>
            <a:ext cx="338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6527840" y="5619817"/>
            <a:ext cx="128112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Configuration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err="1" smtClean="0"/>
              <a:t>ServletConfig</a:t>
            </a:r>
            <a:r>
              <a:rPr lang="en-US" sz="2400" b="1" dirty="0" smtClean="0"/>
              <a:t> in </a:t>
            </a:r>
            <a:r>
              <a:rPr lang="en-US" sz="2400" b="1" dirty="0" err="1" smtClean="0"/>
              <a:t>Servlet</a:t>
            </a:r>
            <a:endParaRPr lang="en-US" sz="2400" b="1" dirty="0" smtClean="0"/>
          </a:p>
          <a:p>
            <a:pPr algn="just"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dirty="0" err="1" smtClean="0"/>
              <a:t>javax.servlet.ServletConfig</a:t>
            </a:r>
            <a:r>
              <a:rPr lang="en-US" sz="2400" dirty="0" smtClean="0"/>
              <a:t> is an interface as a part of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API. For every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class in our application, the web container will create one </a:t>
            </a:r>
            <a:r>
              <a:rPr lang="en-US" sz="2400" dirty="0" err="1" smtClean="0"/>
              <a:t>ServletConfig</a:t>
            </a:r>
            <a:r>
              <a:rPr lang="en-US" sz="2400" dirty="0" smtClean="0"/>
              <a:t> object and the web container will pass this object as an argument to the </a:t>
            </a:r>
            <a:r>
              <a:rPr lang="en-US" sz="2400" b="1" dirty="0" smtClean="0"/>
              <a:t>public void init(</a:t>
            </a:r>
            <a:r>
              <a:rPr lang="en-US" sz="2400" b="1" dirty="0" err="1" smtClean="0"/>
              <a:t>ServletConfig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config</a:t>
            </a:r>
            <a:r>
              <a:rPr lang="en-US" sz="2400" b="1" dirty="0" smtClean="0"/>
              <a:t>)</a:t>
            </a:r>
            <a:r>
              <a:rPr lang="en-US" sz="2400" dirty="0" smtClean="0"/>
              <a:t> method of our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class object. 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Configuration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err="1" smtClean="0"/>
              <a:t>ServletConfig</a:t>
            </a:r>
            <a:r>
              <a:rPr lang="en-US" sz="2400" b="1" dirty="0" smtClean="0"/>
              <a:t> in </a:t>
            </a:r>
            <a:r>
              <a:rPr lang="en-US" sz="2400" b="1" dirty="0" err="1" smtClean="0"/>
              <a:t>Servlet</a:t>
            </a:r>
            <a:endParaRPr lang="en-US" sz="2400" b="1" dirty="0" smtClean="0"/>
          </a:p>
          <a:p>
            <a:pPr algn="just"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Some of the important points on </a:t>
            </a:r>
            <a:r>
              <a:rPr lang="en-US" sz="2400" dirty="0" err="1" smtClean="0"/>
              <a:t>ServletConfig</a:t>
            </a:r>
            <a:r>
              <a:rPr lang="en-US" sz="2400" dirty="0" smtClean="0"/>
              <a:t> are:</a:t>
            </a:r>
          </a:p>
          <a:p>
            <a:pPr algn="just" fontAlgn="base"/>
            <a:endParaRPr lang="en-US" sz="2400" dirty="0" smtClean="0"/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err="1" smtClean="0"/>
              <a:t>ServletConfig</a:t>
            </a:r>
            <a:r>
              <a:rPr lang="en-US" sz="2400" dirty="0" smtClean="0"/>
              <a:t> is an object containing some initial parameters or configuration information created by the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Container and passed to the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during initialization.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err="1" smtClean="0"/>
              <a:t>ServletConfig</a:t>
            </a:r>
            <a:r>
              <a:rPr lang="en-US" sz="2400" dirty="0" smtClean="0"/>
              <a:t> is for a particular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, which means one should store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-specific information in web.xml and retrieve it using this object.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Configuration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err="1" smtClean="0"/>
              <a:t>ServletConfig</a:t>
            </a:r>
            <a:r>
              <a:rPr lang="en-US" sz="2400" b="1" dirty="0" smtClean="0"/>
              <a:t> in </a:t>
            </a:r>
            <a:r>
              <a:rPr lang="en-US" sz="2400" b="1" dirty="0" err="1" smtClean="0"/>
              <a:t>Servlet</a:t>
            </a:r>
            <a:endParaRPr lang="en-US" sz="2400" b="1" dirty="0" smtClean="0"/>
          </a:p>
          <a:p>
            <a:pPr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b="1" dirty="0" smtClean="0"/>
              <a:t>Methods in the </a:t>
            </a:r>
            <a:r>
              <a:rPr lang="en-US" sz="2400" b="1" dirty="0" err="1" smtClean="0"/>
              <a:t>ServletConfig</a:t>
            </a:r>
            <a:r>
              <a:rPr lang="en-US" sz="2400" b="1" dirty="0" smtClean="0"/>
              <a:t> Interface</a:t>
            </a:r>
          </a:p>
          <a:p>
            <a:pPr fontAlgn="base"/>
            <a:endParaRPr lang="en-US" sz="2400" b="1" dirty="0" smtClean="0"/>
          </a:p>
          <a:p>
            <a:pPr marL="457200" indent="-457200" fontAlgn="base">
              <a:buAutoNum type="arabicPeriod"/>
            </a:pPr>
            <a:r>
              <a:rPr lang="en-US" sz="2400" dirty="0" smtClean="0"/>
              <a:t>public abstract </a:t>
            </a:r>
            <a:r>
              <a:rPr lang="en-US" sz="2400" dirty="0" err="1" smtClean="0"/>
              <a:t>java.lang.String</a:t>
            </a:r>
            <a:r>
              <a:rPr lang="en-US" sz="2400" dirty="0" smtClean="0"/>
              <a:t> </a:t>
            </a:r>
            <a:r>
              <a:rPr lang="en-US" sz="2400" b="1" dirty="0" err="1" smtClean="0"/>
              <a:t>getServletName</a:t>
            </a:r>
            <a:r>
              <a:rPr lang="en-US" sz="2400" b="1" dirty="0" smtClean="0"/>
              <a:t>()</a:t>
            </a:r>
          </a:p>
          <a:p>
            <a:pPr marL="457200" indent="-457200" fontAlgn="base">
              <a:buAutoNum type="arabicPeriod"/>
            </a:pPr>
            <a:r>
              <a:rPr lang="en-US" sz="2400" dirty="0" smtClean="0"/>
              <a:t>public abstract </a:t>
            </a:r>
            <a:r>
              <a:rPr lang="en-US" sz="2400" dirty="0" err="1" smtClean="0"/>
              <a:t>javax.servlet.ServletContext</a:t>
            </a:r>
            <a:r>
              <a:rPr lang="en-US" sz="2400" dirty="0" smtClean="0"/>
              <a:t> </a:t>
            </a:r>
            <a:r>
              <a:rPr lang="en-US" sz="2400" b="1" dirty="0" err="1" smtClean="0"/>
              <a:t>getServletContext</a:t>
            </a:r>
            <a:r>
              <a:rPr lang="en-US" sz="2400" b="1" dirty="0" smtClean="0"/>
              <a:t>()</a:t>
            </a:r>
          </a:p>
          <a:p>
            <a:pPr marL="457200" indent="-457200" fontAlgn="base">
              <a:buAutoNum type="arabicPeriod"/>
            </a:pPr>
            <a:r>
              <a:rPr lang="en-US" sz="2400" dirty="0" smtClean="0"/>
              <a:t>public abstract </a:t>
            </a:r>
            <a:r>
              <a:rPr lang="en-US" sz="2400" dirty="0" err="1" smtClean="0"/>
              <a:t>java.lang.String</a:t>
            </a:r>
            <a:r>
              <a:rPr lang="en-US" sz="2400" dirty="0" smtClean="0"/>
              <a:t> </a:t>
            </a:r>
            <a:r>
              <a:rPr lang="en-US" sz="2400" b="1" dirty="0" err="1" smtClean="0"/>
              <a:t>getInitParameter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java.lang.String</a:t>
            </a:r>
            <a:r>
              <a:rPr lang="en-US" sz="2400" b="1" dirty="0" smtClean="0"/>
              <a:t>)</a:t>
            </a:r>
          </a:p>
          <a:p>
            <a:pPr marL="457200" indent="-457200" fontAlgn="base">
              <a:buAutoNum type="arabicPeriod"/>
            </a:pPr>
            <a:r>
              <a:rPr lang="en-US" sz="2400" dirty="0" smtClean="0"/>
              <a:t>public abstract </a:t>
            </a:r>
            <a:r>
              <a:rPr lang="en-US" sz="2400" dirty="0" err="1" smtClean="0"/>
              <a:t>java.util.Enumeration</a:t>
            </a:r>
            <a:r>
              <a:rPr lang="en-US" sz="2400" dirty="0" smtClean="0"/>
              <a:t>&lt;</a:t>
            </a:r>
            <a:r>
              <a:rPr lang="en-US" sz="2400" dirty="0" err="1" smtClean="0"/>
              <a:t>java.lang.String</a:t>
            </a:r>
            <a:r>
              <a:rPr lang="en-US" sz="2400" dirty="0" smtClean="0"/>
              <a:t>&gt; </a:t>
            </a:r>
            <a:r>
              <a:rPr lang="en-US" sz="2400" b="1" dirty="0" err="1" smtClean="0"/>
              <a:t>getInitParameterNames</a:t>
            </a:r>
            <a:r>
              <a:rPr lang="en-US" sz="2400" b="1" dirty="0" smtClean="0"/>
              <a:t>()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Context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dirty="0" err="1" smtClean="0"/>
              <a:t>ServletContext</a:t>
            </a:r>
            <a:r>
              <a:rPr lang="en-US" sz="2400" dirty="0" smtClean="0"/>
              <a:t> is the object created by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Container to share initial parameters or configuration information to the whole application.</a:t>
            </a:r>
          </a:p>
          <a:p>
            <a:pPr algn="just" fontAlgn="base"/>
            <a:r>
              <a:rPr lang="en-US" sz="2400" b="1" dirty="0" smtClean="0"/>
              <a:t>Example:</a:t>
            </a:r>
            <a:r>
              <a:rPr lang="en-US" sz="2400" dirty="0" smtClean="0"/>
              <a:t> Suppose, the name of one’s job portal is “NewWebsite.tg”. </a:t>
            </a:r>
          </a:p>
          <a:p>
            <a:pPr algn="just" fontAlgn="base"/>
            <a:r>
              <a:rPr lang="en-US" sz="2400" dirty="0" smtClean="0"/>
              <a:t>Showing the website name at the top of </a:t>
            </a:r>
            <a:r>
              <a:rPr lang="en-US" sz="2400" dirty="0" err="1" smtClean="0"/>
              <a:t>webpages</a:t>
            </a:r>
            <a:r>
              <a:rPr lang="en-US" sz="2400" dirty="0" smtClean="0"/>
              <a:t> delivered by different </a:t>
            </a:r>
            <a:r>
              <a:rPr lang="en-US" sz="2400" dirty="0" err="1" smtClean="0"/>
              <a:t>servlets</a:t>
            </a:r>
            <a:r>
              <a:rPr lang="en-US" sz="2400" dirty="0" smtClean="0"/>
              <a:t>, one needs to store the website name in every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inviting redundancy. 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Context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dirty="0" smtClean="0"/>
              <a:t>Since the information shared by </a:t>
            </a:r>
            <a:r>
              <a:rPr lang="en-US" sz="2400" dirty="0" err="1" smtClean="0"/>
              <a:t>ServletContext</a:t>
            </a:r>
            <a:r>
              <a:rPr lang="en-US" sz="2400" dirty="0" smtClean="0"/>
              <a:t> can be accessed by every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, it is better to go with </a:t>
            </a:r>
            <a:r>
              <a:rPr lang="en-US" sz="2400" dirty="0" err="1" smtClean="0"/>
              <a:t>ServletContext</a:t>
            </a:r>
            <a:r>
              <a:rPr lang="en-US" sz="2400" dirty="0" smtClean="0"/>
              <a:t> and retrieve the website name using </a:t>
            </a:r>
            <a:r>
              <a:rPr lang="en-US" sz="2400" dirty="0" err="1" smtClean="0"/>
              <a:t>getServletContext.getInitParameter</a:t>
            </a:r>
            <a:r>
              <a:rPr lang="en-US" sz="2400" dirty="0" smtClean="0"/>
              <a:t>(“Name”) whenever required.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927100"/>
            <a:ext cx="9144000" cy="520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Collaboration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The exchange of information among </a:t>
            </a:r>
            <a:r>
              <a:rPr lang="en-US" sz="2400" dirty="0" err="1" smtClean="0"/>
              <a:t>servlets</a:t>
            </a:r>
            <a:r>
              <a:rPr lang="en-US" sz="2400" dirty="0" smtClean="0"/>
              <a:t> of a particular Java web application is known as </a:t>
            </a:r>
            <a:r>
              <a:rPr lang="en-US" sz="2400" b="1" dirty="0" err="1" smtClean="0"/>
              <a:t>Servlet</a:t>
            </a:r>
            <a:r>
              <a:rPr lang="en-US" sz="2400" b="1" dirty="0" smtClean="0"/>
              <a:t> Collaboration</a:t>
            </a:r>
            <a:r>
              <a:rPr lang="en-US" sz="2400" dirty="0" smtClean="0"/>
              <a:t>.</a:t>
            </a:r>
          </a:p>
          <a:p>
            <a:pPr marL="355600" indent="-355600" algn="just" fontAlgn="base">
              <a:buFont typeface="Arial" pitchFamily="34" charset="0"/>
              <a:buChar char="•"/>
            </a:pPr>
            <a:r>
              <a:rPr lang="en-US" sz="2400" dirty="0" smtClean="0"/>
              <a:t>This enables passing/sharing information from one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to the other through method invocations.</a:t>
            </a:r>
          </a:p>
          <a:p>
            <a:pPr marL="355600" indent="-355600" algn="just"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 </a:t>
            </a:r>
          </a:p>
          <a:p>
            <a:pPr algn="just" fontAlgn="base"/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Collaboration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/>
            <a:r>
              <a:rPr lang="en-US" sz="2400" b="1" dirty="0" smtClean="0"/>
              <a:t>What are the principle ways provided by Java to achieve </a:t>
            </a:r>
            <a:r>
              <a:rPr lang="en-US" sz="2400" b="1" dirty="0" err="1" smtClean="0"/>
              <a:t>Servlet</a:t>
            </a:r>
            <a:r>
              <a:rPr lang="en-US" sz="2400" b="1" dirty="0" smtClean="0"/>
              <a:t> Collaboration?</a:t>
            </a:r>
          </a:p>
          <a:p>
            <a:pPr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The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</a:t>
            </a:r>
            <a:r>
              <a:rPr lang="en-US" sz="2400" dirty="0" err="1" smtClean="0"/>
              <a:t>api</a:t>
            </a:r>
            <a:r>
              <a:rPr lang="en-US" sz="2400" dirty="0" smtClean="0"/>
              <a:t> provides two interfaces namely: </a:t>
            </a:r>
          </a:p>
          <a:p>
            <a:pPr marL="457200" lvl="3" indent="266700" fontAlgn="base">
              <a:buFont typeface="+mj-lt"/>
              <a:buAutoNum type="arabicPeriod"/>
            </a:pPr>
            <a:r>
              <a:rPr lang="en-US" sz="2400" dirty="0" smtClean="0"/>
              <a:t>	</a:t>
            </a:r>
            <a:r>
              <a:rPr lang="en-US" sz="2400" dirty="0" err="1" smtClean="0"/>
              <a:t>javax.servlet.RequestDispatcher</a:t>
            </a:r>
            <a:endParaRPr lang="en-US" sz="2400" dirty="0" smtClean="0"/>
          </a:p>
          <a:p>
            <a:pPr marL="457200" lvl="3" indent="444500" fontAlgn="base">
              <a:buFont typeface="+mj-lt"/>
              <a:buAutoNum type="arabicPeriod"/>
            </a:pPr>
            <a:r>
              <a:rPr lang="en-US" sz="2400" dirty="0" err="1" smtClean="0"/>
              <a:t>javax.servlet.http.HttpServletResponse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Collaboration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Using </a:t>
            </a:r>
            <a:r>
              <a:rPr lang="en-US" sz="2400" b="1" dirty="0" err="1" smtClean="0"/>
              <a:t>RequestDispatcher</a:t>
            </a:r>
            <a:r>
              <a:rPr lang="en-US" sz="2400" b="1" dirty="0" smtClean="0"/>
              <a:t> Interface</a:t>
            </a:r>
          </a:p>
          <a:p>
            <a:pPr algn="just" fontAlgn="base"/>
            <a:endParaRPr lang="en-US" sz="2400" b="1" dirty="0" smtClean="0"/>
          </a:p>
          <a:p>
            <a:pPr algn="just" fontAlgn="base"/>
            <a:r>
              <a:rPr lang="en-US" sz="2400" dirty="0" smtClean="0"/>
              <a:t>The </a:t>
            </a:r>
            <a:r>
              <a:rPr lang="en-US" sz="2400" dirty="0" err="1" smtClean="0"/>
              <a:t>RequestDispatcher</a:t>
            </a:r>
            <a:r>
              <a:rPr lang="en-US" sz="2400" dirty="0" smtClean="0"/>
              <a:t> interface provides the option of dispatching the client’s request to another web resource, which could be an HTML page, another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, JSP etc. It provides the following two methods: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b="1" dirty="0" smtClean="0"/>
              <a:t>public void forward(</a:t>
            </a:r>
            <a:r>
              <a:rPr lang="en-US" sz="2400" b="1" dirty="0" err="1" smtClean="0"/>
              <a:t>ServletRequest</a:t>
            </a:r>
            <a:r>
              <a:rPr lang="en-US" sz="2400" b="1" dirty="0" smtClean="0"/>
              <a:t> request, </a:t>
            </a:r>
            <a:r>
              <a:rPr lang="en-US" sz="2400" b="1" dirty="0" err="1" smtClean="0"/>
              <a:t>ServletResponse</a:t>
            </a:r>
            <a:r>
              <a:rPr lang="en-US" sz="2400" b="1" dirty="0" smtClean="0"/>
              <a:t> response)throws </a:t>
            </a:r>
            <a:r>
              <a:rPr lang="en-US" sz="2400" b="1" dirty="0" err="1" smtClean="0"/>
              <a:t>ServletException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java.io.IOException</a:t>
            </a:r>
            <a:r>
              <a:rPr lang="en-US" sz="2400" b="1" dirty="0" smtClean="0"/>
              <a:t>:</a:t>
            </a:r>
            <a:endParaRPr lang="en-US" sz="2400" dirty="0" smtClean="0"/>
          </a:p>
          <a:p>
            <a:pPr algn="just"/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Collaboration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Using </a:t>
            </a:r>
            <a:r>
              <a:rPr lang="en-US" sz="2400" b="1" dirty="0" err="1" smtClean="0"/>
              <a:t>RequestDispatcher</a:t>
            </a:r>
            <a:r>
              <a:rPr lang="en-US" sz="2400" b="1" dirty="0" smtClean="0"/>
              <a:t> Interface</a:t>
            </a:r>
          </a:p>
          <a:p>
            <a:pPr algn="just"/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" y="2840038"/>
            <a:ext cx="91344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Collaboration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Using </a:t>
            </a:r>
            <a:r>
              <a:rPr lang="en-US" sz="2400" b="1" dirty="0" err="1" smtClean="0"/>
              <a:t>RequestDispatcher</a:t>
            </a:r>
            <a:r>
              <a:rPr lang="en-US" sz="2400" b="1" dirty="0" smtClean="0"/>
              <a:t> Interface</a:t>
            </a:r>
          </a:p>
          <a:p>
            <a:pPr algn="just" fontAlgn="base"/>
            <a:endParaRPr lang="en-US" sz="2400" b="1" dirty="0" smtClean="0"/>
          </a:p>
          <a:p>
            <a:pPr algn="just" fontAlgn="base"/>
            <a:r>
              <a:rPr lang="en-US" sz="2400" b="1" dirty="0" smtClean="0"/>
              <a:t>public void include(</a:t>
            </a:r>
            <a:r>
              <a:rPr lang="en-US" sz="2400" b="1" dirty="0" err="1" smtClean="0"/>
              <a:t>ServletRequest</a:t>
            </a:r>
            <a:r>
              <a:rPr lang="en-US" sz="2400" b="1" dirty="0" smtClean="0"/>
              <a:t> request, </a:t>
            </a:r>
            <a:r>
              <a:rPr lang="en-US" sz="2400" b="1" dirty="0" err="1" smtClean="0"/>
              <a:t>ServletResponse</a:t>
            </a:r>
            <a:r>
              <a:rPr lang="en-US" sz="2400" b="1" dirty="0" smtClean="0"/>
              <a:t> response)throws </a:t>
            </a:r>
            <a:r>
              <a:rPr lang="en-US" sz="2400" b="1" dirty="0" err="1" smtClean="0"/>
              <a:t>ServletException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java.io.IOException</a:t>
            </a:r>
            <a:r>
              <a:rPr lang="en-US" sz="2400" b="1" dirty="0" smtClean="0"/>
              <a:t>:</a:t>
            </a:r>
          </a:p>
          <a:p>
            <a:pPr algn="just" fontAlgn="base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The include() method is used to include the contents of the calling resource into the called one. </a:t>
            </a:r>
          </a:p>
          <a:p>
            <a:pPr algn="just" fontAlgn="base"/>
            <a:endParaRPr lang="en-US" sz="2400" dirty="0" smtClean="0"/>
          </a:p>
          <a:p>
            <a:pPr algn="just" fontAlgn="base"/>
            <a:r>
              <a:rPr lang="en-US" sz="2400" dirty="0" smtClean="0"/>
              <a:t>When this method is called, the control still remains with the calling resource. It simply includes the processed output of the calling resource into the called one.</a:t>
            </a:r>
          </a:p>
          <a:p>
            <a:pPr algn="just" fontAlgn="base"/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Collaboration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Using </a:t>
            </a:r>
            <a:r>
              <a:rPr lang="en-US" sz="2400" b="1" dirty="0" err="1" smtClean="0"/>
              <a:t>RequestDispatcher</a:t>
            </a:r>
            <a:r>
              <a:rPr lang="en-US" sz="2400" b="1" dirty="0" smtClean="0"/>
              <a:t> Interface</a:t>
            </a:r>
          </a:p>
          <a:p>
            <a:pPr algn="just" fontAlgn="base"/>
            <a:endParaRPr lang="en-US" sz="2400" b="1" dirty="0" smtClean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444750"/>
            <a:ext cx="8763000" cy="323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Collaboration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62925"/>
            <a:ext cx="853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Using </a:t>
            </a:r>
            <a:r>
              <a:rPr lang="en-US" sz="2400" b="1" dirty="0" err="1" smtClean="0"/>
              <a:t>HttpServletResponse</a:t>
            </a:r>
            <a:r>
              <a:rPr lang="en-US" sz="2400" b="1" dirty="0" smtClean="0"/>
              <a:t> Interface</a:t>
            </a:r>
            <a:endParaRPr lang="en-US" sz="2400" dirty="0" smtClean="0"/>
          </a:p>
          <a:p>
            <a:pPr algn="just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The </a:t>
            </a:r>
            <a:r>
              <a:rPr lang="en-US" sz="2400" dirty="0" err="1" smtClean="0"/>
              <a:t>HttpServletResponse</a:t>
            </a:r>
            <a:r>
              <a:rPr lang="en-US" sz="2400" dirty="0" smtClean="0"/>
              <a:t> interface is entrusted with managing Http responses. To achieve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collaboration, it uses the following method: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i="1" dirty="0" smtClean="0"/>
              <a:t>public void </a:t>
            </a:r>
            <a:r>
              <a:rPr lang="en-US" sz="2400" i="1" dirty="0" err="1" smtClean="0"/>
              <a:t>sendRedirect</a:t>
            </a:r>
            <a:r>
              <a:rPr lang="en-US" sz="2400" i="1" dirty="0" smtClean="0"/>
              <a:t>(String URL)throws </a:t>
            </a:r>
            <a:r>
              <a:rPr lang="en-US" sz="2400" i="1" dirty="0" err="1" smtClean="0"/>
              <a:t>IOException</a:t>
            </a:r>
            <a:r>
              <a:rPr lang="en-US" sz="2400" i="1" dirty="0" smtClean="0"/>
              <a:t>; </a:t>
            </a:r>
            <a:br>
              <a:rPr lang="en-US" sz="2400" i="1" dirty="0" smtClean="0"/>
            </a:br>
            <a:endParaRPr lang="en-US" sz="2400" i="1" dirty="0" smtClean="0"/>
          </a:p>
          <a:p>
            <a:pPr algn="just"/>
            <a:r>
              <a:rPr lang="en-US" sz="2400" dirty="0" smtClean="0"/>
              <a:t>This method is used redirect response to another resource, which may be a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, </a:t>
            </a:r>
            <a:r>
              <a:rPr lang="en-US" sz="2400" dirty="0" err="1" smtClean="0"/>
              <a:t>jsp</a:t>
            </a:r>
            <a:r>
              <a:rPr lang="en-US" sz="2400" dirty="0" smtClean="0"/>
              <a:t> or an html file. The argument accepted by it, is a URL which can be both, absolute and relative. It works on the client side and uses the browser’s URL bar to make a request.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err="1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Servlets</a:t>
            </a: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 Collaboration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662925"/>
            <a:ext cx="85332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fontAlgn="base"/>
            <a:r>
              <a:rPr lang="en-US" sz="2400" b="1" dirty="0" smtClean="0"/>
              <a:t>What is the difference between forward() method of </a:t>
            </a:r>
            <a:r>
              <a:rPr lang="en-US" sz="2400" b="1" dirty="0" err="1" smtClean="0"/>
              <a:t>RequestDiispatcher</a:t>
            </a:r>
            <a:r>
              <a:rPr lang="en-US" sz="2400" b="1" dirty="0" smtClean="0"/>
              <a:t> and </a:t>
            </a:r>
            <a:r>
              <a:rPr lang="en-US" sz="2400" b="1" dirty="0" err="1" smtClean="0"/>
              <a:t>sendRedirect</a:t>
            </a:r>
            <a:r>
              <a:rPr lang="en-US" sz="2400" b="1" dirty="0" smtClean="0"/>
              <a:t>() of </a:t>
            </a:r>
            <a:r>
              <a:rPr lang="en-US" sz="2400" b="1" dirty="0" err="1" smtClean="0"/>
              <a:t>HttpServletResponse</a:t>
            </a:r>
            <a:r>
              <a:rPr lang="en-US" sz="2400" b="1" dirty="0" smtClean="0"/>
              <a:t>?</a:t>
            </a:r>
          </a:p>
          <a:p>
            <a:pPr algn="just" fontAlgn="base"/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" y="2955924"/>
            <a:ext cx="82804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64a707208_0_9"/>
          <p:cNvSpPr/>
          <p:nvPr/>
        </p:nvSpPr>
        <p:spPr>
          <a:xfrm>
            <a:off x="354577" y="1023576"/>
            <a:ext cx="574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PPT Content Resources Reference Sample: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264a707208_0_9"/>
          <p:cNvCxnSpPr/>
          <p:nvPr/>
        </p:nvCxnSpPr>
        <p:spPr>
          <a:xfrm rot="10800000" flipH="1">
            <a:off x="-8250" y="794900"/>
            <a:ext cx="9160500" cy="4710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3264a707208_0_9"/>
          <p:cNvSpPr/>
          <p:nvPr/>
        </p:nvSpPr>
        <p:spPr>
          <a:xfrm>
            <a:off x="383250" y="1789925"/>
            <a:ext cx="8395500" cy="45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  <a:br>
              <a:rPr lang="en-US" sz="1200" b="1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Jim Farley, William Crawford, David Flanagan. Java Enterprise in a Nutshell, O'Reilly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Rocha, R., </a:t>
            </a:r>
            <a:r>
              <a:rPr lang="en-US" sz="1200" dirty="0" err="1" smtClean="0">
                <a:solidFill>
                  <a:srgbClr val="FF0000"/>
                </a:solidFill>
              </a:rPr>
              <a:t>Purificação</a:t>
            </a:r>
            <a:r>
              <a:rPr lang="en-US" sz="1200" dirty="0" smtClean="0">
                <a:solidFill>
                  <a:srgbClr val="FF0000"/>
                </a:solidFill>
              </a:rPr>
              <a:t>, J. (2018). Java EE 8 Design Patterns and Best Practices: Build Enterprise-ready Scalable Applications with Architectural Design Patterns. Germany: </a:t>
            </a:r>
            <a:r>
              <a:rPr lang="en-US" sz="1200" dirty="0" err="1" smtClean="0">
                <a:solidFill>
                  <a:srgbClr val="FF0000"/>
                </a:solidFill>
              </a:rPr>
              <a:t>Packt</a:t>
            </a:r>
            <a:r>
              <a:rPr lang="en-US" sz="1200" dirty="0" smtClean="0">
                <a:solidFill>
                  <a:srgbClr val="FF0000"/>
                </a:solidFill>
              </a:rPr>
              <a:t> Publishing..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+mj-lt"/>
              <a:buAutoNum type="arabicPeriod" startAt="3"/>
            </a:pPr>
            <a:r>
              <a:rPr lang="en-US" sz="1200" b="1" dirty="0" smtClean="0">
                <a:solidFill>
                  <a:srgbClr val="FF0000"/>
                </a:solidFill>
              </a:rPr>
              <a:t>Website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https://www.scribd.com/document/268349254/Java-8-Programming-Black-Book .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Sources</a:t>
            </a:r>
          </a:p>
          <a:p>
            <a:pPr marL="452438" lvl="2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https://developers.redhat.com/topics/enterprise-java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Article</a:t>
            </a:r>
            <a:endParaRPr lang="en-US" sz="1200" dirty="0" smtClean="0">
              <a:solidFill>
                <a:srgbClr val="FF0000"/>
              </a:solidFill>
            </a:endParaRPr>
          </a:p>
          <a:p>
            <a:pPr marL="452438" lvl="0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smtClean="0">
                <a:solidFill>
                  <a:srgbClr val="FF0000"/>
                </a:solidFill>
              </a:rPr>
              <a:t>https://www.researchgate.net/publication/276412369_Advanced_Java_Programming</a:t>
            </a:r>
          </a:p>
          <a:p>
            <a:pPr marL="457200" lvl="0">
              <a:lnSpc>
                <a:spcPct val="150000"/>
              </a:lnSpc>
              <a:buSzPts val="1200"/>
            </a:pPr>
            <a:endParaRPr lang="en-US" sz="1200" dirty="0" smtClean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231</Words>
  <Application>Microsoft Office PowerPoint</Application>
  <PresentationFormat>On-screen Show (4:3)</PresentationFormat>
  <Paragraphs>80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key</cp:lastModifiedBy>
  <cp:revision>94</cp:revision>
  <dcterms:created xsi:type="dcterms:W3CDTF">2024-12-13T07:18:04Z</dcterms:created>
  <dcterms:modified xsi:type="dcterms:W3CDTF">2025-05-17T05:24:54Z</dcterms:modified>
</cp:coreProperties>
</file>