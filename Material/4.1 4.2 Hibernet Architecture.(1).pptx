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88" r:id="rId4"/>
    <p:sldId id="289" r:id="rId5"/>
    <p:sldId id="290" r:id="rId6"/>
    <p:sldId id="318" r:id="rId7"/>
    <p:sldId id="319" r:id="rId8"/>
    <p:sldId id="320" r:id="rId9"/>
    <p:sldId id="321" r:id="rId10"/>
    <p:sldId id="322" r:id="rId11"/>
    <p:sldId id="323" r:id="rId12"/>
    <p:sldId id="324" r:id="rId13"/>
    <p:sldId id="325" r:id="rId14"/>
    <p:sldId id="292" r:id="rId15"/>
    <p:sldId id="326" r:id="rId16"/>
    <p:sldId id="327" r:id="rId17"/>
    <p:sldId id="305" r:id="rId18"/>
    <p:sldId id="328" r:id="rId19"/>
    <p:sldId id="329" r:id="rId20"/>
    <p:sldId id="262" r:id="rId21"/>
    <p:sldId id="263"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66" d="100"/>
          <a:sy n="66" d="100"/>
        </p:scale>
        <p:origin x="-1204" y="2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 name="Google Shape;4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3"/>
        <p:cNvGrpSpPr/>
        <p:nvPr/>
      </p:nvGrpSpPr>
      <p:grpSpPr>
        <a:xfrm>
          <a:off x="0" y="0"/>
          <a:ext cx="0" cy="0"/>
          <a:chOff x="0" y="0"/>
          <a:chExt cx="0" cy="0"/>
        </a:xfrm>
      </p:grpSpPr>
      <p:grpSp>
        <p:nvGrpSpPr>
          <p:cNvPr id="14" name="Google Shape;14;p8"/>
          <p:cNvGrpSpPr/>
          <p:nvPr/>
        </p:nvGrpSpPr>
        <p:grpSpPr>
          <a:xfrm>
            <a:off x="445191" y="0"/>
            <a:ext cx="8698811" cy="6857999"/>
            <a:chOff x="-4801433" y="-1782234"/>
            <a:chExt cx="18084927" cy="14257864"/>
          </a:xfrm>
        </p:grpSpPr>
        <p:sp>
          <p:nvSpPr>
            <p:cNvPr id="15" name="Google Shape;15;p8"/>
            <p:cNvSpPr/>
            <p:nvPr/>
          </p:nvSpPr>
          <p:spPr>
            <a:xfrm>
              <a:off x="-4801433" y="1790698"/>
              <a:ext cx="12600815" cy="983099"/>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6" name="Google Shape;16;p8"/>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grpSp>
      <p:pic>
        <p:nvPicPr>
          <p:cNvPr id="17" name="Google Shape;17;p8"/>
          <p:cNvPicPr preferRelativeResize="0"/>
          <p:nvPr/>
        </p:nvPicPr>
        <p:blipFill rotWithShape="1">
          <a:blip r:embed="rId2">
            <a:alphaModFix/>
          </a:blip>
          <a:srcRect/>
          <a:stretch/>
        </p:blipFill>
        <p:spPr>
          <a:xfrm>
            <a:off x="6826923" y="234877"/>
            <a:ext cx="2063449" cy="617000"/>
          </a:xfrm>
          <a:prstGeom prst="rect">
            <a:avLst/>
          </a:prstGeom>
          <a:noFill/>
          <a:ln>
            <a:noFill/>
          </a:ln>
        </p:spPr>
      </p:pic>
      <p:pic>
        <p:nvPicPr>
          <p:cNvPr id="18" name="Google Shape;18;p8"/>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r>
              <a:rPr lang="en-US" sz="864" b="0" i="0" u="none" strike="noStrike" cap="none">
                <a:solidFill>
                  <a:schemeClr val="dk1"/>
                </a:solidFill>
                <a:latin typeface="Calibri"/>
                <a:ea typeface="Calibri"/>
                <a:cs typeface="Calibri"/>
                <a:sym typeface="Calibri"/>
              </a:rPr>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jpa-introduction/"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www.geeksforgeeks.org/introduction-to-hibernate-framework/"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65470"/>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0" y="2366690"/>
            <a:ext cx="9144000" cy="109256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500"/>
              <a:buFont typeface="Arial"/>
              <a:buNone/>
            </a:pPr>
            <a:r>
              <a:rPr lang="en-US" sz="3500" b="1" dirty="0" smtClean="0">
                <a:solidFill>
                  <a:srgbClr val="FFFFFF"/>
                </a:solidFill>
                <a:latin typeface="Calibri"/>
                <a:ea typeface="Calibri"/>
                <a:cs typeface="Calibri"/>
                <a:sym typeface="Calibri"/>
              </a:rPr>
              <a:t>Enterprise Programming using JAVA</a:t>
            </a:r>
            <a:endParaRPr sz="3500" b="1" i="0" u="none" strike="noStrike" cap="none">
              <a:solidFill>
                <a:srgbClr val="FFFFFF"/>
              </a:solidFill>
              <a:latin typeface="Calibri"/>
              <a:ea typeface="Calibri"/>
              <a:cs typeface="Calibri"/>
              <a:sym typeface="Calibri"/>
            </a:endParaRPr>
          </a:p>
          <a:p>
            <a:pPr algn="ctr">
              <a:buSzPts val="3000"/>
            </a:pPr>
            <a:r>
              <a:rPr lang="en-US" sz="3000" b="1" i="0" u="none" strike="noStrike" cap="none" dirty="0" smtClean="0">
                <a:solidFill>
                  <a:srgbClr val="FFFFFF"/>
                </a:solidFill>
                <a:latin typeface="Calibri"/>
                <a:ea typeface="Calibri"/>
                <a:cs typeface="Calibri"/>
                <a:sym typeface="Calibri"/>
              </a:rPr>
              <a:t>Chapter-4: </a:t>
            </a:r>
            <a:r>
              <a:rPr lang="en-US" sz="3000" b="1" dirty="0" err="1" smtClean="0">
                <a:solidFill>
                  <a:srgbClr val="FFFFFF"/>
                </a:solidFill>
                <a:latin typeface="Calibri"/>
                <a:ea typeface="Calibri"/>
                <a:cs typeface="Calibri"/>
                <a:sym typeface="Calibri"/>
              </a:rPr>
              <a:t>Hibernet</a:t>
            </a:r>
            <a:r>
              <a:rPr lang="en-US" sz="3000" b="1" dirty="0" smtClean="0">
                <a:solidFill>
                  <a:srgbClr val="FFFFFF"/>
                </a:solidFill>
                <a:latin typeface="Calibri"/>
                <a:ea typeface="Calibri"/>
                <a:cs typeface="Calibri"/>
                <a:sym typeface="Calibri"/>
              </a:rPr>
              <a:t> (ORM)</a:t>
            </a:r>
            <a:endParaRPr sz="3000" b="1" i="0" u="none" strike="noStrike" cap="none">
              <a:solidFill>
                <a:srgbClr val="FFFFFF"/>
              </a:solidFill>
              <a:latin typeface="Calibri"/>
              <a:ea typeface="Calibri"/>
              <a:cs typeface="Calibri"/>
              <a:sym typeface="Calibri"/>
            </a:endParaRPr>
          </a:p>
        </p:txBody>
      </p:sp>
      <p:sp>
        <p:nvSpPr>
          <p:cNvPr id="38" name="Google Shape;38;p1"/>
          <p:cNvSpPr/>
          <p:nvPr/>
        </p:nvSpPr>
        <p:spPr>
          <a:xfrm>
            <a:off x="342741" y="5601409"/>
            <a:ext cx="3832829" cy="12156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a:t>
            </a:r>
            <a:r>
              <a:rPr lang="en-US" sz="2200" b="1" i="0" u="none" strike="noStrike" cap="none" dirty="0" smtClean="0">
                <a:solidFill>
                  <a:schemeClr val="dk1"/>
                </a:solidFill>
                <a:latin typeface="Calibri"/>
                <a:ea typeface="Calibri"/>
                <a:cs typeface="Calibri"/>
                <a:sym typeface="Calibri"/>
              </a:rPr>
              <a:t>ARNIKA PATEL</a:t>
            </a:r>
            <a:r>
              <a:rPr lang="en-US" sz="2200" b="1" i="0" u="none" strike="noStrike" cap="none" dirty="0">
                <a:solidFill>
                  <a:schemeClr val="dk1"/>
                </a:solidFill>
                <a:latin typeface="Calibri"/>
                <a:ea typeface="Calibri"/>
                <a:cs typeface="Calibri"/>
                <a:sym typeface="Calibri"/>
              </a:rPr>
              <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i="0" u="none" strike="noStrike" cap="none" dirty="0" smtClean="0">
                <a:solidFill>
                  <a:schemeClr val="dk1"/>
                </a:solidFill>
                <a:latin typeface="Calibri"/>
                <a:ea typeface="Calibri"/>
                <a:cs typeface="Calibri"/>
                <a:sym typeface="Calibri"/>
              </a:rPr>
              <a:t>CSE</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p:nvPr/>
        </p:nvSpPr>
        <p:spPr>
          <a:xfrm>
            <a:off x="461900" y="2370175"/>
            <a:ext cx="6027900" cy="1569620"/>
          </a:xfrm>
          <a:prstGeom prst="rect">
            <a:avLst/>
          </a:prstGeom>
          <a:noFill/>
          <a:ln>
            <a:noFill/>
          </a:ln>
        </p:spPr>
        <p:txBody>
          <a:bodyPr spcFirstLastPara="1" wrap="square" lIns="91425" tIns="45700" rIns="91425" bIns="45700" anchor="t" anchorCtr="0">
            <a:spAutoFit/>
          </a:bodyPr>
          <a:lstStyle/>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Introduction to </a:t>
            </a:r>
            <a:r>
              <a:rPr lang="en-US" sz="2400" dirty="0" err="1" smtClean="0">
                <a:latin typeface="Calibri" pitchFamily="34" charset="0"/>
                <a:cs typeface="Calibri" pitchFamily="34" charset="0"/>
              </a:rPr>
              <a:t>Hibernet</a:t>
            </a:r>
            <a:r>
              <a:rPr lang="en-US" sz="2400" dirty="0" smtClean="0">
                <a:latin typeface="Calibri" pitchFamily="34" charset="0"/>
                <a:cs typeface="Calibri" pitchFamily="34" charset="0"/>
              </a:rPr>
              <a:t>………………………. 3</a:t>
            </a:r>
          </a:p>
          <a:p>
            <a:pPr marL="457200" lvl="0" indent="-368300">
              <a:buClr>
                <a:schemeClr val="dk1"/>
              </a:buClr>
              <a:buSzPts val="2200"/>
              <a:buFont typeface="Calibri"/>
              <a:buAutoNum type="arabicPeriod"/>
            </a:pPr>
            <a:r>
              <a:rPr lang="en-US" sz="2400" dirty="0" err="1" smtClean="0">
                <a:latin typeface="Calibri" pitchFamily="34" charset="0"/>
                <a:cs typeface="Calibri" pitchFamily="34" charset="0"/>
              </a:rPr>
              <a:t>Hibernet</a:t>
            </a:r>
            <a:r>
              <a:rPr lang="en-US" sz="2400" dirty="0" smtClean="0">
                <a:latin typeface="Calibri" pitchFamily="34" charset="0"/>
                <a:cs typeface="Calibri" pitchFamily="34" charset="0"/>
              </a:rPr>
              <a:t> Architecture ………………………….. 4</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JPA…………… ………………………………………… 16</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JPA vs. </a:t>
            </a:r>
            <a:r>
              <a:rPr lang="en-US" sz="2400" dirty="0" err="1" smtClean="0">
                <a:latin typeface="Calibri" pitchFamily="34" charset="0"/>
                <a:cs typeface="Calibri" pitchFamily="34" charset="0"/>
              </a:rPr>
              <a:t>Hibernet</a:t>
            </a:r>
            <a:r>
              <a:rPr lang="en-US" sz="2400" dirty="0" smtClean="0">
                <a:latin typeface="Calibri" pitchFamily="34" charset="0"/>
                <a:cs typeface="Calibri" pitchFamily="34" charset="0"/>
              </a:rPr>
              <a:t>…..</a:t>
            </a:r>
            <a:r>
              <a:rPr lang="en-US" sz="2400" dirty="0" smtClean="0">
                <a:solidFill>
                  <a:schemeClr val="dk1"/>
                </a:solidFill>
                <a:latin typeface="Calibri" pitchFamily="34" charset="0"/>
                <a:ea typeface="Calibri"/>
                <a:cs typeface="Calibri" pitchFamily="34" charset="0"/>
                <a:sym typeface="Calibri"/>
              </a:rPr>
              <a:t>……………………….………</a:t>
            </a:r>
            <a:r>
              <a:rPr lang="en-US" sz="2400" b="0" i="0" u="none" strike="noStrike" cap="none" dirty="0">
                <a:solidFill>
                  <a:schemeClr val="dk1"/>
                </a:solidFill>
                <a:latin typeface="Calibri" pitchFamily="34" charset="0"/>
                <a:ea typeface="Calibri"/>
                <a:cs typeface="Calibri" pitchFamily="34" charset="0"/>
                <a:sym typeface="Calibri"/>
              </a:rPr>
              <a:t>	</a:t>
            </a:r>
            <a:r>
              <a:rPr lang="en-US" sz="2400" b="0" i="0" u="none" strike="noStrike" cap="none" dirty="0" smtClean="0">
                <a:solidFill>
                  <a:schemeClr val="dk1"/>
                </a:solidFill>
                <a:latin typeface="Calibri" pitchFamily="34" charset="0"/>
                <a:ea typeface="Calibri"/>
                <a:cs typeface="Calibri" pitchFamily="34" charset="0"/>
                <a:sym typeface="Calibri"/>
              </a:rPr>
              <a:t>18</a:t>
            </a:r>
            <a:endParaRPr sz="2400" b="0" i="0" u="none" strike="noStrike" cap="none" dirty="0">
              <a:solidFill>
                <a:schemeClr val="dk1"/>
              </a:solidFill>
              <a:latin typeface="Calibri" pitchFamily="34" charset="0"/>
              <a:ea typeface="Calibri"/>
              <a:cs typeface="Calibri" pitchFamily="34" charset="0"/>
              <a:sym typeface="Calibri"/>
            </a:endParaRPr>
          </a:p>
        </p:txBody>
      </p:sp>
      <p:sp>
        <p:nvSpPr>
          <p:cNvPr id="44" name="Google Shape;44;p2"/>
          <p:cNvSpPr/>
          <p:nvPr/>
        </p:nvSpPr>
        <p:spPr>
          <a:xfrm>
            <a:off x="461889" y="1734925"/>
            <a:ext cx="338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Content </a:t>
            </a:r>
            <a:endParaRPr sz="2400" b="0" i="0" u="none" strike="noStrike" cap="none">
              <a:solidFill>
                <a:schemeClr val="dk1"/>
              </a:solidFill>
              <a:latin typeface="Calibri"/>
              <a:ea typeface="Calibri"/>
              <a:cs typeface="Calibri"/>
              <a:sym typeface="Calibri"/>
            </a:endParaRPr>
          </a:p>
        </p:txBody>
      </p:sp>
      <p:sp>
        <p:nvSpPr>
          <p:cNvPr id="45" name="Google Shape;45;p2"/>
          <p:cNvSpPr/>
          <p:nvPr/>
        </p:nvSpPr>
        <p:spPr>
          <a:xfrm rot="5400000">
            <a:off x="6527840" y="5619817"/>
            <a:ext cx="1281120" cy="600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chemeClr val="lt1"/>
                </a:solidFill>
                <a:latin typeface="Calibri"/>
                <a:ea typeface="Calibri"/>
                <a:cs typeface="Calibri"/>
                <a:sym typeface="Calibri"/>
              </a:rPr>
              <a:t>INDEX</a:t>
            </a:r>
            <a:endParaRPr sz="3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err="1" smtClean="0">
                <a:solidFill>
                  <a:schemeClr val="dk2"/>
                </a:solidFill>
                <a:latin typeface="Calibri"/>
                <a:cs typeface="Calibri"/>
                <a:sym typeface="Calibri"/>
              </a:rPr>
              <a:t>Hibernet</a:t>
            </a:r>
            <a:endParaRPr lang="en-US" sz="2400" b="1" dirty="0" smtClean="0">
              <a:solidFill>
                <a:schemeClr val="dk2"/>
              </a:solidFill>
              <a:latin typeface="Calibri"/>
              <a:cs typeface="Calibri"/>
              <a:sym typeface="Calibri"/>
            </a:endParaRPr>
          </a:p>
        </p:txBody>
      </p:sp>
      <p:sp>
        <p:nvSpPr>
          <p:cNvPr id="52" name="Google Shape;52;p3"/>
          <p:cNvSpPr/>
          <p:nvPr/>
        </p:nvSpPr>
        <p:spPr>
          <a:xfrm>
            <a:off x="383250" y="1789925"/>
            <a:ext cx="8533200" cy="2677616"/>
          </a:xfrm>
          <a:prstGeom prst="rect">
            <a:avLst/>
          </a:prstGeom>
          <a:noFill/>
          <a:ln>
            <a:noFill/>
          </a:ln>
        </p:spPr>
        <p:txBody>
          <a:bodyPr spcFirstLastPara="1" wrap="square" lIns="91425" tIns="45700" rIns="91425" bIns="45700" anchor="t" anchorCtr="0">
            <a:spAutoFit/>
          </a:bodyPr>
          <a:lstStyle/>
          <a:p>
            <a:pPr lvl="0" algn="just">
              <a:buSzPts val="2200"/>
            </a:pPr>
            <a:r>
              <a:rPr lang="en-US" sz="2400" dirty="0" smtClean="0"/>
              <a:t>Hibernate is a framework which is used to develop persistence logic which is independent of Database software. </a:t>
            </a:r>
          </a:p>
          <a:p>
            <a:pPr lvl="0" algn="just">
              <a:buSzPts val="2200"/>
            </a:pPr>
            <a:endParaRPr lang="en-US" sz="2400" dirty="0" smtClean="0"/>
          </a:p>
          <a:p>
            <a:pPr lvl="0" algn="just">
              <a:buSzPts val="2200"/>
            </a:pPr>
            <a:r>
              <a:rPr lang="en-US" sz="2400" dirty="0" smtClean="0"/>
              <a:t>In JDBC to develop persistence logic we deal with primitive types. Whereas Hibernate framework we use Objects to develop persistence logic which are independent of database software.</a:t>
            </a:r>
            <a:endParaRPr sz="2400" b="0" i="0" u="none" strike="noStrike" cap="none">
              <a:solidFill>
                <a:schemeClr val="dk1"/>
              </a:solidFill>
              <a:latin typeface="+mj-lt"/>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pic>
        <p:nvPicPr>
          <p:cNvPr id="1026" name="Picture 2"/>
          <p:cNvPicPr>
            <a:picLocks noChangeAspect="1" noChangeArrowheads="1"/>
          </p:cNvPicPr>
          <p:nvPr/>
        </p:nvPicPr>
        <p:blipFill>
          <a:blip r:embed="rId3"/>
          <a:srcRect/>
          <a:stretch>
            <a:fillRect/>
          </a:stretch>
        </p:blipFill>
        <p:spPr bwMode="auto">
          <a:xfrm>
            <a:off x="250256" y="1854400"/>
            <a:ext cx="8893743" cy="31877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Configuration:</a:t>
            </a:r>
            <a:endParaRPr lang="en-US" sz="2400" dirty="0" smtClean="0"/>
          </a:p>
          <a:p>
            <a:pPr marL="355600" indent="-355600" algn="just" fontAlgn="base">
              <a:buFont typeface="Arial" pitchFamily="34" charset="0"/>
              <a:buChar char="•"/>
            </a:pPr>
            <a:r>
              <a:rPr lang="en-US" sz="2400" dirty="0" smtClean="0"/>
              <a:t>Configuration is a class which is present in </a:t>
            </a:r>
            <a:r>
              <a:rPr lang="en-US" sz="2400" dirty="0" err="1" smtClean="0"/>
              <a:t>org.hibernate.cfg</a:t>
            </a:r>
            <a:r>
              <a:rPr lang="en-US" sz="2400" dirty="0" smtClean="0"/>
              <a:t> package. It activates Hibernate framework. It reads both configuration file and mapping files.</a:t>
            </a:r>
          </a:p>
          <a:p>
            <a:pPr marL="355600" indent="-355600" algn="just" fontAlgn="base">
              <a:buFont typeface="Arial" pitchFamily="34" charset="0"/>
              <a:buChar char="•"/>
            </a:pPr>
            <a:r>
              <a:rPr lang="en-US" sz="2400" dirty="0" smtClean="0"/>
              <a:t>It checks whether the </a:t>
            </a:r>
            <a:r>
              <a:rPr lang="en-US" sz="2400" dirty="0" err="1" smtClean="0"/>
              <a:t>config</a:t>
            </a:r>
            <a:r>
              <a:rPr lang="en-US" sz="2400" dirty="0" smtClean="0"/>
              <a:t> file is syntactically correct or not.</a:t>
            </a:r>
          </a:p>
          <a:p>
            <a:pPr marL="355600" indent="-355600" algn="just" fontAlgn="base">
              <a:buFont typeface="Arial" pitchFamily="34" charset="0"/>
              <a:buChar char="•"/>
            </a:pPr>
            <a:r>
              <a:rPr lang="en-US" sz="2400" dirty="0" smtClean="0"/>
              <a:t>If the </a:t>
            </a:r>
            <a:r>
              <a:rPr lang="en-US" sz="2400" dirty="0" err="1" smtClean="0"/>
              <a:t>config</a:t>
            </a:r>
            <a:r>
              <a:rPr lang="en-US" sz="2400" dirty="0" smtClean="0"/>
              <a:t> file is not valid then it will throw an exception. If it is valid then it creates a meta-data in memory and returns the meta-data to object to represent the </a:t>
            </a:r>
            <a:r>
              <a:rPr lang="en-US" sz="2400" dirty="0" err="1" smtClean="0"/>
              <a:t>config</a:t>
            </a:r>
            <a:r>
              <a:rPr lang="en-US" sz="2400" dirty="0" smtClean="0"/>
              <a:t> file.</a:t>
            </a:r>
          </a:p>
          <a:p>
            <a:pPr algn="just" fontAlgn="base"/>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sp>
        <p:nvSpPr>
          <p:cNvPr id="52" name="Google Shape;52;p3"/>
          <p:cNvSpPr/>
          <p:nvPr/>
        </p:nvSpPr>
        <p:spPr>
          <a:xfrm>
            <a:off x="383250" y="1789925"/>
            <a:ext cx="8533200" cy="3416279"/>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Configuration:</a:t>
            </a:r>
          </a:p>
          <a:p>
            <a:pPr algn="just" fontAlgn="base"/>
            <a:endParaRPr lang="en-US" sz="2400" dirty="0" smtClean="0"/>
          </a:p>
          <a:p>
            <a:pPr marL="355600" indent="-355600" algn="just" fontAlgn="base">
              <a:buFont typeface="Arial" pitchFamily="34" charset="0"/>
              <a:buChar char="•"/>
            </a:pPr>
            <a:r>
              <a:rPr lang="en-US" sz="2400" dirty="0" smtClean="0"/>
              <a:t>It activate Hibernate Framework </a:t>
            </a:r>
          </a:p>
          <a:p>
            <a:pPr marL="355600" indent="-355600" algn="just" fontAlgn="base"/>
            <a:endParaRPr lang="en-US" sz="2400" b="1" dirty="0" smtClean="0"/>
          </a:p>
          <a:p>
            <a:pPr marL="355600" indent="-355600" algn="just" fontAlgn="base"/>
            <a:r>
              <a:rPr lang="en-US" sz="2400" b="1" dirty="0" smtClean="0"/>
              <a:t>	Configuration </a:t>
            </a:r>
            <a:r>
              <a:rPr lang="en-US" sz="2400" b="1" dirty="0" err="1" smtClean="0"/>
              <a:t>cfg</a:t>
            </a:r>
            <a:r>
              <a:rPr lang="en-US" sz="2400" b="1" dirty="0" smtClean="0"/>
              <a:t>=new Configuration();</a:t>
            </a:r>
            <a:r>
              <a:rPr lang="en-US" sz="2400" dirty="0" smtClean="0"/>
              <a:t> </a:t>
            </a:r>
          </a:p>
          <a:p>
            <a:pPr marL="355600" indent="-355600" algn="just" fontAlgn="base">
              <a:buFont typeface="Arial" pitchFamily="34" charset="0"/>
              <a:buChar char="•"/>
            </a:pPr>
            <a:endParaRPr lang="en-US" sz="2400" dirty="0" smtClean="0"/>
          </a:p>
          <a:p>
            <a:pPr marL="355600" indent="-355600" algn="just" fontAlgn="base">
              <a:buFont typeface="Arial" pitchFamily="34" charset="0"/>
              <a:buChar char="•"/>
            </a:pPr>
            <a:r>
              <a:rPr lang="en-US" sz="2400" dirty="0" smtClean="0"/>
              <a:t>It read both </a:t>
            </a:r>
            <a:r>
              <a:rPr lang="en-US" sz="2400" dirty="0" err="1" smtClean="0"/>
              <a:t>cfg</a:t>
            </a:r>
            <a:r>
              <a:rPr lang="en-US" sz="2400" dirty="0" smtClean="0"/>
              <a:t> file and mapping files </a:t>
            </a:r>
          </a:p>
          <a:p>
            <a:pPr marL="355600" indent="-355600" algn="just" fontAlgn="base">
              <a:buFont typeface="Arial" pitchFamily="34" charset="0"/>
              <a:buChar char="•"/>
            </a:pPr>
            <a:endParaRPr lang="en-US" sz="2400" b="1" dirty="0" smtClean="0"/>
          </a:p>
          <a:p>
            <a:pPr marL="355600" indent="-355600" algn="just" fontAlgn="base"/>
            <a:r>
              <a:rPr lang="en-US" sz="2400" b="1" dirty="0" smtClean="0"/>
              <a:t>	</a:t>
            </a:r>
            <a:r>
              <a:rPr lang="en-US" sz="2400" b="1" dirty="0" err="1" smtClean="0"/>
              <a:t>cfg.configure</a:t>
            </a:r>
            <a:r>
              <a:rPr lang="en-US" sz="2400" b="1" dirty="0" smtClean="0"/>
              <a: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algn="just" fontAlgn="base"/>
            <a:r>
              <a:rPr lang="en-US" sz="2400" b="1" dirty="0" err="1" smtClean="0"/>
              <a:t>SessionFactory</a:t>
            </a:r>
            <a:r>
              <a:rPr lang="en-US" sz="2400" b="1" dirty="0" smtClean="0"/>
              <a:t>:</a:t>
            </a:r>
            <a:endParaRPr lang="en-US" sz="2400" dirty="0" smtClean="0"/>
          </a:p>
          <a:p>
            <a:pPr marL="355600" indent="-355600" algn="just" fontAlgn="base">
              <a:buFont typeface="Arial" pitchFamily="34" charset="0"/>
              <a:buChar char="•"/>
            </a:pPr>
            <a:r>
              <a:rPr lang="en-US" sz="2400" dirty="0" err="1" smtClean="0"/>
              <a:t>SessionFactory</a:t>
            </a:r>
            <a:r>
              <a:rPr lang="en-US" sz="2400" dirty="0" smtClean="0"/>
              <a:t> is an Interface which is present in </a:t>
            </a:r>
            <a:r>
              <a:rPr lang="en-US" sz="2400" dirty="0" err="1" smtClean="0"/>
              <a:t>org.hibernate</a:t>
            </a:r>
            <a:r>
              <a:rPr lang="en-US" sz="2400" dirty="0" smtClean="0"/>
              <a:t> package and it is used to create Session Object.</a:t>
            </a:r>
          </a:p>
          <a:p>
            <a:pPr marL="355600" indent="-355600" algn="just" fontAlgn="base">
              <a:buFont typeface="Arial" pitchFamily="34" charset="0"/>
              <a:buChar char="•"/>
            </a:pPr>
            <a:r>
              <a:rPr lang="en-US" sz="2400" dirty="0" smtClean="0"/>
              <a:t>It is immutable and thread-safe in nature.</a:t>
            </a:r>
          </a:p>
          <a:p>
            <a:pPr marL="355600" indent="-355600" algn="just" fontAlgn="base"/>
            <a:endParaRPr lang="en-US" sz="2400" dirty="0" smtClean="0"/>
          </a:p>
          <a:p>
            <a:pPr marL="355600" indent="-355600" algn="just" fontAlgn="base">
              <a:buFont typeface="Arial" pitchFamily="34" charset="0"/>
              <a:buChar char="•"/>
            </a:pPr>
            <a:r>
              <a:rPr lang="en-US" sz="2400" dirty="0" err="1" smtClean="0"/>
              <a:t>buildSessionFactory</a:t>
            </a:r>
            <a:r>
              <a:rPr lang="en-US" sz="2400" dirty="0" smtClean="0"/>
              <a:t>() method gathers the meta-data which is in the </a:t>
            </a:r>
            <a:r>
              <a:rPr lang="en-US" sz="2400" dirty="0" err="1" smtClean="0"/>
              <a:t>cfg</a:t>
            </a:r>
            <a:r>
              <a:rPr lang="en-US" sz="2400" dirty="0" smtClean="0"/>
              <a:t> Object. From </a:t>
            </a:r>
            <a:r>
              <a:rPr lang="en-US" sz="2400" dirty="0" err="1" smtClean="0"/>
              <a:t>cfg</a:t>
            </a:r>
            <a:r>
              <a:rPr lang="en-US" sz="2400" dirty="0" smtClean="0"/>
              <a:t> object it takes the JDBC information and create a JDBC Connection. </a:t>
            </a:r>
          </a:p>
          <a:p>
            <a:pPr marL="355600" indent="-355600" algn="just" fontAlgn="base"/>
            <a:endParaRPr lang="en-US" sz="2400" b="1" dirty="0" smtClean="0"/>
          </a:p>
          <a:p>
            <a:pPr marL="355600" indent="-355600" algn="just" fontAlgn="base"/>
            <a:r>
              <a:rPr lang="en-US" sz="2400" b="1" dirty="0" smtClean="0"/>
              <a:t>	</a:t>
            </a:r>
            <a:r>
              <a:rPr lang="en-US" sz="2400" b="1" dirty="0" err="1" smtClean="0"/>
              <a:t>SessionFactory</a:t>
            </a:r>
            <a:r>
              <a:rPr lang="en-US" sz="2400" b="1" dirty="0" smtClean="0"/>
              <a:t> factory=</a:t>
            </a:r>
            <a:r>
              <a:rPr lang="en-US" sz="2400" b="1" dirty="0" err="1" smtClean="0"/>
              <a:t>cfg.buildSessionFactory</a:t>
            </a:r>
            <a:r>
              <a:rPr lang="en-US" sz="2400" b="1" dirty="0" smtClean="0"/>
              <a: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sp>
        <p:nvSpPr>
          <p:cNvPr id="52" name="Google Shape;52;p3"/>
          <p:cNvSpPr/>
          <p:nvPr/>
        </p:nvSpPr>
        <p:spPr>
          <a:xfrm>
            <a:off x="383250" y="1789925"/>
            <a:ext cx="8533200" cy="4154943"/>
          </a:xfrm>
          <a:prstGeom prst="rect">
            <a:avLst/>
          </a:prstGeom>
          <a:noFill/>
          <a:ln>
            <a:noFill/>
          </a:ln>
        </p:spPr>
        <p:txBody>
          <a:bodyPr spcFirstLastPara="1" wrap="square" lIns="91425" tIns="45700" rIns="91425" bIns="45700" anchor="t" anchorCtr="0">
            <a:spAutoFit/>
          </a:bodyPr>
          <a:lstStyle/>
          <a:p>
            <a:pPr fontAlgn="base"/>
            <a:r>
              <a:rPr lang="en-US" sz="2400" b="1" dirty="0" smtClean="0"/>
              <a:t>Session:</a:t>
            </a:r>
            <a:endParaRPr lang="en-US" sz="2400" dirty="0" smtClean="0"/>
          </a:p>
          <a:p>
            <a:pPr marL="355600" indent="-355600" fontAlgn="base">
              <a:buFont typeface="Arial" pitchFamily="34" charset="0"/>
              <a:buChar char="•"/>
            </a:pPr>
            <a:r>
              <a:rPr lang="en-US" sz="2400" dirty="0" smtClean="0"/>
              <a:t>Session is an interface which is present in </a:t>
            </a:r>
            <a:r>
              <a:rPr lang="en-US" sz="2400" dirty="0" err="1" smtClean="0"/>
              <a:t>org.hibernate</a:t>
            </a:r>
            <a:r>
              <a:rPr lang="en-US" sz="2400" dirty="0" smtClean="0"/>
              <a:t> package. Session object is created based upon </a:t>
            </a:r>
            <a:r>
              <a:rPr lang="en-US" sz="2400" dirty="0" err="1" smtClean="0"/>
              <a:t>SessionFactory</a:t>
            </a:r>
            <a:r>
              <a:rPr lang="en-US" sz="2400" dirty="0" smtClean="0"/>
              <a:t> object i.e. factory.</a:t>
            </a:r>
          </a:p>
          <a:p>
            <a:pPr marL="355600" indent="-355600" fontAlgn="base">
              <a:buFont typeface="Arial" pitchFamily="34" charset="0"/>
              <a:buChar char="•"/>
            </a:pPr>
            <a:r>
              <a:rPr lang="en-US" sz="2400" dirty="0" smtClean="0"/>
              <a:t>It opens the Connection/Session with Database software through Hibernate Framework.</a:t>
            </a:r>
          </a:p>
          <a:p>
            <a:pPr marL="355600" indent="-355600" fontAlgn="base">
              <a:buFont typeface="Arial" pitchFamily="34" charset="0"/>
              <a:buChar char="•"/>
            </a:pPr>
            <a:r>
              <a:rPr lang="en-US" sz="2400" dirty="0" smtClean="0"/>
              <a:t>It is a light-weight object and it is not thread-safe.</a:t>
            </a:r>
          </a:p>
          <a:p>
            <a:pPr marL="355600" indent="-355600" fontAlgn="base">
              <a:buFont typeface="Arial" pitchFamily="34" charset="0"/>
              <a:buChar char="•"/>
            </a:pPr>
            <a:r>
              <a:rPr lang="en-US" sz="2400" dirty="0" smtClean="0"/>
              <a:t>Session object is used to perform CRUD operations.</a:t>
            </a:r>
          </a:p>
          <a:p>
            <a:pPr fontAlgn="base"/>
            <a:endParaRPr lang="en-US" sz="2400" dirty="0" smtClean="0"/>
          </a:p>
          <a:p>
            <a:pPr fontAlgn="base"/>
            <a:r>
              <a:rPr lang="en-US" sz="2400" b="1" dirty="0" smtClean="0"/>
              <a:t>Session </a:t>
            </a:r>
            <a:r>
              <a:rPr lang="en-US" sz="2400" b="1" dirty="0" err="1" smtClean="0"/>
              <a:t>session</a:t>
            </a:r>
            <a:r>
              <a:rPr lang="en-US" sz="2400" b="1" dirty="0" smtClean="0"/>
              <a:t> = </a:t>
            </a:r>
            <a:r>
              <a:rPr lang="en-US" sz="2400" b="1" dirty="0" err="1" smtClean="0"/>
              <a:t>factory.openSession</a:t>
            </a:r>
            <a:r>
              <a:rPr lang="en-US" sz="2400" b="1" dirty="0" smtClean="0"/>
              <a:t>();</a:t>
            </a:r>
            <a:r>
              <a:rPr lang="en-US" sz="2400" dirty="0" smtClean="0"/>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sp>
        <p:nvSpPr>
          <p:cNvPr id="52" name="Google Shape;52;p3"/>
          <p:cNvSpPr/>
          <p:nvPr/>
        </p:nvSpPr>
        <p:spPr>
          <a:xfrm>
            <a:off x="383250" y="1789925"/>
            <a:ext cx="8533200" cy="4893607"/>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Session:</a:t>
            </a:r>
            <a:endParaRPr lang="en-US" sz="2400" dirty="0" smtClean="0"/>
          </a:p>
          <a:p>
            <a:pPr marL="355600" indent="-355600" algn="just" fontAlgn="base">
              <a:buFont typeface="Arial" pitchFamily="34" charset="0"/>
              <a:buChar char="•"/>
            </a:pPr>
            <a:r>
              <a:rPr lang="en-US" sz="2400" b="1" dirty="0" err="1" smtClean="0"/>
              <a:t>openSession</a:t>
            </a:r>
            <a:r>
              <a:rPr lang="en-US" sz="2400" b="1" dirty="0" smtClean="0"/>
              <a:t>() </a:t>
            </a:r>
            <a:r>
              <a:rPr lang="en-US" sz="2400" dirty="0" smtClean="0"/>
              <a:t>is a method provided by the </a:t>
            </a:r>
            <a:r>
              <a:rPr lang="en-US" sz="2400" dirty="0" err="1" smtClean="0"/>
              <a:t>SessionFactory</a:t>
            </a:r>
            <a:r>
              <a:rPr lang="en-US" sz="2400" dirty="0" smtClean="0"/>
              <a:t> that creates and returns a new Session instance. </a:t>
            </a:r>
          </a:p>
          <a:p>
            <a:pPr marL="355600" indent="-355600" algn="just" fontAlgn="base">
              <a:buFont typeface="Arial" pitchFamily="34" charset="0"/>
              <a:buChar char="•"/>
            </a:pPr>
            <a:r>
              <a:rPr lang="en-US" sz="2400" dirty="0" smtClean="0"/>
              <a:t>This session is not bound to any transaction or context and is independent of any ongoing transactions in the application.</a:t>
            </a:r>
          </a:p>
          <a:p>
            <a:pPr marL="355600" indent="-355600" algn="just" fontAlgn="base">
              <a:buFont typeface="Arial" pitchFamily="34" charset="0"/>
              <a:buChar char="•"/>
            </a:pPr>
            <a:r>
              <a:rPr lang="en-US" sz="2400" dirty="0" smtClean="0"/>
              <a:t>We can also use </a:t>
            </a:r>
            <a:r>
              <a:rPr lang="en-US" sz="2400" dirty="0" err="1" smtClean="0"/>
              <a:t>getCurrentSession</a:t>
            </a:r>
            <a:r>
              <a:rPr lang="en-US" sz="2400" dirty="0" smtClean="0"/>
              <a:t>, that returns a Session bound to the current context, which is usually managed by a transaction manager or a framework like Spring.</a:t>
            </a:r>
          </a:p>
          <a:p>
            <a:pPr marL="355600" indent="-355600" fontAlgn="base"/>
            <a:r>
              <a:rPr lang="en-US" sz="2400" b="1" dirty="0" smtClean="0"/>
              <a:t>	</a:t>
            </a:r>
            <a:r>
              <a:rPr lang="en-US" sz="2000" b="1" dirty="0" smtClean="0"/>
              <a:t>Session </a:t>
            </a:r>
            <a:r>
              <a:rPr lang="en-US" sz="2000" b="1" dirty="0" err="1" smtClean="0"/>
              <a:t>session</a:t>
            </a:r>
            <a:r>
              <a:rPr lang="en-US" sz="2000" b="1" dirty="0" smtClean="0"/>
              <a:t> = </a:t>
            </a:r>
            <a:r>
              <a:rPr lang="en-US" sz="2000" b="1" dirty="0" err="1" smtClean="0"/>
              <a:t>sessionFactory.getCurrentSession</a:t>
            </a:r>
            <a:r>
              <a:rPr lang="en-US" sz="2000" b="1" dirty="0" smtClean="0"/>
              <a:t>();</a:t>
            </a:r>
            <a:r>
              <a:rPr lang="en-US" sz="2400" b="1" dirty="0" smtClean="0"/>
              <a:t/>
            </a:r>
            <a:br>
              <a:rPr lang="en-US" sz="2400" b="1" dirty="0" smtClean="0"/>
            </a:br>
            <a:endParaRPr lang="en-US" sz="2400" b="1"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sp>
        <p:nvSpPr>
          <p:cNvPr id="52" name="Google Shape;52;p3"/>
          <p:cNvSpPr/>
          <p:nvPr/>
        </p:nvSpPr>
        <p:spPr>
          <a:xfrm>
            <a:off x="383250" y="1789925"/>
            <a:ext cx="8533200" cy="3785611"/>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Transaction:</a:t>
            </a:r>
            <a:endParaRPr lang="en-US" sz="2400" dirty="0" smtClean="0"/>
          </a:p>
          <a:p>
            <a:pPr marL="355600" indent="-355600" algn="just" fontAlgn="base">
              <a:buFont typeface="Arial" pitchFamily="34" charset="0"/>
              <a:buChar char="•"/>
            </a:pPr>
            <a:r>
              <a:rPr lang="en-US" sz="2400" dirty="0" smtClean="0"/>
              <a:t>Transaction object is used whenever we perform any operation and based upon that operation there is some change in database.</a:t>
            </a:r>
          </a:p>
          <a:p>
            <a:pPr marL="355600" indent="-355600" algn="just" fontAlgn="base">
              <a:buFont typeface="Arial" pitchFamily="34" charset="0"/>
              <a:buChar char="•"/>
            </a:pPr>
            <a:r>
              <a:rPr lang="en-US" sz="2400" dirty="0" smtClean="0"/>
              <a:t>Transaction object is used to give the instruction to the database to make the changes that happen because of operation as a permanent by using commit() method.</a:t>
            </a:r>
          </a:p>
          <a:p>
            <a:pPr marL="355600" indent="-355600" algn="just" fontAlgn="base"/>
            <a:endParaRPr lang="en-US" sz="2400" b="1" dirty="0" smtClean="0"/>
          </a:p>
          <a:p>
            <a:pPr marL="355600" lvl="6" indent="-355600" algn="just" fontAlgn="base"/>
            <a:r>
              <a:rPr lang="en-US" sz="2400" b="1" dirty="0" smtClean="0"/>
              <a:t>	Transaction </a:t>
            </a:r>
            <a:r>
              <a:rPr lang="en-US" sz="2400" b="1" dirty="0" err="1" smtClean="0"/>
              <a:t>tx</a:t>
            </a:r>
            <a:r>
              <a:rPr lang="en-US" sz="2400" b="1" dirty="0" smtClean="0"/>
              <a:t>=</a:t>
            </a:r>
            <a:r>
              <a:rPr lang="en-US" sz="2400" b="1" dirty="0" err="1" smtClean="0"/>
              <a:t>session.beginTransaction</a:t>
            </a:r>
            <a:r>
              <a:rPr lang="en-US" sz="2400" b="1" dirty="0" smtClean="0"/>
              <a:t>();</a:t>
            </a:r>
            <a:r>
              <a:rPr lang="en-US" sz="2400" dirty="0" smtClean="0"/>
              <a:t> </a:t>
            </a:r>
          </a:p>
          <a:p>
            <a:pPr marL="355600" lvl="6" indent="-355600" algn="just" fontAlgn="base"/>
            <a:r>
              <a:rPr lang="en-US" sz="2400" b="1" dirty="0" smtClean="0"/>
              <a:t>	</a:t>
            </a:r>
            <a:r>
              <a:rPr lang="en-US" sz="2400" b="1" dirty="0" err="1" smtClean="0"/>
              <a:t>tx.commit</a:t>
            </a:r>
            <a:r>
              <a:rPr lang="en-US" sz="2400" b="1" dirty="0" smtClean="0"/>
              <a:t>();</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sp>
        <p:nvSpPr>
          <p:cNvPr id="52" name="Google Shape;52;p3"/>
          <p:cNvSpPr/>
          <p:nvPr/>
        </p:nvSpPr>
        <p:spPr>
          <a:xfrm>
            <a:off x="383250" y="1789925"/>
            <a:ext cx="8533200" cy="3785611"/>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Query:</a:t>
            </a:r>
          </a:p>
          <a:p>
            <a:pPr marL="355600" indent="-355600" algn="just" fontAlgn="base">
              <a:buFont typeface="Arial" pitchFamily="34" charset="0"/>
              <a:buChar char="•"/>
            </a:pPr>
            <a:r>
              <a:rPr lang="en-US" sz="2400" dirty="0" smtClean="0"/>
              <a:t>Query is an interface that present inside </a:t>
            </a:r>
            <a:r>
              <a:rPr lang="en-US" sz="2400" dirty="0" err="1" smtClean="0"/>
              <a:t>org.hibernate</a:t>
            </a:r>
            <a:r>
              <a:rPr lang="en-US" sz="2400" dirty="0" smtClean="0"/>
              <a:t> package.</a:t>
            </a:r>
          </a:p>
          <a:p>
            <a:pPr marL="355600" indent="-355600" algn="just" fontAlgn="base">
              <a:buFont typeface="Arial" pitchFamily="34" charset="0"/>
              <a:buChar char="•"/>
            </a:pPr>
            <a:r>
              <a:rPr lang="en-US" sz="2400" dirty="0" smtClean="0"/>
              <a:t>A Query instance is obtained by calling </a:t>
            </a:r>
            <a:r>
              <a:rPr lang="en-US" sz="2400" dirty="0" err="1" smtClean="0"/>
              <a:t>Session.createQuery</a:t>
            </a:r>
            <a:r>
              <a:rPr lang="en-US" sz="2400" dirty="0" smtClean="0"/>
              <a:t>().</a:t>
            </a:r>
          </a:p>
          <a:p>
            <a:pPr marL="355600" indent="-355600" algn="just" fontAlgn="base">
              <a:buFont typeface="Arial" pitchFamily="34" charset="0"/>
              <a:buChar char="•"/>
            </a:pPr>
            <a:r>
              <a:rPr lang="en-US" sz="2400" dirty="0" smtClean="0"/>
              <a:t>This interface exposes some extra functionality beyond that provided by </a:t>
            </a:r>
            <a:r>
              <a:rPr lang="en-US" sz="2400" dirty="0" err="1" smtClean="0"/>
              <a:t>Session.iterate</a:t>
            </a:r>
            <a:r>
              <a:rPr lang="en-US" sz="2400" dirty="0" smtClean="0"/>
              <a:t>() and </a:t>
            </a:r>
            <a:r>
              <a:rPr lang="en-US" sz="2400" dirty="0" err="1" smtClean="0"/>
              <a:t>Session.find</a:t>
            </a:r>
            <a:r>
              <a:rPr lang="en-US" sz="2400" dirty="0" smtClean="0"/>
              <a:t>():</a:t>
            </a:r>
          </a:p>
          <a:p>
            <a:pPr marL="1077913" lvl="3" indent="-355600" algn="just" fontAlgn="base">
              <a:buFont typeface="+mj-lt"/>
              <a:buAutoNum type="arabicPeriod"/>
            </a:pPr>
            <a:r>
              <a:rPr lang="en-US" sz="2400" dirty="0" smtClean="0"/>
              <a:t>A particular page of the result set may be selected by calling </a:t>
            </a:r>
            <a:r>
              <a:rPr lang="en-US" sz="2400" dirty="0" err="1" smtClean="0"/>
              <a:t>setMaxResults</a:t>
            </a:r>
            <a:r>
              <a:rPr lang="en-US" sz="2400" dirty="0" smtClean="0"/>
              <a:t>(), </a:t>
            </a:r>
            <a:r>
              <a:rPr lang="en-US" sz="2400" dirty="0" err="1" smtClean="0"/>
              <a:t>setFirstResult</a:t>
            </a:r>
            <a:r>
              <a:rPr lang="en-US" sz="2400" dirty="0" smtClean="0"/>
              <a:t>().</a:t>
            </a:r>
          </a:p>
          <a:p>
            <a:pPr marL="1077913" lvl="3" indent="-355600" algn="just" fontAlgn="base">
              <a:buFont typeface="+mj-lt"/>
              <a:buAutoNum type="arabicPeriod"/>
            </a:pPr>
            <a:r>
              <a:rPr lang="en-US" sz="2400" dirty="0" smtClean="0"/>
              <a:t>Named query parameters may be used.</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a:t>
            </a:r>
          </a:p>
        </p:txBody>
      </p:sp>
      <p:sp>
        <p:nvSpPr>
          <p:cNvPr id="52" name="Google Shape;52;p3"/>
          <p:cNvSpPr/>
          <p:nvPr/>
        </p:nvSpPr>
        <p:spPr>
          <a:xfrm>
            <a:off x="383250" y="1789925"/>
            <a:ext cx="8533200" cy="1938952"/>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Criteria:</a:t>
            </a:r>
            <a:endParaRPr lang="en-US" sz="2400" dirty="0" smtClean="0"/>
          </a:p>
          <a:p>
            <a:pPr marL="355600" indent="-355600" algn="just" fontAlgn="base">
              <a:buFont typeface="Arial" pitchFamily="34" charset="0"/>
              <a:buChar char="•"/>
            </a:pPr>
            <a:r>
              <a:rPr lang="en-US" sz="2400" dirty="0" smtClean="0"/>
              <a:t>Criteria is a simplified API for retrieving entities by composing Criterion objects.</a:t>
            </a:r>
          </a:p>
          <a:p>
            <a:pPr marL="355600" indent="-355600" algn="just" fontAlgn="base">
              <a:buFont typeface="Arial" pitchFamily="34" charset="0"/>
              <a:buChar char="•"/>
            </a:pPr>
            <a:r>
              <a:rPr lang="en-US" sz="2400" dirty="0" smtClean="0"/>
              <a:t>The Session is a factory for Criteria. Criterion instances are usually obtained via the factory methods on Restrictions.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 Workflow</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pic>
        <p:nvPicPr>
          <p:cNvPr id="3074" name="Picture 2"/>
          <p:cNvPicPr>
            <a:picLocks noChangeAspect="1" noChangeArrowheads="1"/>
          </p:cNvPicPr>
          <p:nvPr/>
        </p:nvPicPr>
        <p:blipFill>
          <a:blip r:embed="rId3"/>
          <a:srcRect/>
          <a:stretch>
            <a:fillRect/>
          </a:stretch>
        </p:blipFill>
        <p:spPr bwMode="auto">
          <a:xfrm>
            <a:off x="2878955" y="1366787"/>
            <a:ext cx="3848100" cy="4801353"/>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36948"/>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 Workflow</a:t>
            </a:r>
          </a:p>
        </p:txBody>
      </p:sp>
      <p:sp>
        <p:nvSpPr>
          <p:cNvPr id="52" name="Google Shape;52;p3"/>
          <p:cNvSpPr/>
          <p:nvPr/>
        </p:nvSpPr>
        <p:spPr>
          <a:xfrm>
            <a:off x="412126" y="1327912"/>
            <a:ext cx="8533200" cy="5262939"/>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Stage I:</a:t>
            </a:r>
            <a:r>
              <a:rPr lang="en-US" sz="2400" dirty="0" smtClean="0"/>
              <a:t> In first stage, we will write the persistence logic to perform some specific operations to the database with the help of Hibernate Configuration file and Hibernate mapping file. And after that we create an object of the particular class on which we wrote the persistence logic.</a:t>
            </a:r>
          </a:p>
          <a:p>
            <a:pPr algn="just" fontAlgn="base"/>
            <a:endParaRPr lang="en-US" sz="2400" dirty="0" smtClean="0"/>
          </a:p>
          <a:p>
            <a:pPr algn="just" fontAlgn="base"/>
            <a:r>
              <a:rPr lang="en-US" sz="2400" b="1" dirty="0" smtClean="0"/>
              <a:t>Stage II: </a:t>
            </a:r>
            <a:r>
              <a:rPr lang="en-US" sz="2400" dirty="0" smtClean="0"/>
              <a:t>In second stage, our class which contains the persistence logic will interact with the hibernate framework where hibernate framework gives some abstraction do perform some task. Now here the picture of java class is over. Now Hibernate is responsible to perform the persistence logic with the help of layers which is below of Hibernate framework or we can say that the layers which are the internal implementation of Hibernate. </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36948"/>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err="1" smtClean="0">
                <a:solidFill>
                  <a:schemeClr val="dk2"/>
                </a:solidFill>
                <a:latin typeface="Calibri"/>
                <a:cs typeface="Calibri"/>
                <a:sym typeface="Calibri"/>
              </a:rPr>
              <a:t>Hibernet</a:t>
            </a:r>
            <a:r>
              <a:rPr lang="en-US" sz="2400" b="1" dirty="0" smtClean="0">
                <a:solidFill>
                  <a:schemeClr val="dk2"/>
                </a:solidFill>
                <a:latin typeface="Calibri"/>
                <a:cs typeface="Calibri"/>
                <a:sym typeface="Calibri"/>
              </a:rPr>
              <a:t> Architecture Workflow</a:t>
            </a:r>
          </a:p>
        </p:txBody>
      </p:sp>
      <p:sp>
        <p:nvSpPr>
          <p:cNvPr id="52" name="Google Shape;52;p3"/>
          <p:cNvSpPr/>
          <p:nvPr/>
        </p:nvSpPr>
        <p:spPr>
          <a:xfrm>
            <a:off x="412126" y="1327912"/>
            <a:ext cx="8533200" cy="2677616"/>
          </a:xfrm>
          <a:prstGeom prst="rect">
            <a:avLst/>
          </a:prstGeom>
          <a:noFill/>
          <a:ln>
            <a:noFill/>
          </a:ln>
        </p:spPr>
        <p:txBody>
          <a:bodyPr spcFirstLastPara="1" wrap="square" lIns="91425" tIns="45700" rIns="91425" bIns="45700" anchor="t" anchorCtr="0">
            <a:spAutoFit/>
          </a:bodyPr>
          <a:lstStyle/>
          <a:p>
            <a:pPr algn="just" fontAlgn="base"/>
            <a:endParaRPr lang="en-US" sz="2400" b="1" dirty="0" smtClean="0"/>
          </a:p>
          <a:p>
            <a:pPr algn="just" fontAlgn="base"/>
            <a:r>
              <a:rPr lang="en-US" sz="2400" b="1" dirty="0" smtClean="0"/>
              <a:t>Stage </a:t>
            </a:r>
            <a:r>
              <a:rPr lang="en-US" sz="2400" b="1" dirty="0" err="1" smtClean="0"/>
              <a:t>III:</a:t>
            </a:r>
            <a:r>
              <a:rPr lang="en-US" sz="2400" dirty="0" err="1" smtClean="0"/>
              <a:t>In</a:t>
            </a:r>
            <a:r>
              <a:rPr lang="en-US" sz="2400" dirty="0" smtClean="0"/>
              <a:t> third stage, our hibernate framework interact which JDBC, JNDI, JTA etc to go to the database to perform that persistence logic.</a:t>
            </a:r>
          </a:p>
          <a:p>
            <a:pPr algn="just" fontAlgn="base"/>
            <a:endParaRPr lang="en-US" sz="2400" dirty="0" smtClean="0"/>
          </a:p>
          <a:p>
            <a:pPr algn="just" fontAlgn="base"/>
            <a:r>
              <a:rPr lang="en-US" sz="2400" b="1" dirty="0" smtClean="0"/>
              <a:t>Stage IV &amp; V:</a:t>
            </a:r>
            <a:r>
              <a:rPr lang="en-US" sz="2400" dirty="0" smtClean="0"/>
              <a:t>In fourth &amp; fifth stage, hibernate is interact with Database with the help of JDBC driver.</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36948"/>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JPA</a:t>
            </a:r>
          </a:p>
        </p:txBody>
      </p:sp>
      <p:sp>
        <p:nvSpPr>
          <p:cNvPr id="52" name="Google Shape;52;p3"/>
          <p:cNvSpPr/>
          <p:nvPr/>
        </p:nvSpPr>
        <p:spPr>
          <a:xfrm>
            <a:off x="392876" y="1568543"/>
            <a:ext cx="8533200" cy="3046948"/>
          </a:xfrm>
          <a:prstGeom prst="rect">
            <a:avLst/>
          </a:prstGeom>
          <a:noFill/>
          <a:ln>
            <a:noFill/>
          </a:ln>
        </p:spPr>
        <p:txBody>
          <a:bodyPr spcFirstLastPara="1" wrap="square" lIns="91425" tIns="45700" rIns="91425" bIns="45700" anchor="t" anchorCtr="0">
            <a:spAutoFit/>
          </a:bodyPr>
          <a:lstStyle/>
          <a:p>
            <a:pPr marL="355600" indent="-355600" algn="just" fontAlgn="base">
              <a:buFont typeface="Arial" pitchFamily="34" charset="0"/>
              <a:buChar char="•"/>
            </a:pPr>
            <a:r>
              <a:rPr lang="en-US" sz="2400" dirty="0" smtClean="0"/>
              <a:t>JPA stands for Java Persistence API (Application Programming Interface). </a:t>
            </a:r>
          </a:p>
          <a:p>
            <a:pPr marL="355600" indent="-355600" algn="just" fontAlgn="base">
              <a:buFont typeface="Arial" pitchFamily="34" charset="0"/>
              <a:buChar char="•"/>
            </a:pPr>
            <a:r>
              <a:rPr lang="en-US" sz="2400" dirty="0" smtClean="0"/>
              <a:t>It was initially released on 11 May 2006. It is a Java specification that provides functionality and standards for ORM tools. </a:t>
            </a:r>
          </a:p>
          <a:p>
            <a:pPr marL="355600" indent="-355600" algn="just" fontAlgn="base">
              <a:buFont typeface="Arial" pitchFamily="34" charset="0"/>
              <a:buChar char="•"/>
            </a:pPr>
            <a:r>
              <a:rPr lang="en-US" sz="2400" dirty="0" smtClean="0"/>
              <a:t>It is used to examine, control, and persist data between Java objects and relational databases. It is regarded as a standard technique for Object Relational Mapping.</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JPA</a:t>
            </a:r>
          </a:p>
        </p:txBody>
      </p:sp>
      <p:sp>
        <p:nvSpPr>
          <p:cNvPr id="52" name="Google Shape;52;p3"/>
          <p:cNvSpPr/>
          <p:nvPr/>
        </p:nvSpPr>
        <p:spPr>
          <a:xfrm>
            <a:off x="383250" y="1789925"/>
            <a:ext cx="8533200" cy="3046948"/>
          </a:xfrm>
          <a:prstGeom prst="rect">
            <a:avLst/>
          </a:prstGeom>
          <a:noFill/>
          <a:ln>
            <a:noFill/>
          </a:ln>
        </p:spPr>
        <p:txBody>
          <a:bodyPr spcFirstLastPara="1" wrap="square" lIns="91425" tIns="45700" rIns="91425" bIns="45700" anchor="t" anchorCtr="0">
            <a:spAutoFit/>
          </a:bodyPr>
          <a:lstStyle/>
          <a:p>
            <a:pPr marL="355600" indent="-355600" fontAlgn="base">
              <a:buFont typeface="Arial" pitchFamily="34" charset="0"/>
              <a:buChar char="•"/>
            </a:pPr>
            <a:r>
              <a:rPr lang="en-US" sz="2400" b="1" dirty="0" smtClean="0"/>
              <a:t>Key Features of JPA</a:t>
            </a:r>
          </a:p>
          <a:p>
            <a:pPr marL="722313" lvl="4" indent="-366713" fontAlgn="base">
              <a:buFont typeface="Arial" pitchFamily="34" charset="0"/>
              <a:buChar char="•"/>
            </a:pPr>
            <a:r>
              <a:rPr lang="en-US" sz="2400" dirty="0" smtClean="0"/>
              <a:t>It is a lightweight persistence API.</a:t>
            </a:r>
          </a:p>
          <a:p>
            <a:pPr marL="722313" lvl="4" indent="-366713" fontAlgn="base">
              <a:buFont typeface="Arial" pitchFamily="34" charset="0"/>
              <a:buChar char="•"/>
            </a:pPr>
            <a:r>
              <a:rPr lang="en-US" sz="2400" dirty="0" smtClean="0"/>
              <a:t>Supports object-relational mapping with simple annotations.</a:t>
            </a:r>
          </a:p>
          <a:p>
            <a:pPr marL="722313" lvl="4" indent="-366713" fontAlgn="base">
              <a:buFont typeface="Arial" pitchFamily="34" charset="0"/>
              <a:buChar char="•"/>
            </a:pPr>
            <a:r>
              <a:rPr lang="en-US" sz="2400" dirty="0" smtClean="0"/>
              <a:t>Provides support for polymorphism and inheritance.</a:t>
            </a:r>
          </a:p>
          <a:p>
            <a:pPr marL="722313" lvl="4" indent="-366713" fontAlgn="base">
              <a:buFont typeface="Arial" pitchFamily="34" charset="0"/>
              <a:buChar char="•"/>
            </a:pPr>
            <a:r>
              <a:rPr lang="en-US" sz="2400" dirty="0" smtClean="0"/>
              <a:t>Allows dynamic and named queries.</a:t>
            </a:r>
          </a:p>
          <a:p>
            <a:pPr marL="722313" lvl="4" indent="-366713" fontAlgn="base">
              <a:buFont typeface="Arial" pitchFamily="34" charset="0"/>
              <a:buChar char="•"/>
            </a:pPr>
            <a:r>
              <a:rPr lang="en-US" sz="2400" dirty="0" smtClean="0"/>
              <a:t>Enables seamless switching between different ORM implementations.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36948"/>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JPA vs. </a:t>
            </a:r>
            <a:r>
              <a:rPr lang="en-US" sz="2400" b="1" dirty="0" err="1" smtClean="0">
                <a:solidFill>
                  <a:schemeClr val="dk2"/>
                </a:solidFill>
                <a:latin typeface="Calibri"/>
                <a:cs typeface="Calibri"/>
                <a:sym typeface="Calibri"/>
              </a:rPr>
              <a:t>Hibernet</a:t>
            </a:r>
            <a:endParaRPr lang="en-US" sz="2400" b="1" dirty="0" smtClean="0">
              <a:solidFill>
                <a:schemeClr val="dk2"/>
              </a:solidFill>
              <a:latin typeface="Calibri"/>
              <a:cs typeface="Calibri"/>
              <a:sym typeface="Calibri"/>
            </a:endParaRPr>
          </a:p>
        </p:txBody>
      </p:sp>
      <p:sp>
        <p:nvSpPr>
          <p:cNvPr id="52" name="Google Shape;52;p3"/>
          <p:cNvSpPr/>
          <p:nvPr/>
        </p:nvSpPr>
        <p:spPr>
          <a:xfrm>
            <a:off x="392876" y="1568543"/>
            <a:ext cx="8533200" cy="1938952"/>
          </a:xfrm>
          <a:prstGeom prst="rect">
            <a:avLst/>
          </a:prstGeom>
          <a:noFill/>
          <a:ln>
            <a:noFill/>
          </a:ln>
        </p:spPr>
        <p:txBody>
          <a:bodyPr spcFirstLastPara="1" wrap="square" lIns="91425" tIns="45700" rIns="91425" bIns="45700" anchor="t" anchorCtr="0">
            <a:spAutoFit/>
          </a:bodyPr>
          <a:lstStyle/>
          <a:p>
            <a:pPr algn="just" fontAlgn="base"/>
            <a:r>
              <a:rPr lang="en-US" sz="2400" dirty="0" smtClean="0"/>
              <a:t>The main difference between JPA and Hibernate is that,</a:t>
            </a:r>
          </a:p>
          <a:p>
            <a:pPr marL="355600" lvl="1" indent="-355600" algn="just" fontAlgn="base">
              <a:buFont typeface="Arial" pitchFamily="34" charset="0"/>
              <a:buChar char="•"/>
            </a:pPr>
            <a:r>
              <a:rPr lang="en-US" sz="2400" u="sng" dirty="0" smtClean="0">
                <a:hlinkClick r:id="rId3"/>
              </a:rPr>
              <a:t>JPA</a:t>
            </a:r>
            <a:r>
              <a:rPr lang="en-US" sz="2400" dirty="0" smtClean="0"/>
              <a:t> is a specification that defines how ORM tools should function.</a:t>
            </a:r>
          </a:p>
          <a:p>
            <a:pPr marL="355600" lvl="1" indent="-355600" algn="just" fontAlgn="base">
              <a:buFont typeface="Arial" pitchFamily="34" charset="0"/>
              <a:buChar char="•"/>
            </a:pPr>
            <a:r>
              <a:rPr lang="en-US" sz="2400" u="sng" dirty="0" smtClean="0">
                <a:hlinkClick r:id="rId4"/>
              </a:rPr>
              <a:t>Hibernate</a:t>
            </a:r>
            <a:r>
              <a:rPr lang="en-US" sz="2400" dirty="0" smtClean="0"/>
              <a:t> is an actual implementation of JPA that provides ORM capabilities.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936948"/>
            <a:ext cx="8394787" cy="461624"/>
          </a:xfrm>
          <a:prstGeom prst="rect">
            <a:avLst/>
          </a:prstGeom>
          <a:noFill/>
          <a:ln>
            <a:noFill/>
          </a:ln>
        </p:spPr>
        <p:txBody>
          <a:bodyPr spcFirstLastPara="1" wrap="square" lIns="91425" tIns="45700" rIns="91425" bIns="45700" anchor="t" anchorCtr="0">
            <a:spAutoFit/>
          </a:bodyPr>
          <a:lstStyle/>
          <a:p>
            <a:pPr lvl="0">
              <a:buSzPts val="2400"/>
            </a:pPr>
            <a:r>
              <a:rPr lang="en-US" sz="2400" b="1" dirty="0" smtClean="0">
                <a:solidFill>
                  <a:schemeClr val="dk2"/>
                </a:solidFill>
                <a:latin typeface="Calibri"/>
                <a:cs typeface="Calibri"/>
                <a:sym typeface="Calibri"/>
              </a:rPr>
              <a:t>JPA vs. </a:t>
            </a:r>
            <a:r>
              <a:rPr lang="en-US" sz="2400" b="1" dirty="0" err="1" smtClean="0">
                <a:solidFill>
                  <a:schemeClr val="dk2"/>
                </a:solidFill>
                <a:latin typeface="Calibri"/>
                <a:cs typeface="Calibri"/>
                <a:sym typeface="Calibri"/>
              </a:rPr>
              <a:t>Hibernet</a:t>
            </a:r>
            <a:endParaRPr lang="en-US" sz="2400" b="1" dirty="0" smtClean="0">
              <a:solidFill>
                <a:schemeClr val="dk2"/>
              </a:solidFill>
              <a:latin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5" name="Table 4"/>
          <p:cNvGraphicFramePr>
            <a:graphicFrameLocks noGrp="1"/>
          </p:cNvGraphicFramePr>
          <p:nvPr/>
        </p:nvGraphicFramePr>
        <p:xfrm>
          <a:off x="1414911" y="1339248"/>
          <a:ext cx="7180448" cy="5139053"/>
        </p:xfrm>
        <a:graphic>
          <a:graphicData uri="http://schemas.openxmlformats.org/drawingml/2006/table">
            <a:tbl>
              <a:tblPr/>
              <a:tblGrid>
                <a:gridCol w="3590224"/>
                <a:gridCol w="3590224"/>
              </a:tblGrid>
              <a:tr h="268099">
                <a:tc>
                  <a:txBody>
                    <a:bodyPr/>
                    <a:lstStyle/>
                    <a:p>
                      <a:pPr algn="ctr" rtl="0" fontAlgn="base"/>
                      <a:r>
                        <a:rPr lang="en-US" sz="1400" b="1" dirty="0"/>
                        <a:t>JPA</a:t>
                      </a:r>
                    </a:p>
                  </a:txBody>
                  <a:tcPr marL="25149" marR="25149" marT="41914" marB="4191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a:t>Hibernate</a:t>
                      </a:r>
                    </a:p>
                  </a:txBody>
                  <a:tcPr marL="41914" marR="41914" marT="41914" marB="4191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r>
              <a:tr h="440163">
                <a:tc>
                  <a:txBody>
                    <a:bodyPr/>
                    <a:lstStyle/>
                    <a:p>
                      <a:pPr algn="ctr" fontAlgn="ctr"/>
                      <a:r>
                        <a:rPr lang="en-US" sz="1200" b="0" dirty="0"/>
                        <a:t>JPA is described in </a:t>
                      </a:r>
                      <a:r>
                        <a:rPr lang="en-US" sz="1200" b="1" dirty="0" err="1"/>
                        <a:t>javax.persistence</a:t>
                      </a:r>
                      <a:r>
                        <a:rPr lang="en-US" sz="1200" b="0" dirty="0"/>
                        <a:t> package.</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Hibernate is described in </a:t>
                      </a:r>
                      <a:r>
                        <a:rPr lang="en-US" sz="1200" b="1"/>
                        <a:t>org.hibernate</a:t>
                      </a:r>
                      <a:r>
                        <a:rPr lang="en-US" sz="1200" b="0"/>
                        <a:t> package.</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740274">
                <a:tc>
                  <a:txBody>
                    <a:bodyPr/>
                    <a:lstStyle/>
                    <a:p>
                      <a:pPr algn="ctr" fontAlgn="ctr"/>
                      <a:r>
                        <a:rPr lang="en-US" sz="1200" b="0" dirty="0"/>
                        <a:t>It describes the handling of relational data in Java applications.                                                                        </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00" b="0"/>
                        <a:t>Hibernate is an Object-Relational Mapping (ORM) tool that is used to save Java objects in the relational database system.</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590218">
                <a:tc>
                  <a:txBody>
                    <a:bodyPr/>
                    <a:lstStyle/>
                    <a:p>
                      <a:pPr algn="ctr" fontAlgn="ctr"/>
                      <a:r>
                        <a:rPr lang="en-US" sz="1200" b="0" dirty="0"/>
                        <a:t>It is not an implementation. It is only a Java specification.</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Hibernate is an implementation of JPA. Hence, the common standard which is given by JPA is followed by Hibernate.</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590218">
                <a:tc>
                  <a:txBody>
                    <a:bodyPr/>
                    <a:lstStyle/>
                    <a:p>
                      <a:pPr algn="ctr" rtl="0" fontAlgn="base"/>
                      <a:r>
                        <a:rPr lang="en-US" sz="1200" b="0" dirty="0"/>
                        <a:t>It is a standard API that permits to perform database operations.</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00" b="0"/>
                        <a:t>It is used in mapping Java data types with SQL data types and database tables.</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590218">
                <a:tc>
                  <a:txBody>
                    <a:bodyPr/>
                    <a:lstStyle/>
                    <a:p>
                      <a:pPr algn="ctr" rtl="0" fontAlgn="base"/>
                      <a:r>
                        <a:rPr lang="en-US" sz="1200" b="0" dirty="0"/>
                        <a:t>As an object-oriented query language, it uses Java Persistence Query Language (JPQL) to execute database operations.</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00" b="0" dirty="0"/>
                        <a:t>As an object-oriented query language, it uses Hibernate Query Language (HQL) to execute database operations.</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740274">
                <a:tc>
                  <a:txBody>
                    <a:bodyPr/>
                    <a:lstStyle/>
                    <a:p>
                      <a:pPr algn="ctr" rtl="0" fontAlgn="base"/>
                      <a:r>
                        <a:rPr lang="en-US" sz="1200" b="0"/>
                        <a:t>To interconnect with the entity manager factory for the persistence unit, it uses the </a:t>
                      </a:r>
                      <a:r>
                        <a:rPr lang="en-US" sz="1200" b="1"/>
                        <a:t>EntityManagerFactory</a:t>
                      </a:r>
                      <a:r>
                        <a:rPr lang="en-US" sz="1200" b="0"/>
                        <a:t> interface. Thus, it gives an entity manager.</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t>To create Session instances, it uses</a:t>
                      </a:r>
                      <a:r>
                        <a:rPr lang="en-US" sz="1200" b="1" dirty="0"/>
                        <a:t> </a:t>
                      </a:r>
                      <a:r>
                        <a:rPr lang="en-US" sz="1200" b="0" dirty="0"/>
                        <a:t>the</a:t>
                      </a:r>
                      <a:r>
                        <a:rPr lang="en-US" sz="1200" b="1" dirty="0"/>
                        <a:t> </a:t>
                      </a:r>
                      <a:r>
                        <a:rPr lang="en-US" sz="1200" b="1" dirty="0" err="1"/>
                        <a:t>SessionFactory</a:t>
                      </a:r>
                      <a:r>
                        <a:rPr lang="en-US" sz="1200" b="0" dirty="0"/>
                        <a:t> interface.</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890330">
                <a:tc>
                  <a:txBody>
                    <a:bodyPr/>
                    <a:lstStyle/>
                    <a:p>
                      <a:pPr algn="ctr" rtl="0" fontAlgn="base"/>
                      <a:r>
                        <a:rPr lang="en-US" sz="1200" b="0"/>
                        <a:t>To make, read, and remove actions for instances of mapped entity classes, it uses the </a:t>
                      </a:r>
                      <a:r>
                        <a:rPr lang="en-US" sz="1200" b="1"/>
                        <a:t>EntityManager</a:t>
                      </a:r>
                      <a:r>
                        <a:rPr lang="en-US" sz="1200" b="0"/>
                        <a:t> interface. This interface interconnects with the persistence condition.</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00" b="0" dirty="0"/>
                        <a:t>To make, read, and remove actions for instances of mapped entity classes, it uses </a:t>
                      </a:r>
                      <a:r>
                        <a:rPr lang="en-US" sz="1200" b="1" dirty="0"/>
                        <a:t>Session</a:t>
                      </a:r>
                      <a:r>
                        <a:rPr lang="en-US" sz="1200" b="0" dirty="0"/>
                        <a:t> interface. It acts as a runtime interface between a Java application and Hibernate.</a:t>
                      </a:r>
                    </a:p>
                  </a:txBody>
                  <a:tcPr marL="41914" marR="41914" marT="58680" marB="5868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457200" indent="-304800">
              <a:lnSpc>
                <a:spcPct val="150000"/>
              </a:lnSpc>
              <a:buClr>
                <a:schemeClr val="dk1"/>
              </a:buClr>
              <a:buSzPts val="1200"/>
              <a:buFont typeface="Arial"/>
              <a:buAutoNum type="arabicPeriod"/>
            </a:pPr>
            <a:r>
              <a:rPr lang="en-US" sz="1200" b="1" dirty="0" smtClean="0">
                <a:solidFill>
                  <a:srgbClr val="FF0000"/>
                </a:solidFill>
              </a:rPr>
              <a:t>Book Reference</a:t>
            </a:r>
            <a:br>
              <a:rPr lang="en-US" sz="1200" b="1" dirty="0" smtClean="0">
                <a:solidFill>
                  <a:srgbClr val="FF0000"/>
                </a:solidFill>
              </a:rPr>
            </a:br>
            <a:r>
              <a:rPr lang="en-US" sz="1200" dirty="0" smtClean="0">
                <a:solidFill>
                  <a:srgbClr val="FF0000"/>
                </a:solidFill>
              </a:rPr>
              <a:t>Jim Farley, William Crawford, David Flanagan. Java Enterprise in a Nutshell, O'Reilly</a:t>
            </a:r>
          </a:p>
          <a:p>
            <a:pPr marL="457200" lvl="0" indent="-304800">
              <a:lnSpc>
                <a:spcPct val="150000"/>
              </a:lnSpc>
              <a:buClr>
                <a:schemeClr val="dk1"/>
              </a:buClr>
              <a:buSzPts val="1200"/>
              <a:buFont typeface="Arial"/>
              <a:buAutoNum type="arabicPeriod"/>
            </a:pPr>
            <a:r>
              <a:rPr lang="en-US" sz="1200" b="1" dirty="0" smtClean="0">
                <a:solidFill>
                  <a:srgbClr val="FF0000"/>
                </a:solidFill>
              </a:rPr>
              <a:t>Book Reference</a:t>
            </a:r>
          </a:p>
          <a:p>
            <a:pPr marL="457200" lvl="0">
              <a:lnSpc>
                <a:spcPct val="150000"/>
              </a:lnSpc>
              <a:buSzPts val="1200"/>
            </a:pPr>
            <a:r>
              <a:rPr lang="en-US" sz="1200" dirty="0" smtClean="0">
                <a:solidFill>
                  <a:srgbClr val="FF0000"/>
                </a:solidFill>
              </a:rPr>
              <a:t>Rocha, R., </a:t>
            </a:r>
            <a:r>
              <a:rPr lang="en-US" sz="1200" dirty="0" err="1" smtClean="0">
                <a:solidFill>
                  <a:srgbClr val="FF0000"/>
                </a:solidFill>
              </a:rPr>
              <a:t>Purificação</a:t>
            </a:r>
            <a:r>
              <a:rPr lang="en-US" sz="1200" dirty="0" smtClean="0">
                <a:solidFill>
                  <a:srgbClr val="FF0000"/>
                </a:solidFill>
              </a:rPr>
              <a:t>, J. (2018). Java EE 8 Design Patterns and Best Practices: Build Enterprise-ready Scalable Applications with Architectural Design Patterns. Germany: </a:t>
            </a:r>
            <a:r>
              <a:rPr lang="en-US" sz="1200" dirty="0" err="1" smtClean="0">
                <a:solidFill>
                  <a:srgbClr val="FF0000"/>
                </a:solidFill>
              </a:rPr>
              <a:t>Packt</a:t>
            </a:r>
            <a:r>
              <a:rPr lang="en-US" sz="1200" dirty="0" smtClean="0">
                <a:solidFill>
                  <a:srgbClr val="FF0000"/>
                </a:solidFill>
              </a:rPr>
              <a:t> Publishing..</a:t>
            </a:r>
            <a:endParaRPr lang="en-US" sz="1200" b="1" dirty="0" smtClean="0">
              <a:solidFill>
                <a:srgbClr val="FF0000"/>
              </a:solidFill>
            </a:endParaRPr>
          </a:p>
          <a:p>
            <a:pPr marL="457200" lvl="0" indent="-304800">
              <a:lnSpc>
                <a:spcPct val="150000"/>
              </a:lnSpc>
              <a:buClr>
                <a:schemeClr val="dk1"/>
              </a:buClr>
              <a:buSzPts val="1200"/>
              <a:buFont typeface="+mj-lt"/>
              <a:buAutoNum type="arabicPeriod" startAt="3"/>
            </a:pPr>
            <a:r>
              <a:rPr lang="en-US" sz="1200" b="1" dirty="0" smtClean="0">
                <a:solidFill>
                  <a:srgbClr val="FF0000"/>
                </a:solidFill>
              </a:rPr>
              <a:t>Website Reference</a:t>
            </a:r>
          </a:p>
          <a:p>
            <a:pPr marL="457200" lvl="0">
              <a:lnSpc>
                <a:spcPct val="150000"/>
              </a:lnSpc>
              <a:buSzPts val="1200"/>
            </a:pPr>
            <a:r>
              <a:rPr lang="en-US" sz="1200" dirty="0" smtClean="0">
                <a:solidFill>
                  <a:srgbClr val="FF0000"/>
                </a:solidFill>
              </a:rPr>
              <a:t>https://www.scribd.com/document/268349254/Java-8-Programming-Black-Book .</a:t>
            </a:r>
          </a:p>
          <a:p>
            <a:pPr marL="457200" lvl="0" indent="-304800">
              <a:lnSpc>
                <a:spcPct val="150000"/>
              </a:lnSpc>
              <a:buClr>
                <a:schemeClr val="dk1"/>
              </a:buClr>
              <a:buSzPts val="1200"/>
              <a:buFont typeface="Arial"/>
              <a:buAutoNum type="arabicPeriod" startAt="4"/>
            </a:pPr>
            <a:r>
              <a:rPr lang="en-US" sz="1200" b="1" dirty="0" smtClean="0">
                <a:solidFill>
                  <a:srgbClr val="FF0000"/>
                </a:solidFill>
              </a:rPr>
              <a:t>Sources</a:t>
            </a:r>
          </a:p>
          <a:p>
            <a:pPr marL="452438" lvl="2">
              <a:lnSpc>
                <a:spcPct val="150000"/>
              </a:lnSpc>
              <a:buClr>
                <a:schemeClr val="dk1"/>
              </a:buClr>
              <a:buSzPts val="1200"/>
            </a:pPr>
            <a:r>
              <a:rPr lang="en-US" sz="1200" dirty="0" smtClean="0">
                <a:solidFill>
                  <a:srgbClr val="FF0000"/>
                </a:solidFill>
              </a:rPr>
              <a:t>https://developers.redhat.com/topics/enterprise-java</a:t>
            </a:r>
            <a:endParaRPr lang="en-US" sz="1200" b="1" dirty="0" smtClean="0">
              <a:solidFill>
                <a:srgbClr val="FF0000"/>
              </a:solidFill>
            </a:endParaRPr>
          </a:p>
          <a:p>
            <a:pPr marL="457200" lvl="0" indent="-304800">
              <a:lnSpc>
                <a:spcPct val="150000"/>
              </a:lnSpc>
              <a:buClr>
                <a:schemeClr val="dk1"/>
              </a:buClr>
              <a:buSzPts val="1200"/>
              <a:buFont typeface="Arial"/>
              <a:buAutoNum type="arabicPeriod" startAt="4"/>
            </a:pPr>
            <a:r>
              <a:rPr lang="en-US" sz="1200" b="1" dirty="0" smtClean="0">
                <a:solidFill>
                  <a:srgbClr val="FF0000"/>
                </a:solidFill>
              </a:rPr>
              <a:t>Article</a:t>
            </a:r>
            <a:endParaRPr lang="en-US" sz="1200" dirty="0" smtClean="0">
              <a:solidFill>
                <a:srgbClr val="FF0000"/>
              </a:solidFill>
            </a:endParaRPr>
          </a:p>
          <a:p>
            <a:pPr marL="452438" lvl="0">
              <a:lnSpc>
                <a:spcPct val="150000"/>
              </a:lnSpc>
              <a:buClr>
                <a:schemeClr val="dk1"/>
              </a:buClr>
              <a:buSzPts val="1200"/>
            </a:pPr>
            <a:r>
              <a:rPr lang="en-US" sz="1200" smtClean="0">
                <a:solidFill>
                  <a:srgbClr val="FF0000"/>
                </a:solidFill>
              </a:rPr>
              <a:t>https://www.researchgate.net/publication/276412369_Advanced_Java_Programming</a:t>
            </a:r>
          </a:p>
          <a:p>
            <a:pPr marL="457200" lvl="0">
              <a:lnSpc>
                <a:spcPct val="150000"/>
              </a:lnSpc>
              <a:buSzPts val="1200"/>
            </a:pPr>
            <a:endParaRPr lang="en-US" sz="1200" dirty="0" smtClean="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514</TotalTime>
  <Words>843</Words>
  <Application>Microsoft Office PowerPoint</Application>
  <PresentationFormat>On-screen Show (4:3)</PresentationFormat>
  <Paragraphs>122</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key</cp:lastModifiedBy>
  <cp:revision>134</cp:revision>
  <dcterms:created xsi:type="dcterms:W3CDTF">2024-12-13T07:18:04Z</dcterms:created>
  <dcterms:modified xsi:type="dcterms:W3CDTF">2025-05-17T05:25:38Z</dcterms:modified>
</cp:coreProperties>
</file>