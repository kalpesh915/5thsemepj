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notesSlides/notesSlide2.xml" ContentType="application/vnd.openxmlformats-officedocument.presentationml.notesSlide+xml"/>
  <Override PartName="/ppt/metadata" ContentType="application/binary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18.xml" ContentType="application/vnd.openxmlformats-officedocument.presentationml.notesSlid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Default Extension="png" ContentType="image/png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notesSlides/notesSlide17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88" r:id="rId4"/>
    <p:sldId id="330" r:id="rId5"/>
    <p:sldId id="331" r:id="rId6"/>
    <p:sldId id="332" r:id="rId7"/>
    <p:sldId id="333" r:id="rId8"/>
    <p:sldId id="334" r:id="rId9"/>
    <p:sldId id="335" r:id="rId10"/>
    <p:sldId id="336" r:id="rId11"/>
    <p:sldId id="337" r:id="rId12"/>
    <p:sldId id="338" r:id="rId13"/>
    <p:sldId id="339" r:id="rId14"/>
    <p:sldId id="340" r:id="rId15"/>
    <p:sldId id="341" r:id="rId16"/>
    <p:sldId id="342" r:id="rId17"/>
    <p:sldId id="343" r:id="rId18"/>
    <p:sldId id="344" r:id="rId19"/>
    <p:sldId id="345" r:id="rId20"/>
    <p:sldId id="346" r:id="rId21"/>
    <p:sldId id="262" r:id="rId22"/>
    <p:sldId id="263" r:id="rId23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7" roundtripDataSignature="AMtx7miwGEa46m3SqSJsxoXyCwcLQkeae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3BA4600-CF29-4966-8986-3B1AA4679568}">
  <a:tblStyle styleId="{D3BA4600-CF29-4966-8986-3B1AA4679568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-1204" y="2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59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57" Type="http://customschemas.google.com/relationships/presentationmetadata" Target="metadata"/><Relationship Id="rId61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" name="Google Shape;3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1" name="Google Shape;4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8" name="Google Shape;4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8" name="Google Shape;4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8" name="Google Shape;4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8" name="Google Shape;4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8" name="Google Shape;4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8" name="Google Shape;4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8" name="Google Shape;4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8" name="Google Shape;4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8" name="Google Shape;4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8" name="Google Shape;4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8" name="Google Shape;4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8" name="Google Shape;4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8" name="Google Shape;4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8" name="Google Shape;4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8" name="Google Shape;4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8" name="Google Shape;4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8" name="Google Shape;4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8" name="Google Shape;4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264a707208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3" name="Google Shape;83;g3264a707208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0" name="Google Shape;9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7"/>
          <p:cNvSpPr/>
          <p:nvPr/>
        </p:nvSpPr>
        <p:spPr>
          <a:xfrm>
            <a:off x="4" y="1955845"/>
            <a:ext cx="9143999" cy="1935817"/>
          </a:xfrm>
          <a:custGeom>
            <a:avLst/>
            <a:gdLst/>
            <a:ahLst/>
            <a:cxnLst/>
            <a:rect l="l" t="t" r="r" b="b"/>
            <a:pathLst>
              <a:path w="7556500" h="2628900" extrusionOk="0">
                <a:moveTo>
                  <a:pt x="0" y="2628900"/>
                </a:moveTo>
                <a:lnTo>
                  <a:pt x="0" y="0"/>
                </a:lnTo>
                <a:lnTo>
                  <a:pt x="7556500" y="0"/>
                </a:lnTo>
                <a:lnTo>
                  <a:pt x="7556500" y="2628900"/>
                </a:lnTo>
                <a:lnTo>
                  <a:pt x="0" y="2628900"/>
                </a:lnTo>
                <a:close/>
              </a:path>
            </a:pathLst>
          </a:custGeom>
          <a:solidFill>
            <a:srgbClr val="1F487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4"/>
              <a:buFont typeface="Arial"/>
              <a:buNone/>
            </a:pPr>
            <a:endParaRPr sz="86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10;p7"/>
          <p:cNvSpPr/>
          <p:nvPr/>
        </p:nvSpPr>
        <p:spPr>
          <a:xfrm>
            <a:off x="603478" y="2256535"/>
            <a:ext cx="7887578" cy="13388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rPr lang="en-US" sz="40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Introduction &amp;</a:t>
            </a:r>
            <a:r>
              <a:rPr lang="en-US" sz="40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40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Programming with </a:t>
            </a:r>
            <a:br>
              <a:rPr lang="en-US" sz="40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0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ESP8266</a:t>
            </a:r>
            <a:endParaRPr sz="4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11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959885" y="344298"/>
            <a:ext cx="1837473" cy="4108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12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28625" y="381000"/>
            <a:ext cx="2799129" cy="3741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dex Layout">
  <p:cSld name="Index Layout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oogle Shape;14;p8"/>
          <p:cNvGrpSpPr/>
          <p:nvPr/>
        </p:nvGrpSpPr>
        <p:grpSpPr>
          <a:xfrm>
            <a:off x="445191" y="0"/>
            <a:ext cx="8698811" cy="6857999"/>
            <a:chOff x="-4801433" y="-1782234"/>
            <a:chExt cx="18084927" cy="14257864"/>
          </a:xfrm>
        </p:grpSpPr>
        <p:sp>
          <p:nvSpPr>
            <p:cNvPr id="15" name="Google Shape;15;p8"/>
            <p:cNvSpPr/>
            <p:nvPr/>
          </p:nvSpPr>
          <p:spPr>
            <a:xfrm>
              <a:off x="-4801433" y="1790698"/>
              <a:ext cx="12600815" cy="983099"/>
            </a:xfrm>
            <a:custGeom>
              <a:avLst/>
              <a:gdLst/>
              <a:ahLst/>
              <a:cxnLst/>
              <a:rect l="l" t="t" r="r" b="b"/>
              <a:pathLst>
                <a:path w="4610100" h="660400" extrusionOk="0">
                  <a:moveTo>
                    <a:pt x="0" y="660400"/>
                  </a:moveTo>
                  <a:lnTo>
                    <a:pt x="4610100" y="660400"/>
                  </a:lnTo>
                  <a:lnTo>
                    <a:pt x="4610100" y="0"/>
                  </a:lnTo>
                  <a:lnTo>
                    <a:pt x="0" y="0"/>
                  </a:lnTo>
                  <a:lnTo>
                    <a:pt x="0" y="660400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64"/>
                <a:buFont typeface="Arial"/>
                <a:buNone/>
              </a:pPr>
              <a:endParaRPr sz="86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" name="Google Shape;16;p8"/>
            <p:cNvSpPr/>
            <p:nvPr/>
          </p:nvSpPr>
          <p:spPr>
            <a:xfrm>
              <a:off x="8339276" y="-1782234"/>
              <a:ext cx="4944218" cy="14257864"/>
            </a:xfrm>
            <a:custGeom>
              <a:avLst/>
              <a:gdLst/>
              <a:ahLst/>
              <a:cxnLst/>
              <a:rect l="l" t="t" r="r" b="b"/>
              <a:pathLst>
                <a:path w="2387600" h="10693400" extrusionOk="0">
                  <a:moveTo>
                    <a:pt x="0" y="0"/>
                  </a:moveTo>
                  <a:lnTo>
                    <a:pt x="2387600" y="0"/>
                  </a:lnTo>
                  <a:lnTo>
                    <a:pt x="2387600" y="10693400"/>
                  </a:lnTo>
                  <a:lnTo>
                    <a:pt x="0" y="106934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487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64"/>
                <a:buFont typeface="Arial"/>
                <a:buNone/>
              </a:pPr>
              <a:endParaRPr sz="86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7" name="Google Shape;17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826923" y="234877"/>
            <a:ext cx="2063449" cy="61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8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28625" y="381000"/>
            <a:ext cx="2799129" cy="3741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9"/>
          <p:cNvSpPr txBox="1">
            <a:spLocks noGrp="1"/>
          </p:cNvSpPr>
          <p:nvPr>
            <p:ph type="title"/>
          </p:nvPr>
        </p:nvSpPr>
        <p:spPr>
          <a:xfrm>
            <a:off x="628650" y="934578"/>
            <a:ext cx="7886700" cy="1178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9"/>
          <p:cNvSpPr txBox="1">
            <a:spLocks noGrp="1"/>
          </p:cNvSpPr>
          <p:nvPr>
            <p:ph type="body" idx="1"/>
          </p:nvPr>
        </p:nvSpPr>
        <p:spPr>
          <a:xfrm>
            <a:off x="628650" y="2249992"/>
            <a:ext cx="7886700" cy="40956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9"/>
          <p:cNvSpPr/>
          <p:nvPr/>
        </p:nvSpPr>
        <p:spPr>
          <a:xfrm>
            <a:off x="1" y="6493764"/>
            <a:ext cx="9143999" cy="419100"/>
          </a:xfrm>
          <a:custGeom>
            <a:avLst/>
            <a:gdLst/>
            <a:ahLst/>
            <a:cxnLst/>
            <a:rect l="l" t="t" r="r" b="b"/>
            <a:pathLst>
              <a:path w="7556500" h="393700" extrusionOk="0">
                <a:moveTo>
                  <a:pt x="7556500" y="0"/>
                </a:moveTo>
                <a:lnTo>
                  <a:pt x="0" y="0"/>
                </a:lnTo>
                <a:lnTo>
                  <a:pt x="0" y="393700"/>
                </a:lnTo>
                <a:lnTo>
                  <a:pt x="7556500" y="393700"/>
                </a:lnTo>
                <a:lnTo>
                  <a:pt x="7556500" y="0"/>
                </a:lnTo>
                <a:close/>
              </a:path>
            </a:pathLst>
          </a:custGeom>
          <a:solidFill>
            <a:srgbClr val="1F487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4"/>
              <a:buFont typeface="Arial"/>
              <a:buNone/>
            </a:pPr>
            <a:endParaRPr sz="86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" name="Google Shape;23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959885" y="344298"/>
            <a:ext cx="1837473" cy="410892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Google Shape;24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28625" y="381000"/>
            <a:ext cx="2799129" cy="3741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dslide Layout">
  <p:cSld name="Endslide Layou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Layout">
  <p:cSld name="Content Layout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0"/>
          <p:cNvSpPr/>
          <p:nvPr/>
        </p:nvSpPr>
        <p:spPr>
          <a:xfrm>
            <a:off x="1" y="6493764"/>
            <a:ext cx="9143999" cy="419100"/>
          </a:xfrm>
          <a:custGeom>
            <a:avLst/>
            <a:gdLst/>
            <a:ahLst/>
            <a:cxnLst/>
            <a:rect l="l" t="t" r="r" b="b"/>
            <a:pathLst>
              <a:path w="7556500" h="393700" extrusionOk="0">
                <a:moveTo>
                  <a:pt x="7556500" y="0"/>
                </a:moveTo>
                <a:lnTo>
                  <a:pt x="0" y="0"/>
                </a:lnTo>
                <a:lnTo>
                  <a:pt x="0" y="393700"/>
                </a:lnTo>
                <a:lnTo>
                  <a:pt x="7556500" y="393700"/>
                </a:lnTo>
                <a:lnTo>
                  <a:pt x="7556500" y="0"/>
                </a:lnTo>
                <a:close/>
              </a:path>
            </a:pathLst>
          </a:custGeom>
          <a:solidFill>
            <a:srgbClr val="1F487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4"/>
              <a:buFont typeface="Arial"/>
              <a:buNone/>
            </a:pPr>
            <a:endParaRPr sz="86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10"/>
          <p:cNvSpPr/>
          <p:nvPr/>
        </p:nvSpPr>
        <p:spPr>
          <a:xfrm>
            <a:off x="344873" y="3245670"/>
            <a:ext cx="2761065" cy="403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4"/>
              <a:buFont typeface="Arial"/>
              <a:buNone/>
            </a:pPr>
            <a:r>
              <a:rPr lang="en-US" sz="1154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86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86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86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" name="Google Shape;30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959885" y="344298"/>
            <a:ext cx="1837473" cy="410892"/>
          </a:xfrm>
          <a:prstGeom prst="rect">
            <a:avLst/>
          </a:prstGeom>
          <a:noFill/>
          <a:ln>
            <a:noFill/>
          </a:ln>
        </p:spPr>
      </p:pic>
      <p:pic>
        <p:nvPicPr>
          <p:cNvPr id="31" name="Google Shape;31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28625" y="381000"/>
            <a:ext cx="2799129" cy="3741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6"/>
          <p:cNvSpPr txBox="1">
            <a:spLocks noGrp="1"/>
          </p:cNvSpPr>
          <p:nvPr>
            <p:ph type="title"/>
          </p:nvPr>
        </p:nvSpPr>
        <p:spPr>
          <a:xfrm>
            <a:off x="628650" y="934578"/>
            <a:ext cx="7886700" cy="1178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6"/>
          <p:cNvSpPr txBox="1">
            <a:spLocks noGrp="1"/>
          </p:cNvSpPr>
          <p:nvPr>
            <p:ph type="body" idx="1"/>
          </p:nvPr>
        </p:nvSpPr>
        <p:spPr>
          <a:xfrm>
            <a:off x="628650" y="2249992"/>
            <a:ext cx="7886700" cy="40956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"/>
          <p:cNvSpPr/>
          <p:nvPr/>
        </p:nvSpPr>
        <p:spPr>
          <a:xfrm>
            <a:off x="4" y="1965470"/>
            <a:ext cx="9143999" cy="1935817"/>
          </a:xfrm>
          <a:custGeom>
            <a:avLst/>
            <a:gdLst/>
            <a:ahLst/>
            <a:cxnLst/>
            <a:rect l="l" t="t" r="r" b="b"/>
            <a:pathLst>
              <a:path w="7556500" h="2628900" extrusionOk="0">
                <a:moveTo>
                  <a:pt x="0" y="2628900"/>
                </a:moveTo>
                <a:lnTo>
                  <a:pt x="0" y="0"/>
                </a:lnTo>
                <a:lnTo>
                  <a:pt x="7556500" y="0"/>
                </a:lnTo>
                <a:lnTo>
                  <a:pt x="7556500" y="2628900"/>
                </a:lnTo>
                <a:lnTo>
                  <a:pt x="0" y="2628900"/>
                </a:lnTo>
                <a:close/>
              </a:path>
            </a:pathLst>
          </a:custGeom>
          <a:solidFill>
            <a:srgbClr val="1F487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4"/>
              <a:buFont typeface="Arial"/>
              <a:buNone/>
            </a:pPr>
            <a:endParaRPr sz="86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1"/>
          <p:cNvSpPr/>
          <p:nvPr/>
        </p:nvSpPr>
        <p:spPr>
          <a:xfrm>
            <a:off x="0" y="2366690"/>
            <a:ext cx="9144000" cy="10925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en-US" sz="3500" b="1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Enterprise Programming using JAVA</a:t>
            </a:r>
            <a:endParaRPr sz="3500" b="1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ctr">
              <a:buSzPts val="3000"/>
            </a:pPr>
            <a:r>
              <a:rPr lang="en-US" sz="3000" b="1" i="0" u="none" strike="noStrike" cap="none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Chapter-4: </a:t>
            </a:r>
            <a:r>
              <a:rPr lang="en-US" sz="3000" b="1" dirty="0" err="1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Hibernet</a:t>
            </a:r>
            <a:r>
              <a:rPr lang="en-US" sz="3000" b="1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(ORM)</a:t>
            </a:r>
            <a:endParaRPr sz="3000" b="1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1"/>
          <p:cNvSpPr/>
          <p:nvPr/>
        </p:nvSpPr>
        <p:spPr>
          <a:xfrm>
            <a:off x="342741" y="5601409"/>
            <a:ext cx="3832829" cy="12156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Prof. </a:t>
            </a:r>
            <a:r>
              <a:rPr lang="en-US" sz="2200" b="1" i="0" u="none" strike="noStrike" cap="none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ARNIKA PATEL</a:t>
            </a:r>
            <a:r>
              <a:rPr lang="en-US" sz="22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22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Assistant Professor 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of </a:t>
            </a:r>
            <a:r>
              <a:rPr lang="en-US" sz="1800" b="1" i="0" u="none" strike="noStrike" cap="none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CSE</a:t>
            </a:r>
            <a:endParaRPr sz="18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5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"/>
          <p:cNvSpPr/>
          <p:nvPr/>
        </p:nvSpPr>
        <p:spPr>
          <a:xfrm>
            <a:off x="461900" y="2370175"/>
            <a:ext cx="6027900" cy="1569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lvl="0" indent="-368300">
              <a:buClr>
                <a:schemeClr val="dk1"/>
              </a:buClr>
              <a:buSzPts val="2200"/>
              <a:buFont typeface="Calibri"/>
              <a:buAutoNum type="arabicPeriod"/>
            </a:pPr>
            <a:r>
              <a:rPr lang="en-US" sz="2400" dirty="0" smtClean="0">
                <a:latin typeface="Calibri" pitchFamily="34" charset="0"/>
                <a:cs typeface="Calibri" pitchFamily="34" charset="0"/>
              </a:rPr>
              <a:t>Generator Class…………….………………………. 3</a:t>
            </a:r>
          </a:p>
          <a:p>
            <a:pPr marL="457200" lvl="0" indent="-368300">
              <a:buClr>
                <a:schemeClr val="dk1"/>
              </a:buClr>
              <a:buSzPts val="2200"/>
              <a:buFont typeface="Calibri"/>
              <a:buAutoNum type="arabicPeriod"/>
            </a:pPr>
            <a:r>
              <a:rPr lang="en-US" sz="2400" dirty="0" smtClean="0">
                <a:latin typeface="Calibri" pitchFamily="34" charset="0"/>
                <a:cs typeface="Calibri" pitchFamily="34" charset="0"/>
              </a:rPr>
              <a:t>Dialects…………………….………………………….. 4</a:t>
            </a:r>
          </a:p>
          <a:p>
            <a:pPr marL="457200" lvl="0" indent="-368300">
              <a:buClr>
                <a:schemeClr val="dk1"/>
              </a:buClr>
              <a:buSzPts val="2200"/>
              <a:buFont typeface="Calibri"/>
              <a:buAutoNum type="arabicPeriod"/>
            </a:pPr>
            <a:r>
              <a:rPr lang="en-US" sz="2400" dirty="0" smtClean="0">
                <a:latin typeface="Calibri" pitchFamily="34" charset="0"/>
                <a:cs typeface="Calibri" pitchFamily="34" charset="0"/>
              </a:rPr>
              <a:t>Mapping……………………………………………… 16</a:t>
            </a:r>
          </a:p>
          <a:p>
            <a:pPr marL="457200" lvl="0" indent="-368300">
              <a:buClr>
                <a:schemeClr val="dk1"/>
              </a:buClr>
              <a:buSzPts val="2200"/>
              <a:buFont typeface="Calibri"/>
              <a:buAutoNum type="arabicPeriod"/>
            </a:pPr>
            <a:r>
              <a:rPr lang="en-US" sz="2400" dirty="0" smtClean="0">
                <a:latin typeface="Calibri" pitchFamily="34" charset="0"/>
                <a:cs typeface="Calibri" pitchFamily="34" charset="0"/>
              </a:rPr>
              <a:t>Annotation……..…..</a:t>
            </a:r>
            <a:r>
              <a:rPr lang="en-US" sz="2400" dirty="0" smtClean="0">
                <a:solidFill>
                  <a:schemeClr val="dk1"/>
                </a:solidFill>
                <a:latin typeface="Calibri" pitchFamily="34" charset="0"/>
                <a:ea typeface="Calibri"/>
                <a:cs typeface="Calibri" pitchFamily="34" charset="0"/>
                <a:sym typeface="Calibri"/>
              </a:rPr>
              <a:t>……………………….………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Calibri" pitchFamily="34" charset="0"/>
                <a:ea typeface="Calibri"/>
                <a:cs typeface="Calibri" pitchFamily="34" charset="0"/>
                <a:sym typeface="Calibri"/>
              </a:rPr>
              <a:t>	18</a:t>
            </a:r>
            <a:endParaRPr sz="2400" b="0" i="0" u="none" strike="noStrike" cap="none" dirty="0">
              <a:solidFill>
                <a:schemeClr val="dk1"/>
              </a:solidFill>
              <a:latin typeface="Calibri" pitchFamily="34" charset="0"/>
              <a:ea typeface="Calibri"/>
              <a:cs typeface="Calibri" pitchFamily="34" charset="0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461889" y="1734925"/>
            <a:ext cx="3382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Content 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 rot="5400000">
            <a:off x="6527840" y="5619817"/>
            <a:ext cx="1281120" cy="600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en-US" sz="33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INDEX</a:t>
            </a:r>
            <a:endParaRPr sz="3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"/>
          <p:cNvSpPr/>
          <p:nvPr/>
        </p:nvSpPr>
        <p:spPr>
          <a:xfrm>
            <a:off x="354577" y="1023576"/>
            <a:ext cx="5740289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dirty="0" smtClean="0">
                <a:solidFill>
                  <a:schemeClr val="dk2"/>
                </a:solidFill>
                <a:latin typeface="Calibri"/>
                <a:cs typeface="Calibri"/>
                <a:sym typeface="Calibri"/>
              </a:rPr>
              <a:t>Generator Class</a:t>
            </a:r>
          </a:p>
        </p:txBody>
      </p:sp>
      <p:sp>
        <p:nvSpPr>
          <p:cNvPr id="52" name="Google Shape;52;p3"/>
          <p:cNvSpPr/>
          <p:nvPr/>
        </p:nvSpPr>
        <p:spPr>
          <a:xfrm>
            <a:off x="383250" y="1626295"/>
            <a:ext cx="8533200" cy="48936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55600" lvl="0" indent="-355600" algn="just">
              <a:buSzPts val="2200"/>
              <a:buFont typeface="Arial" pitchFamily="34" charset="0"/>
              <a:buChar char="•"/>
            </a:pPr>
            <a:r>
              <a:rPr lang="en-US" sz="2400" dirty="0" smtClean="0"/>
              <a:t>A </a:t>
            </a:r>
            <a:r>
              <a:rPr lang="en-US" sz="2400" b="1" dirty="0" smtClean="0"/>
              <a:t>generator </a:t>
            </a:r>
            <a:r>
              <a:rPr lang="en-US" sz="2400" dirty="0" smtClean="0"/>
              <a:t>class is used to generate an</a:t>
            </a:r>
            <a:r>
              <a:rPr lang="en-US" sz="2400" b="1" dirty="0" smtClean="0"/>
              <a:t> ID </a:t>
            </a:r>
            <a:r>
              <a:rPr lang="en-US" sz="2400" dirty="0" smtClean="0"/>
              <a:t>for an object, which is going to be inserted in the database as a primary key. </a:t>
            </a:r>
          </a:p>
          <a:p>
            <a:pPr marL="355600" lvl="0" indent="-355600" algn="just">
              <a:buSzPts val="2200"/>
              <a:buFont typeface="Arial" pitchFamily="34" charset="0"/>
              <a:buChar char="•"/>
            </a:pPr>
            <a:r>
              <a:rPr lang="en-US" sz="2400" dirty="0" smtClean="0"/>
              <a:t>The </a:t>
            </a:r>
            <a:r>
              <a:rPr lang="en-US" sz="2400" b="1" dirty="0" smtClean="0"/>
              <a:t>ID</a:t>
            </a:r>
            <a:r>
              <a:rPr lang="en-US" sz="2400" dirty="0" smtClean="0"/>
              <a:t> is a unique identifier for the objects of the persistent class. </a:t>
            </a:r>
          </a:p>
          <a:p>
            <a:pPr marL="355600" lvl="0" indent="-355600" algn="just">
              <a:buSzPts val="2200"/>
              <a:buFont typeface="Arial" pitchFamily="34" charset="0"/>
              <a:buChar char="•"/>
            </a:pPr>
            <a:r>
              <a:rPr lang="en-US" sz="2400" dirty="0" smtClean="0"/>
              <a:t>We can use any </a:t>
            </a:r>
            <a:r>
              <a:rPr lang="en-US" sz="2400" b="1" dirty="0" smtClean="0"/>
              <a:t>generator </a:t>
            </a:r>
            <a:r>
              <a:rPr lang="en-US" sz="2400" dirty="0" smtClean="0"/>
              <a:t>classes in our application as per our requirements. </a:t>
            </a:r>
          </a:p>
          <a:p>
            <a:pPr marL="355600" lvl="0" indent="-355600" algn="just">
              <a:buSzPts val="2200"/>
              <a:buFont typeface="Arial" pitchFamily="34" charset="0"/>
              <a:buChar char="•"/>
            </a:pPr>
            <a:r>
              <a:rPr lang="en-US" sz="2400" dirty="0" smtClean="0"/>
              <a:t>Hibernate provides a </a:t>
            </a:r>
            <a:r>
              <a:rPr lang="en-US" sz="2400" b="1" dirty="0" smtClean="0"/>
              <a:t> &lt;generator&gt;</a:t>
            </a:r>
            <a:r>
              <a:rPr lang="en-US" sz="2400" dirty="0" smtClean="0"/>
              <a:t> tag to represent the generator. </a:t>
            </a:r>
          </a:p>
          <a:p>
            <a:pPr marL="355600" lvl="0" indent="-355600" algn="just">
              <a:buSzPts val="2200"/>
              <a:buFont typeface="Arial" pitchFamily="34" charset="0"/>
              <a:buChar char="•"/>
            </a:pPr>
            <a:r>
              <a:rPr lang="en-US" sz="2400" dirty="0" smtClean="0"/>
              <a:t>However, it is a sub-element of &lt;id&gt;. </a:t>
            </a:r>
          </a:p>
          <a:p>
            <a:pPr marL="355600" lvl="0" indent="-355600" algn="just">
              <a:buSzPts val="2200"/>
              <a:buFont typeface="Arial" pitchFamily="34" charset="0"/>
              <a:buChar char="•"/>
            </a:pPr>
            <a:r>
              <a:rPr lang="en-US" sz="2400" dirty="0" smtClean="0"/>
              <a:t>There is a shortcut name for each predefined </a:t>
            </a:r>
            <a:r>
              <a:rPr lang="en-US" sz="2400" b="1" dirty="0" smtClean="0"/>
              <a:t>generator </a:t>
            </a:r>
            <a:r>
              <a:rPr lang="en-US" sz="2400" dirty="0" smtClean="0"/>
              <a:t>class so that the </a:t>
            </a:r>
            <a:r>
              <a:rPr lang="en-US" sz="2400" b="1" dirty="0" smtClean="0"/>
              <a:t>&lt;generator&gt;</a:t>
            </a:r>
            <a:r>
              <a:rPr lang="en-US" sz="2400" dirty="0" smtClean="0"/>
              <a:t> tag has to configure with this shortcut name. </a:t>
            </a:r>
            <a:endParaRPr sz="2400" b="0" i="0" u="none" strike="noStrike" cap="none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cxnSp>
        <p:nvCxnSpPr>
          <p:cNvPr id="53" name="Google Shape;53;p3"/>
          <p:cNvCxnSpPr/>
          <p:nvPr/>
        </p:nvCxnSpPr>
        <p:spPr>
          <a:xfrm>
            <a:off x="7950" y="868825"/>
            <a:ext cx="9186600" cy="0"/>
          </a:xfrm>
          <a:prstGeom prst="straightConnector1">
            <a:avLst/>
          </a:prstGeom>
          <a:noFill/>
          <a:ln w="38100" cap="flat" cmpd="sng">
            <a:solidFill>
              <a:srgbClr val="1F487C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"/>
          <p:cNvSpPr/>
          <p:nvPr/>
        </p:nvSpPr>
        <p:spPr>
          <a:xfrm>
            <a:off x="354577" y="1023576"/>
            <a:ext cx="5740289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dirty="0" smtClean="0">
                <a:solidFill>
                  <a:schemeClr val="dk2"/>
                </a:solidFill>
                <a:latin typeface="Calibri"/>
                <a:cs typeface="Calibri"/>
                <a:sym typeface="Calibri"/>
              </a:rPr>
              <a:t>Generator Class</a:t>
            </a:r>
          </a:p>
        </p:txBody>
      </p:sp>
      <p:sp>
        <p:nvSpPr>
          <p:cNvPr id="52" name="Google Shape;52;p3"/>
          <p:cNvSpPr/>
          <p:nvPr/>
        </p:nvSpPr>
        <p:spPr>
          <a:xfrm>
            <a:off x="383250" y="1626295"/>
            <a:ext cx="8533200" cy="4154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fontAlgn="base"/>
            <a:r>
              <a:rPr lang="en-US" sz="2400" b="1" dirty="0" smtClean="0"/>
              <a:t>Hibernate </a:t>
            </a:r>
            <a:r>
              <a:rPr lang="en-US" sz="2400" dirty="0" smtClean="0"/>
              <a:t>provides many predefined </a:t>
            </a:r>
            <a:r>
              <a:rPr lang="en-US" sz="2400" b="1" dirty="0" smtClean="0"/>
              <a:t>generator </a:t>
            </a:r>
            <a:r>
              <a:rPr lang="en-US" sz="2400" dirty="0" smtClean="0"/>
              <a:t>classes. Some of the important predefined generator classes in hibernate are:</a:t>
            </a:r>
          </a:p>
          <a:p>
            <a:pPr marL="722313" lvl="1" indent="-366713" fontAlgn="base">
              <a:buFont typeface="+mj-lt"/>
              <a:buAutoNum type="arabicPeriod"/>
            </a:pPr>
            <a:r>
              <a:rPr lang="en-US" sz="2400" dirty="0" smtClean="0"/>
              <a:t>assigned</a:t>
            </a:r>
          </a:p>
          <a:p>
            <a:pPr marL="722313" lvl="1" indent="-366713" fontAlgn="base">
              <a:buFont typeface="+mj-lt"/>
              <a:buAutoNum type="arabicPeriod"/>
            </a:pPr>
            <a:r>
              <a:rPr lang="en-US" sz="2400" dirty="0" smtClean="0"/>
              <a:t>foreign</a:t>
            </a:r>
          </a:p>
          <a:p>
            <a:pPr marL="722313" lvl="1" indent="-366713" fontAlgn="base">
              <a:buFont typeface="+mj-lt"/>
              <a:buAutoNum type="arabicPeriod"/>
            </a:pPr>
            <a:r>
              <a:rPr lang="en-US" sz="2400" dirty="0" err="1" smtClean="0"/>
              <a:t>hilo</a:t>
            </a:r>
            <a:endParaRPr lang="en-US" sz="2400" dirty="0" smtClean="0"/>
          </a:p>
          <a:p>
            <a:pPr marL="722313" lvl="1" indent="-366713" fontAlgn="base">
              <a:buFont typeface="+mj-lt"/>
              <a:buAutoNum type="arabicPeriod"/>
            </a:pPr>
            <a:r>
              <a:rPr lang="en-US" sz="2400" dirty="0" smtClean="0"/>
              <a:t>identity</a:t>
            </a:r>
          </a:p>
          <a:p>
            <a:pPr marL="722313" lvl="1" indent="-366713" fontAlgn="base">
              <a:buFont typeface="+mj-lt"/>
              <a:buAutoNum type="arabicPeriod"/>
            </a:pPr>
            <a:r>
              <a:rPr lang="en-US" sz="2400" dirty="0" smtClean="0"/>
              <a:t>increment</a:t>
            </a:r>
          </a:p>
          <a:p>
            <a:pPr marL="722313" lvl="1" indent="-366713" fontAlgn="base">
              <a:buFont typeface="+mj-lt"/>
              <a:buAutoNum type="arabicPeriod"/>
            </a:pPr>
            <a:r>
              <a:rPr lang="en-US" sz="2400" dirty="0" smtClean="0"/>
              <a:t>native</a:t>
            </a:r>
          </a:p>
          <a:p>
            <a:pPr marL="722313" lvl="1" indent="-366713" fontAlgn="base">
              <a:buFont typeface="+mj-lt"/>
              <a:buAutoNum type="arabicPeriod"/>
            </a:pPr>
            <a:r>
              <a:rPr lang="en-US" sz="2400" dirty="0" smtClean="0"/>
              <a:t>sequence</a:t>
            </a:r>
          </a:p>
          <a:p>
            <a:pPr marL="722313" lvl="1" indent="-366713" fontAlgn="base">
              <a:buFont typeface="+mj-lt"/>
              <a:buAutoNum type="arabicPeriod"/>
            </a:pPr>
            <a:r>
              <a:rPr lang="en-US" sz="2400" dirty="0" err="1" smtClean="0"/>
              <a:t>uuid</a:t>
            </a:r>
            <a:endParaRPr lang="en-US" sz="2400" dirty="0"/>
          </a:p>
        </p:txBody>
      </p:sp>
      <p:cxnSp>
        <p:nvCxnSpPr>
          <p:cNvPr id="53" name="Google Shape;53;p3"/>
          <p:cNvCxnSpPr/>
          <p:nvPr/>
        </p:nvCxnSpPr>
        <p:spPr>
          <a:xfrm>
            <a:off x="7950" y="868825"/>
            <a:ext cx="9186600" cy="0"/>
          </a:xfrm>
          <a:prstGeom prst="straightConnector1">
            <a:avLst/>
          </a:prstGeom>
          <a:noFill/>
          <a:ln w="38100" cap="flat" cmpd="sng">
            <a:solidFill>
              <a:srgbClr val="1F487C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"/>
          <p:cNvSpPr/>
          <p:nvPr/>
        </p:nvSpPr>
        <p:spPr>
          <a:xfrm>
            <a:off x="354577" y="1023576"/>
            <a:ext cx="5740289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dirty="0" smtClean="0">
                <a:solidFill>
                  <a:schemeClr val="dk2"/>
                </a:solidFill>
                <a:latin typeface="Calibri"/>
                <a:cs typeface="Calibri"/>
                <a:sym typeface="Calibri"/>
              </a:rPr>
              <a:t>Generator Class</a:t>
            </a:r>
          </a:p>
        </p:txBody>
      </p:sp>
      <p:sp>
        <p:nvSpPr>
          <p:cNvPr id="52" name="Google Shape;52;p3"/>
          <p:cNvSpPr/>
          <p:nvPr/>
        </p:nvSpPr>
        <p:spPr>
          <a:xfrm>
            <a:off x="383250" y="1626295"/>
            <a:ext cx="8533200" cy="30469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fontAlgn="base"/>
            <a:r>
              <a:rPr lang="en-US" sz="2400" b="1" dirty="0" smtClean="0"/>
              <a:t>1. assigned generator</a:t>
            </a:r>
            <a:endParaRPr lang="en-US" sz="2400" dirty="0" smtClean="0"/>
          </a:p>
          <a:p>
            <a:pPr algn="just" fontAlgn="base"/>
            <a:endParaRPr lang="en-US" sz="2400" dirty="0" smtClean="0"/>
          </a:p>
          <a:p>
            <a:pPr algn="just" fontAlgn="base"/>
            <a:r>
              <a:rPr lang="en-US" sz="2400" dirty="0" smtClean="0"/>
              <a:t>The</a:t>
            </a:r>
            <a:r>
              <a:rPr lang="en-US" sz="2400" b="1" dirty="0" smtClean="0"/>
              <a:t> assigned generator</a:t>
            </a:r>
            <a:r>
              <a:rPr lang="en-US" sz="2400" dirty="0" smtClean="0"/>
              <a:t> is the default generator. By default hibernate consider </a:t>
            </a:r>
            <a:r>
              <a:rPr lang="en-US" sz="2400" b="1" dirty="0" smtClean="0"/>
              <a:t>assigned </a:t>
            </a:r>
            <a:r>
              <a:rPr lang="en-US" sz="2400" dirty="0" smtClean="0"/>
              <a:t>as a generator and </a:t>
            </a:r>
            <a:r>
              <a:rPr lang="en-US" sz="2400" b="1" dirty="0" smtClean="0"/>
              <a:t>assigned </a:t>
            </a:r>
            <a:r>
              <a:rPr lang="en-US" sz="2400" dirty="0" smtClean="0"/>
              <a:t>is a shortcut name given for the </a:t>
            </a:r>
            <a:r>
              <a:rPr lang="en-US" sz="2400" b="1" dirty="0" smtClean="0"/>
              <a:t>Assigned class</a:t>
            </a:r>
            <a:r>
              <a:rPr lang="en-US" sz="2400" dirty="0" smtClean="0"/>
              <a:t>. </a:t>
            </a:r>
          </a:p>
          <a:p>
            <a:pPr algn="just" fontAlgn="base"/>
            <a:endParaRPr lang="en-US" sz="2400" dirty="0" smtClean="0"/>
          </a:p>
          <a:p>
            <a:pPr algn="just" fontAlgn="base"/>
            <a:r>
              <a:rPr lang="en-US" sz="2400" dirty="0" smtClean="0"/>
              <a:t>This class returns the same id set by us to the hibernate which in turn store an object with that id in the database.</a:t>
            </a:r>
            <a:endParaRPr lang="en-US" sz="2400" dirty="0"/>
          </a:p>
        </p:txBody>
      </p:sp>
      <p:cxnSp>
        <p:nvCxnSpPr>
          <p:cNvPr id="53" name="Google Shape;53;p3"/>
          <p:cNvCxnSpPr/>
          <p:nvPr/>
        </p:nvCxnSpPr>
        <p:spPr>
          <a:xfrm>
            <a:off x="7950" y="868825"/>
            <a:ext cx="9186600" cy="0"/>
          </a:xfrm>
          <a:prstGeom prst="straightConnector1">
            <a:avLst/>
          </a:prstGeom>
          <a:noFill/>
          <a:ln w="38100" cap="flat" cmpd="sng">
            <a:solidFill>
              <a:srgbClr val="1F487C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"/>
          <p:cNvSpPr/>
          <p:nvPr/>
        </p:nvSpPr>
        <p:spPr>
          <a:xfrm>
            <a:off x="354577" y="1023576"/>
            <a:ext cx="5740289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dirty="0" smtClean="0">
                <a:solidFill>
                  <a:schemeClr val="dk2"/>
                </a:solidFill>
                <a:latin typeface="Calibri"/>
                <a:cs typeface="Calibri"/>
                <a:sym typeface="Calibri"/>
              </a:rPr>
              <a:t>Generator Class</a:t>
            </a:r>
          </a:p>
        </p:txBody>
      </p:sp>
      <p:sp>
        <p:nvSpPr>
          <p:cNvPr id="52" name="Google Shape;52;p3"/>
          <p:cNvSpPr/>
          <p:nvPr/>
        </p:nvSpPr>
        <p:spPr>
          <a:xfrm>
            <a:off x="383250" y="1626295"/>
            <a:ext cx="8533200" cy="3416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fontAlgn="base"/>
            <a:r>
              <a:rPr lang="en-US" sz="2400" b="1" dirty="0" smtClean="0"/>
              <a:t>1. assigned generator</a:t>
            </a:r>
            <a:endParaRPr lang="en-US" sz="2400" dirty="0" smtClean="0"/>
          </a:p>
          <a:p>
            <a:pPr algn="just" fontAlgn="base"/>
            <a:endParaRPr lang="en-US" sz="2400" dirty="0" smtClean="0"/>
          </a:p>
          <a:p>
            <a:pPr fontAlgn="base"/>
            <a:r>
              <a:rPr lang="en-US" sz="2400" i="1" dirty="0" smtClean="0"/>
              <a:t> &lt;hibernate-mapping&gt;  </a:t>
            </a:r>
          </a:p>
          <a:p>
            <a:pPr fontAlgn="base"/>
            <a:r>
              <a:rPr lang="en-US" sz="2400" i="1" dirty="0" smtClean="0"/>
              <a:t>        &lt;class …&gt;  </a:t>
            </a:r>
          </a:p>
          <a:p>
            <a:pPr fontAlgn="base"/>
            <a:r>
              <a:rPr lang="en-US" sz="2400" i="1" dirty="0" smtClean="0"/>
              <a:t>                 &lt;id name=”</a:t>
            </a:r>
            <a:r>
              <a:rPr lang="en-US" sz="2400" i="1" dirty="0" err="1" smtClean="0"/>
              <a:t>studentId</a:t>
            </a:r>
            <a:r>
              <a:rPr lang="en-US" sz="2400" i="1" dirty="0" smtClean="0"/>
              <a:t>” column=”</a:t>
            </a:r>
            <a:r>
              <a:rPr lang="en-US" sz="2400" i="1" dirty="0" err="1" smtClean="0"/>
              <a:t>sid</a:t>
            </a:r>
            <a:r>
              <a:rPr lang="en-US" sz="2400" i="1" dirty="0" smtClean="0"/>
              <a:t>”&gt;  </a:t>
            </a:r>
          </a:p>
          <a:p>
            <a:pPr fontAlgn="base"/>
            <a:r>
              <a:rPr lang="en-US" sz="2400" i="1" dirty="0" smtClean="0"/>
              <a:t>                       &lt;generator class=”assigned”&gt;&lt;/generator&gt;  </a:t>
            </a:r>
          </a:p>
          <a:p>
            <a:pPr fontAlgn="base"/>
            <a:r>
              <a:rPr lang="en-US" sz="2400" i="1" dirty="0" smtClean="0"/>
              <a:t>                &lt;/id&gt;  </a:t>
            </a:r>
          </a:p>
          <a:p>
            <a:pPr fontAlgn="base"/>
            <a:r>
              <a:rPr lang="en-US" sz="2400" i="1" dirty="0" smtClean="0"/>
              <a:t>        &lt;/class&gt;  </a:t>
            </a:r>
          </a:p>
          <a:p>
            <a:pPr fontAlgn="base"/>
            <a:r>
              <a:rPr lang="en-US" sz="2400" i="1" dirty="0" smtClean="0"/>
              <a:t>&lt;/hibernate-mapping&gt;  </a:t>
            </a:r>
            <a:endParaRPr lang="en-US" sz="2400" i="1" dirty="0"/>
          </a:p>
        </p:txBody>
      </p:sp>
      <p:cxnSp>
        <p:nvCxnSpPr>
          <p:cNvPr id="53" name="Google Shape;53;p3"/>
          <p:cNvCxnSpPr/>
          <p:nvPr/>
        </p:nvCxnSpPr>
        <p:spPr>
          <a:xfrm>
            <a:off x="7950" y="868825"/>
            <a:ext cx="9186600" cy="0"/>
          </a:xfrm>
          <a:prstGeom prst="straightConnector1">
            <a:avLst/>
          </a:prstGeom>
          <a:noFill/>
          <a:ln w="38100" cap="flat" cmpd="sng">
            <a:solidFill>
              <a:srgbClr val="1F487C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"/>
          <p:cNvSpPr/>
          <p:nvPr/>
        </p:nvSpPr>
        <p:spPr>
          <a:xfrm>
            <a:off x="354577" y="1023576"/>
            <a:ext cx="5740289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dirty="0" smtClean="0">
                <a:solidFill>
                  <a:schemeClr val="dk2"/>
                </a:solidFill>
                <a:latin typeface="Calibri"/>
                <a:cs typeface="Calibri"/>
                <a:sym typeface="Calibri"/>
              </a:rPr>
              <a:t>Generator Class</a:t>
            </a:r>
          </a:p>
        </p:txBody>
      </p:sp>
      <p:sp>
        <p:nvSpPr>
          <p:cNvPr id="52" name="Google Shape;52;p3"/>
          <p:cNvSpPr/>
          <p:nvPr/>
        </p:nvSpPr>
        <p:spPr>
          <a:xfrm>
            <a:off x="383250" y="1626295"/>
            <a:ext cx="8533200" cy="37856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fontAlgn="base"/>
            <a:r>
              <a:rPr lang="en-US" sz="2400" b="1" dirty="0" smtClean="0"/>
              <a:t>2. foreign generator</a:t>
            </a:r>
            <a:endParaRPr lang="en-US" sz="2400" dirty="0" smtClean="0"/>
          </a:p>
          <a:p>
            <a:pPr algn="just" fontAlgn="base"/>
            <a:endParaRPr lang="en-US" sz="2400" b="1" dirty="0" smtClean="0"/>
          </a:p>
          <a:p>
            <a:pPr algn="just" fontAlgn="base"/>
            <a:r>
              <a:rPr lang="en-US" sz="2400" b="1" dirty="0" smtClean="0"/>
              <a:t>foreign </a:t>
            </a:r>
            <a:r>
              <a:rPr lang="en-US" sz="2400" dirty="0" smtClean="0"/>
              <a:t>is a  shortcut name given for the </a:t>
            </a:r>
            <a:r>
              <a:rPr lang="en-US" sz="2400" b="1" dirty="0" err="1" smtClean="0"/>
              <a:t>ForeignGenerator</a:t>
            </a:r>
            <a:r>
              <a:rPr lang="en-US" sz="2400" dirty="0" smtClean="0"/>
              <a:t> class. </a:t>
            </a:r>
          </a:p>
          <a:p>
            <a:pPr algn="just" fontAlgn="base"/>
            <a:endParaRPr lang="en-US" sz="2400" dirty="0" smtClean="0"/>
          </a:p>
          <a:p>
            <a:pPr algn="just" fontAlgn="base"/>
            <a:r>
              <a:rPr lang="en-US" sz="2400" dirty="0" smtClean="0"/>
              <a:t>The </a:t>
            </a:r>
            <a:r>
              <a:rPr lang="en-US" sz="2400" b="1" dirty="0" err="1" smtClean="0"/>
              <a:t>ForeignGenerator</a:t>
            </a:r>
            <a:r>
              <a:rPr lang="en-US" sz="2400" dirty="0" smtClean="0"/>
              <a:t> is only suitable for one-one relationships. </a:t>
            </a:r>
          </a:p>
          <a:p>
            <a:pPr algn="just" fontAlgn="base"/>
            <a:endParaRPr lang="en-US" sz="2400" dirty="0" smtClean="0"/>
          </a:p>
          <a:p>
            <a:pPr algn="just" fontAlgn="base"/>
            <a:r>
              <a:rPr lang="en-US" sz="2400" dirty="0" smtClean="0"/>
              <a:t>It returns the id of the </a:t>
            </a:r>
            <a:r>
              <a:rPr lang="en-US" sz="2400" b="1" dirty="0" smtClean="0"/>
              <a:t>parent object</a:t>
            </a:r>
            <a:r>
              <a:rPr lang="en-US" sz="2400" dirty="0" smtClean="0"/>
              <a:t> as the id for the </a:t>
            </a:r>
            <a:r>
              <a:rPr lang="en-US" sz="2400" b="1" dirty="0" smtClean="0"/>
              <a:t>child object.</a:t>
            </a:r>
            <a:endParaRPr lang="en-US" sz="2400" dirty="0"/>
          </a:p>
        </p:txBody>
      </p:sp>
      <p:cxnSp>
        <p:nvCxnSpPr>
          <p:cNvPr id="53" name="Google Shape;53;p3"/>
          <p:cNvCxnSpPr/>
          <p:nvPr/>
        </p:nvCxnSpPr>
        <p:spPr>
          <a:xfrm>
            <a:off x="7950" y="868825"/>
            <a:ext cx="9186600" cy="0"/>
          </a:xfrm>
          <a:prstGeom prst="straightConnector1">
            <a:avLst/>
          </a:prstGeom>
          <a:noFill/>
          <a:ln w="38100" cap="flat" cmpd="sng">
            <a:solidFill>
              <a:srgbClr val="1F487C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"/>
          <p:cNvSpPr/>
          <p:nvPr/>
        </p:nvSpPr>
        <p:spPr>
          <a:xfrm>
            <a:off x="354577" y="1023576"/>
            <a:ext cx="5740289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dirty="0" smtClean="0">
                <a:solidFill>
                  <a:schemeClr val="dk2"/>
                </a:solidFill>
                <a:latin typeface="Calibri"/>
                <a:cs typeface="Calibri"/>
                <a:sym typeface="Calibri"/>
              </a:rPr>
              <a:t>Generator Class</a:t>
            </a:r>
          </a:p>
        </p:txBody>
      </p:sp>
      <p:sp>
        <p:nvSpPr>
          <p:cNvPr id="52" name="Google Shape;52;p3"/>
          <p:cNvSpPr/>
          <p:nvPr/>
        </p:nvSpPr>
        <p:spPr>
          <a:xfrm>
            <a:off x="383250" y="1626295"/>
            <a:ext cx="8533200" cy="3416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fontAlgn="base"/>
            <a:r>
              <a:rPr lang="en-US" sz="2400" b="1" dirty="0" smtClean="0"/>
              <a:t>2. foreign generator</a:t>
            </a:r>
            <a:endParaRPr lang="en-US" sz="2400" dirty="0" smtClean="0"/>
          </a:p>
          <a:p>
            <a:pPr algn="just" fontAlgn="base"/>
            <a:endParaRPr lang="en-US" sz="2400" b="1" dirty="0" smtClean="0"/>
          </a:p>
          <a:p>
            <a:pPr fontAlgn="base"/>
            <a:r>
              <a:rPr lang="en-US" sz="2400" i="1" dirty="0" smtClean="0"/>
              <a:t>&lt;hibernate-mapping&gt;  </a:t>
            </a:r>
          </a:p>
          <a:p>
            <a:pPr fontAlgn="base"/>
            <a:r>
              <a:rPr lang="en-US" sz="2400" i="1" dirty="0" smtClean="0"/>
              <a:t>       &lt;class …&gt;  </a:t>
            </a:r>
          </a:p>
          <a:p>
            <a:pPr fontAlgn="base"/>
            <a:r>
              <a:rPr lang="en-US" sz="2400" i="1" dirty="0" smtClean="0"/>
              <a:t>                &lt;id name=”</a:t>
            </a:r>
            <a:r>
              <a:rPr lang="en-US" sz="2400" i="1" dirty="0" err="1" smtClean="0"/>
              <a:t>studentId</a:t>
            </a:r>
            <a:r>
              <a:rPr lang="en-US" sz="2400" i="1" dirty="0" smtClean="0"/>
              <a:t>” column=”</a:t>
            </a:r>
            <a:r>
              <a:rPr lang="en-US" sz="2400" i="1" dirty="0" err="1" smtClean="0"/>
              <a:t>sid</a:t>
            </a:r>
            <a:r>
              <a:rPr lang="en-US" sz="2400" i="1" dirty="0" smtClean="0"/>
              <a:t>”&gt;  </a:t>
            </a:r>
          </a:p>
          <a:p>
            <a:pPr fontAlgn="base"/>
            <a:r>
              <a:rPr lang="en-US" sz="2400" i="1" dirty="0" smtClean="0"/>
              <a:t>                       &lt;generator class=”foreign”&gt;&lt;/generator&gt;  </a:t>
            </a:r>
          </a:p>
          <a:p>
            <a:pPr fontAlgn="base"/>
            <a:r>
              <a:rPr lang="en-US" sz="2400" i="1" dirty="0" smtClean="0"/>
              <a:t>               &lt;/id&gt;  </a:t>
            </a:r>
          </a:p>
          <a:p>
            <a:pPr fontAlgn="base"/>
            <a:r>
              <a:rPr lang="en-US" sz="2400" i="1" dirty="0" smtClean="0"/>
              <a:t>       &lt;/class&gt;  </a:t>
            </a:r>
          </a:p>
          <a:p>
            <a:pPr fontAlgn="base"/>
            <a:r>
              <a:rPr lang="en-US" sz="2400" i="1" dirty="0" smtClean="0"/>
              <a:t>&lt;/hibernate-mapping&gt;  </a:t>
            </a:r>
            <a:endParaRPr lang="en-US" sz="2400" i="1" dirty="0"/>
          </a:p>
        </p:txBody>
      </p:sp>
      <p:cxnSp>
        <p:nvCxnSpPr>
          <p:cNvPr id="53" name="Google Shape;53;p3"/>
          <p:cNvCxnSpPr/>
          <p:nvPr/>
        </p:nvCxnSpPr>
        <p:spPr>
          <a:xfrm>
            <a:off x="7950" y="868825"/>
            <a:ext cx="9186600" cy="0"/>
          </a:xfrm>
          <a:prstGeom prst="straightConnector1">
            <a:avLst/>
          </a:prstGeom>
          <a:noFill/>
          <a:ln w="38100" cap="flat" cmpd="sng">
            <a:solidFill>
              <a:srgbClr val="1F487C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"/>
          <p:cNvSpPr/>
          <p:nvPr/>
        </p:nvSpPr>
        <p:spPr>
          <a:xfrm>
            <a:off x="354577" y="1023576"/>
            <a:ext cx="5740289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dirty="0" smtClean="0">
                <a:solidFill>
                  <a:schemeClr val="dk2"/>
                </a:solidFill>
                <a:latin typeface="Calibri"/>
                <a:cs typeface="Calibri"/>
                <a:sym typeface="Calibri"/>
              </a:rPr>
              <a:t>Generator Class</a:t>
            </a:r>
          </a:p>
        </p:txBody>
      </p:sp>
      <p:sp>
        <p:nvSpPr>
          <p:cNvPr id="52" name="Google Shape;52;p3"/>
          <p:cNvSpPr/>
          <p:nvPr/>
        </p:nvSpPr>
        <p:spPr>
          <a:xfrm>
            <a:off x="383250" y="1626295"/>
            <a:ext cx="8533200" cy="48936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fontAlgn="base"/>
            <a:r>
              <a:rPr lang="en-US" sz="2400" b="1" dirty="0" smtClean="0"/>
              <a:t>3. </a:t>
            </a:r>
            <a:r>
              <a:rPr lang="en-US" sz="2400" b="1" dirty="0" err="1" smtClean="0"/>
              <a:t>hilo</a:t>
            </a:r>
            <a:r>
              <a:rPr lang="en-US" sz="2400" b="1" dirty="0" smtClean="0"/>
              <a:t> generator</a:t>
            </a:r>
            <a:endParaRPr lang="en-US" sz="2400" dirty="0" smtClean="0"/>
          </a:p>
          <a:p>
            <a:pPr fontAlgn="base"/>
            <a:endParaRPr lang="en-US" sz="2400" b="1" dirty="0" smtClean="0"/>
          </a:p>
          <a:p>
            <a:pPr algn="just" fontAlgn="base"/>
            <a:r>
              <a:rPr lang="en-US" sz="2400" b="1" dirty="0" err="1" smtClean="0"/>
              <a:t>hilo</a:t>
            </a:r>
            <a:r>
              <a:rPr lang="en-US" sz="2400" dirty="0" smtClean="0"/>
              <a:t> is a shortcut name for the </a:t>
            </a:r>
            <a:r>
              <a:rPr lang="en-US" sz="2400" b="1" dirty="0" err="1" smtClean="0"/>
              <a:t>TableHiloGenerator</a:t>
            </a:r>
            <a:r>
              <a:rPr lang="en-US" sz="2400" dirty="0" smtClean="0"/>
              <a:t> class. </a:t>
            </a:r>
          </a:p>
          <a:p>
            <a:pPr algn="just" fontAlgn="base"/>
            <a:endParaRPr lang="en-US" sz="2400" dirty="0" smtClean="0"/>
          </a:p>
          <a:p>
            <a:pPr algn="just" fontAlgn="base"/>
            <a:r>
              <a:rPr lang="en-US" sz="2400" dirty="0" smtClean="0"/>
              <a:t>While configuring </a:t>
            </a:r>
            <a:r>
              <a:rPr lang="en-US" sz="2400" b="1" dirty="0" err="1" smtClean="0"/>
              <a:t>hilo</a:t>
            </a:r>
            <a:r>
              <a:rPr lang="en-US" sz="2400" b="1" dirty="0" smtClean="0"/>
              <a:t> </a:t>
            </a:r>
            <a:r>
              <a:rPr lang="en-US" sz="2400" dirty="0" smtClean="0"/>
              <a:t>generator class in the </a:t>
            </a:r>
            <a:r>
              <a:rPr lang="en-US" sz="2400" b="1" dirty="0" smtClean="0"/>
              <a:t>hbm.xml </a:t>
            </a:r>
            <a:r>
              <a:rPr lang="en-US" sz="2400" dirty="0" smtClean="0"/>
              <a:t>file, we pass </a:t>
            </a:r>
            <a:r>
              <a:rPr lang="en-US" sz="2400" b="1" dirty="0" smtClean="0"/>
              <a:t>“table”, “column”</a:t>
            </a:r>
            <a:r>
              <a:rPr lang="en-US" sz="2400" dirty="0" smtClean="0"/>
              <a:t>,</a:t>
            </a:r>
            <a:r>
              <a:rPr lang="en-US" sz="2400" b="1" dirty="0" smtClean="0"/>
              <a:t> </a:t>
            </a:r>
            <a:r>
              <a:rPr lang="en-US" sz="2400" dirty="0" smtClean="0"/>
              <a:t>and </a:t>
            </a:r>
            <a:r>
              <a:rPr lang="en-US" sz="2400" b="1" dirty="0" smtClean="0"/>
              <a:t>“</a:t>
            </a:r>
            <a:r>
              <a:rPr lang="en-US" sz="2400" b="1" dirty="0" err="1" smtClean="0"/>
              <a:t>max_lo</a:t>
            </a:r>
            <a:r>
              <a:rPr lang="en-US" sz="2400" b="1" dirty="0" smtClean="0"/>
              <a:t>” </a:t>
            </a:r>
            <a:r>
              <a:rPr lang="en-US" sz="2400" dirty="0" smtClean="0"/>
              <a:t>as parameters.</a:t>
            </a:r>
          </a:p>
          <a:p>
            <a:pPr algn="just" fontAlgn="base"/>
            <a:endParaRPr lang="en-US" sz="2400" dirty="0" smtClean="0"/>
          </a:p>
          <a:p>
            <a:pPr fontAlgn="base"/>
            <a:r>
              <a:rPr lang="en-US" sz="2400" dirty="0" smtClean="0"/>
              <a:t>The default value of above three parameters given by </a:t>
            </a:r>
            <a:r>
              <a:rPr lang="en-US" sz="2400" b="1" dirty="0" smtClean="0"/>
              <a:t>Hibernate </a:t>
            </a:r>
            <a:r>
              <a:rPr lang="en-US" sz="2400" dirty="0" smtClean="0"/>
              <a:t>are:</a:t>
            </a:r>
          </a:p>
          <a:p>
            <a:pPr marL="355600" lvl="6" fontAlgn="base"/>
            <a:r>
              <a:rPr lang="en-US" sz="2400" dirty="0" smtClean="0"/>
              <a:t>table = </a:t>
            </a:r>
            <a:r>
              <a:rPr lang="en-US" sz="2400" b="1" dirty="0" err="1" smtClean="0"/>
              <a:t>hibernate_unique_key</a:t>
            </a:r>
            <a:endParaRPr lang="en-US" sz="2400" dirty="0" smtClean="0"/>
          </a:p>
          <a:p>
            <a:pPr marL="355600" lvl="6" fontAlgn="base"/>
            <a:r>
              <a:rPr lang="en-US" sz="2400" dirty="0" smtClean="0"/>
              <a:t>column =  </a:t>
            </a:r>
            <a:r>
              <a:rPr lang="en-US" sz="2400" b="1" dirty="0" err="1" smtClean="0"/>
              <a:t>next_hi</a:t>
            </a:r>
            <a:endParaRPr lang="en-US" sz="2400" dirty="0" smtClean="0"/>
          </a:p>
          <a:p>
            <a:pPr marL="355600" lvl="6" fontAlgn="base"/>
            <a:r>
              <a:rPr lang="en-US" sz="2400" dirty="0" err="1" smtClean="0"/>
              <a:t>max_lo</a:t>
            </a:r>
            <a:r>
              <a:rPr lang="en-US" sz="2400" dirty="0" smtClean="0"/>
              <a:t> = </a:t>
            </a:r>
            <a:r>
              <a:rPr lang="en-US" sz="2400" b="1" dirty="0" smtClean="0"/>
              <a:t>32767</a:t>
            </a:r>
            <a:endParaRPr lang="en-US" sz="2400" dirty="0" smtClean="0"/>
          </a:p>
          <a:p>
            <a:pPr algn="just" fontAlgn="base"/>
            <a:endParaRPr lang="en-US" sz="2400" dirty="0"/>
          </a:p>
        </p:txBody>
      </p:sp>
      <p:cxnSp>
        <p:nvCxnSpPr>
          <p:cNvPr id="53" name="Google Shape;53;p3"/>
          <p:cNvCxnSpPr/>
          <p:nvPr/>
        </p:nvCxnSpPr>
        <p:spPr>
          <a:xfrm>
            <a:off x="7950" y="868825"/>
            <a:ext cx="9186600" cy="0"/>
          </a:xfrm>
          <a:prstGeom prst="straightConnector1">
            <a:avLst/>
          </a:prstGeom>
          <a:noFill/>
          <a:ln w="38100" cap="flat" cmpd="sng">
            <a:solidFill>
              <a:srgbClr val="1F487C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"/>
          <p:cNvSpPr/>
          <p:nvPr/>
        </p:nvSpPr>
        <p:spPr>
          <a:xfrm>
            <a:off x="354577" y="1023576"/>
            <a:ext cx="5740289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dirty="0" smtClean="0">
                <a:solidFill>
                  <a:schemeClr val="dk2"/>
                </a:solidFill>
                <a:latin typeface="Calibri"/>
                <a:cs typeface="Calibri"/>
                <a:sym typeface="Calibri"/>
              </a:rPr>
              <a:t>Generator Class</a:t>
            </a:r>
          </a:p>
        </p:txBody>
      </p:sp>
      <p:sp>
        <p:nvSpPr>
          <p:cNvPr id="52" name="Google Shape;52;p3"/>
          <p:cNvSpPr/>
          <p:nvPr/>
        </p:nvSpPr>
        <p:spPr>
          <a:xfrm>
            <a:off x="383250" y="1626295"/>
            <a:ext cx="8533200" cy="52629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fontAlgn="base"/>
            <a:r>
              <a:rPr lang="en-US" sz="2400" b="1" dirty="0" smtClean="0"/>
              <a:t>3. </a:t>
            </a:r>
            <a:r>
              <a:rPr lang="en-US" sz="2400" b="1" dirty="0" err="1" smtClean="0"/>
              <a:t>hilo</a:t>
            </a:r>
            <a:r>
              <a:rPr lang="en-US" sz="2400" b="1" dirty="0" smtClean="0"/>
              <a:t> generator</a:t>
            </a:r>
            <a:r>
              <a:rPr lang="en-US" sz="2400" i="1" dirty="0" smtClean="0"/>
              <a:t/>
            </a:r>
            <a:br>
              <a:rPr lang="en-US" sz="2400" i="1" dirty="0" smtClean="0"/>
            </a:br>
            <a:r>
              <a:rPr lang="en-US" sz="2400" i="1" dirty="0" smtClean="0"/>
              <a:t>&lt;hibernate-mapping&gt;  </a:t>
            </a:r>
          </a:p>
          <a:p>
            <a:pPr fontAlgn="base"/>
            <a:r>
              <a:rPr lang="en-US" sz="2400" i="1" dirty="0" smtClean="0"/>
              <a:t>      &lt;class …&gt;  </a:t>
            </a:r>
          </a:p>
          <a:p>
            <a:pPr fontAlgn="base"/>
            <a:r>
              <a:rPr lang="en-US" sz="2400" i="1" dirty="0" smtClean="0"/>
              <a:t>               &lt;id name=”</a:t>
            </a:r>
            <a:r>
              <a:rPr lang="en-US" sz="2400" i="1" dirty="0" err="1" smtClean="0"/>
              <a:t>studentId</a:t>
            </a:r>
            <a:r>
              <a:rPr lang="en-US" sz="2400" i="1" dirty="0" smtClean="0"/>
              <a:t>” column=”</a:t>
            </a:r>
            <a:r>
              <a:rPr lang="en-US" sz="2400" i="1" dirty="0" err="1" smtClean="0"/>
              <a:t>sid</a:t>
            </a:r>
            <a:r>
              <a:rPr lang="en-US" sz="2400" i="1" dirty="0" smtClean="0"/>
              <a:t>”&gt;  </a:t>
            </a:r>
          </a:p>
          <a:p>
            <a:pPr fontAlgn="base"/>
            <a:r>
              <a:rPr lang="en-US" sz="2400" i="1" dirty="0" smtClean="0"/>
              <a:t>                      &lt;generator class=”</a:t>
            </a:r>
            <a:r>
              <a:rPr lang="en-US" sz="2400" i="1" dirty="0" err="1" smtClean="0"/>
              <a:t>hilo</a:t>
            </a:r>
            <a:r>
              <a:rPr lang="en-US" sz="2400" i="1" dirty="0" smtClean="0"/>
              <a:t>”&gt;</a:t>
            </a:r>
          </a:p>
          <a:p>
            <a:pPr fontAlgn="base"/>
            <a:r>
              <a:rPr lang="en-US" sz="2400" i="1" dirty="0" smtClean="0"/>
              <a:t>                                &lt;</a:t>
            </a:r>
            <a:r>
              <a:rPr lang="en-US" sz="2400" i="1" dirty="0" err="1" smtClean="0"/>
              <a:t>param</a:t>
            </a:r>
            <a:r>
              <a:rPr lang="en-US" sz="2400" i="1" dirty="0" smtClean="0"/>
              <a:t> 					 			name=”table”&gt;document&lt;/</a:t>
            </a:r>
            <a:r>
              <a:rPr lang="en-US" sz="2400" i="1" dirty="0" err="1" smtClean="0"/>
              <a:t>param</a:t>
            </a:r>
            <a:r>
              <a:rPr lang="en-US" sz="2400" i="1" dirty="0" smtClean="0"/>
              <a:t>&gt;</a:t>
            </a:r>
          </a:p>
          <a:p>
            <a:pPr fontAlgn="base"/>
            <a:r>
              <a:rPr lang="en-US" sz="2400" i="1" dirty="0" smtClean="0"/>
              <a:t>                               &lt;</a:t>
            </a:r>
            <a:r>
              <a:rPr lang="en-US" sz="2400" i="1" dirty="0" err="1" smtClean="0"/>
              <a:t>param</a:t>
            </a:r>
            <a:r>
              <a:rPr lang="en-US" sz="2400" i="1" dirty="0" smtClean="0"/>
              <a:t> name=”column”&gt;column&lt;/</a:t>
            </a:r>
            <a:r>
              <a:rPr lang="en-US" sz="2400" i="1" dirty="0" err="1" smtClean="0"/>
              <a:t>param</a:t>
            </a:r>
            <a:r>
              <a:rPr lang="en-US" sz="2400" i="1" dirty="0" smtClean="0"/>
              <a:t>&gt;</a:t>
            </a:r>
          </a:p>
          <a:p>
            <a:pPr fontAlgn="base"/>
            <a:r>
              <a:rPr lang="en-US" sz="2400" i="1" dirty="0" smtClean="0"/>
              <a:t>                              &lt;</a:t>
            </a:r>
            <a:r>
              <a:rPr lang="en-US" sz="2400" i="1" dirty="0" err="1" smtClean="0"/>
              <a:t>param</a:t>
            </a:r>
            <a:r>
              <a:rPr lang="en-US" sz="2400" i="1" dirty="0" smtClean="0"/>
              <a:t> name=”</a:t>
            </a:r>
            <a:r>
              <a:rPr lang="en-US" sz="2400" i="1" dirty="0" err="1" smtClean="0"/>
              <a:t>max_lo</a:t>
            </a:r>
            <a:r>
              <a:rPr lang="en-US" sz="2400" i="1" dirty="0" smtClean="0"/>
              <a:t>”&gt;13210&lt;/</a:t>
            </a:r>
            <a:r>
              <a:rPr lang="en-US" sz="2400" i="1" dirty="0" err="1" smtClean="0"/>
              <a:t>param</a:t>
            </a:r>
            <a:r>
              <a:rPr lang="en-US" sz="2400" i="1" dirty="0" smtClean="0"/>
              <a:t>&gt;</a:t>
            </a:r>
          </a:p>
          <a:p>
            <a:pPr fontAlgn="base"/>
            <a:r>
              <a:rPr lang="en-US" sz="2400" i="1" dirty="0" smtClean="0"/>
              <a:t>                    &lt;/generator&gt;  </a:t>
            </a:r>
          </a:p>
          <a:p>
            <a:pPr fontAlgn="base"/>
            <a:r>
              <a:rPr lang="en-US" sz="2400" i="1" dirty="0" smtClean="0"/>
              <a:t>              &lt;/id&gt;  </a:t>
            </a:r>
          </a:p>
          <a:p>
            <a:pPr fontAlgn="base"/>
            <a:r>
              <a:rPr lang="en-US" sz="2400" i="1" dirty="0" smtClean="0"/>
              <a:t>      &lt;/class&gt;  </a:t>
            </a:r>
          </a:p>
          <a:p>
            <a:pPr fontAlgn="base"/>
            <a:r>
              <a:rPr lang="en-US" sz="2400" i="1" dirty="0" smtClean="0"/>
              <a:t>&lt;/hibernate-mapping&gt;  </a:t>
            </a:r>
          </a:p>
          <a:p>
            <a:pPr algn="just" fontAlgn="base"/>
            <a:endParaRPr lang="en-US" sz="2400" dirty="0"/>
          </a:p>
        </p:txBody>
      </p:sp>
      <p:cxnSp>
        <p:nvCxnSpPr>
          <p:cNvPr id="53" name="Google Shape;53;p3"/>
          <p:cNvCxnSpPr/>
          <p:nvPr/>
        </p:nvCxnSpPr>
        <p:spPr>
          <a:xfrm>
            <a:off x="7950" y="868825"/>
            <a:ext cx="9186600" cy="0"/>
          </a:xfrm>
          <a:prstGeom prst="straightConnector1">
            <a:avLst/>
          </a:prstGeom>
          <a:noFill/>
          <a:ln w="38100" cap="flat" cmpd="sng">
            <a:solidFill>
              <a:srgbClr val="1F487C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"/>
          <p:cNvSpPr/>
          <p:nvPr/>
        </p:nvSpPr>
        <p:spPr>
          <a:xfrm>
            <a:off x="354577" y="1023576"/>
            <a:ext cx="5740289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dirty="0" smtClean="0">
                <a:solidFill>
                  <a:schemeClr val="dk2"/>
                </a:solidFill>
                <a:latin typeface="Calibri"/>
                <a:cs typeface="Calibri"/>
                <a:sym typeface="Calibri"/>
              </a:rPr>
              <a:t>Generator Class</a:t>
            </a:r>
          </a:p>
        </p:txBody>
      </p:sp>
      <p:sp>
        <p:nvSpPr>
          <p:cNvPr id="52" name="Google Shape;52;p3"/>
          <p:cNvSpPr/>
          <p:nvPr/>
        </p:nvSpPr>
        <p:spPr>
          <a:xfrm>
            <a:off x="383250" y="1626295"/>
            <a:ext cx="8533200" cy="4524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just" fontAlgn="base"/>
            <a:r>
              <a:rPr lang="en-US" sz="2400" b="1" dirty="0" smtClean="0"/>
              <a:t>4. identity generator</a:t>
            </a:r>
            <a:endParaRPr lang="en-US" sz="2400" dirty="0" smtClean="0"/>
          </a:p>
          <a:p>
            <a:pPr algn="just" fontAlgn="base"/>
            <a:r>
              <a:rPr lang="en-US" sz="2400" b="1" dirty="0" smtClean="0"/>
              <a:t>identity </a:t>
            </a:r>
            <a:r>
              <a:rPr lang="en-US" sz="2400" dirty="0" smtClean="0"/>
              <a:t>is a shortcut name given for the </a:t>
            </a:r>
            <a:r>
              <a:rPr lang="en-US" sz="2400" b="1" dirty="0" err="1" smtClean="0"/>
              <a:t>IdentityGenerator</a:t>
            </a:r>
            <a:r>
              <a:rPr lang="en-US" sz="2400" dirty="0" smtClean="0"/>
              <a:t> class. </a:t>
            </a:r>
          </a:p>
          <a:p>
            <a:pPr algn="just" fontAlgn="base"/>
            <a:r>
              <a:rPr lang="en-US" sz="2400" dirty="0" smtClean="0"/>
              <a:t>It reads an auto-incremented column algorithm of the database and takes that value and returns it as id to hibernate. </a:t>
            </a:r>
          </a:p>
          <a:p>
            <a:pPr algn="just" fontAlgn="base"/>
            <a:r>
              <a:rPr lang="en-US" sz="2400" b="1" dirty="0" smtClean="0"/>
              <a:t>Identity </a:t>
            </a:r>
            <a:r>
              <a:rPr lang="en-US" sz="2400" dirty="0" smtClean="0"/>
              <a:t>generator supports databases like </a:t>
            </a:r>
            <a:r>
              <a:rPr lang="en-US" sz="2400" b="1" dirty="0" smtClean="0"/>
              <a:t>Sybase, My SQL, MS SQL Server, DB2</a:t>
            </a:r>
            <a:r>
              <a:rPr lang="en-US" sz="2400" dirty="0" smtClean="0"/>
              <a:t>,</a:t>
            </a:r>
            <a:r>
              <a:rPr lang="en-US" sz="2400" b="1" dirty="0" smtClean="0"/>
              <a:t> and </a:t>
            </a:r>
            <a:r>
              <a:rPr lang="en-US" sz="2400" b="1" dirty="0" err="1" smtClean="0"/>
              <a:t>HypersonicSQL</a:t>
            </a:r>
            <a:r>
              <a:rPr lang="en-US" sz="2400" dirty="0" smtClean="0"/>
              <a:t> but doesn’t support </a:t>
            </a:r>
            <a:r>
              <a:rPr lang="en-US" sz="2400" b="1" dirty="0" smtClean="0"/>
              <a:t>Oracle</a:t>
            </a:r>
            <a:r>
              <a:rPr lang="en-US" sz="2400" dirty="0" smtClean="0"/>
              <a:t> database because there is no </a:t>
            </a:r>
            <a:r>
              <a:rPr lang="en-US" sz="2400" dirty="0" err="1" smtClean="0"/>
              <a:t>autoincrement</a:t>
            </a:r>
            <a:r>
              <a:rPr lang="en-US" sz="2400" dirty="0" smtClean="0"/>
              <a:t> functionality in </a:t>
            </a:r>
            <a:r>
              <a:rPr lang="en-US" sz="2400" b="1" dirty="0" smtClean="0"/>
              <a:t>Oracle </a:t>
            </a:r>
            <a:r>
              <a:rPr lang="en-US" sz="2400" dirty="0" smtClean="0"/>
              <a:t>database. </a:t>
            </a:r>
          </a:p>
          <a:p>
            <a:pPr algn="just" fontAlgn="base"/>
            <a:r>
              <a:rPr lang="en-US" sz="2400" dirty="0" smtClean="0"/>
              <a:t>Hence identity generator can be considered as a database-dependent generator.</a:t>
            </a:r>
            <a:endParaRPr lang="en-US" sz="2400" dirty="0"/>
          </a:p>
        </p:txBody>
      </p:sp>
      <p:cxnSp>
        <p:nvCxnSpPr>
          <p:cNvPr id="53" name="Google Shape;53;p3"/>
          <p:cNvCxnSpPr/>
          <p:nvPr/>
        </p:nvCxnSpPr>
        <p:spPr>
          <a:xfrm>
            <a:off x="7950" y="868825"/>
            <a:ext cx="9186600" cy="0"/>
          </a:xfrm>
          <a:prstGeom prst="straightConnector1">
            <a:avLst/>
          </a:prstGeom>
          <a:noFill/>
          <a:ln w="38100" cap="flat" cmpd="sng">
            <a:solidFill>
              <a:srgbClr val="1F487C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"/>
          <p:cNvSpPr/>
          <p:nvPr/>
        </p:nvSpPr>
        <p:spPr>
          <a:xfrm>
            <a:off x="354577" y="1023576"/>
            <a:ext cx="5740289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dirty="0" smtClean="0">
                <a:solidFill>
                  <a:schemeClr val="dk2"/>
                </a:solidFill>
                <a:latin typeface="Calibri"/>
                <a:cs typeface="Calibri"/>
                <a:sym typeface="Calibri"/>
              </a:rPr>
              <a:t>Generator Class</a:t>
            </a:r>
          </a:p>
        </p:txBody>
      </p:sp>
      <p:sp>
        <p:nvSpPr>
          <p:cNvPr id="52" name="Google Shape;52;p3"/>
          <p:cNvSpPr/>
          <p:nvPr/>
        </p:nvSpPr>
        <p:spPr>
          <a:xfrm>
            <a:off x="383250" y="1626295"/>
            <a:ext cx="8533200" cy="4154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just" fontAlgn="base"/>
            <a:r>
              <a:rPr lang="en-US" sz="2400" b="1" dirty="0" smtClean="0"/>
              <a:t>4. identity generator</a:t>
            </a:r>
            <a:endParaRPr lang="en-US" sz="2400" dirty="0" smtClean="0"/>
          </a:p>
          <a:p>
            <a:pPr fontAlgn="base"/>
            <a:endParaRPr lang="en-US" sz="2400" i="1" dirty="0" smtClean="0"/>
          </a:p>
          <a:p>
            <a:pPr fontAlgn="base"/>
            <a:r>
              <a:rPr lang="en-US" sz="2400" i="1" dirty="0" smtClean="0"/>
              <a:t>&lt;hibernate-mapping&gt;  </a:t>
            </a:r>
          </a:p>
          <a:p>
            <a:pPr fontAlgn="base"/>
            <a:r>
              <a:rPr lang="en-US" sz="2400" i="1" dirty="0" smtClean="0"/>
              <a:t>      &lt;class …&gt;  </a:t>
            </a:r>
          </a:p>
          <a:p>
            <a:pPr fontAlgn="base"/>
            <a:r>
              <a:rPr lang="en-US" sz="2400" i="1" dirty="0" smtClean="0"/>
              <a:t>               &lt;id name=”</a:t>
            </a:r>
            <a:r>
              <a:rPr lang="en-US" sz="2400" i="1" dirty="0" err="1" smtClean="0"/>
              <a:t>studentId</a:t>
            </a:r>
            <a:r>
              <a:rPr lang="en-US" sz="2400" i="1" dirty="0" smtClean="0"/>
              <a:t>” column=”</a:t>
            </a:r>
            <a:r>
              <a:rPr lang="en-US" sz="2400" i="1" dirty="0" err="1" smtClean="0"/>
              <a:t>sid</a:t>
            </a:r>
            <a:r>
              <a:rPr lang="en-US" sz="2400" i="1" dirty="0" smtClean="0"/>
              <a:t>”&gt;  </a:t>
            </a:r>
          </a:p>
          <a:p>
            <a:pPr fontAlgn="base"/>
            <a:r>
              <a:rPr lang="en-US" sz="2400" i="1" dirty="0" smtClean="0"/>
              <a:t>                      &lt;generator class=”identity”&gt;&lt;/generator&gt;  </a:t>
            </a:r>
          </a:p>
          <a:p>
            <a:pPr fontAlgn="base"/>
            <a:r>
              <a:rPr lang="en-US" sz="2400" i="1" dirty="0" smtClean="0"/>
              <a:t>              &lt;/id&gt;  </a:t>
            </a:r>
          </a:p>
          <a:p>
            <a:pPr fontAlgn="base"/>
            <a:r>
              <a:rPr lang="en-US" sz="2400" i="1" dirty="0" smtClean="0"/>
              <a:t>      &lt;/class&gt;  </a:t>
            </a:r>
          </a:p>
          <a:p>
            <a:pPr fontAlgn="base"/>
            <a:r>
              <a:rPr lang="en-US" sz="2400" i="1" dirty="0" smtClean="0"/>
              <a:t>&lt;/hibernate-mapping&gt;  </a:t>
            </a:r>
          </a:p>
          <a:p>
            <a:r>
              <a:rPr lang="en-US" sz="2400" dirty="0" smtClean="0"/>
              <a:t/>
            </a:r>
            <a:br>
              <a:rPr lang="en-US" sz="2400" dirty="0" smtClean="0"/>
            </a:br>
            <a:endParaRPr lang="en-US" sz="2400" dirty="0"/>
          </a:p>
        </p:txBody>
      </p:sp>
      <p:cxnSp>
        <p:nvCxnSpPr>
          <p:cNvPr id="53" name="Google Shape;53;p3"/>
          <p:cNvCxnSpPr/>
          <p:nvPr/>
        </p:nvCxnSpPr>
        <p:spPr>
          <a:xfrm>
            <a:off x="7950" y="868825"/>
            <a:ext cx="9186600" cy="0"/>
          </a:xfrm>
          <a:prstGeom prst="straightConnector1">
            <a:avLst/>
          </a:prstGeom>
          <a:noFill/>
          <a:ln w="38100" cap="flat" cmpd="sng">
            <a:solidFill>
              <a:srgbClr val="1F487C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"/>
          <p:cNvSpPr/>
          <p:nvPr/>
        </p:nvSpPr>
        <p:spPr>
          <a:xfrm>
            <a:off x="354577" y="1023576"/>
            <a:ext cx="5740289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dirty="0" smtClean="0">
                <a:solidFill>
                  <a:schemeClr val="dk2"/>
                </a:solidFill>
                <a:latin typeface="Calibri"/>
                <a:cs typeface="Calibri"/>
                <a:sym typeface="Calibri"/>
              </a:rPr>
              <a:t>Generator Class</a:t>
            </a:r>
          </a:p>
        </p:txBody>
      </p:sp>
      <p:sp>
        <p:nvSpPr>
          <p:cNvPr id="52" name="Google Shape;52;p3"/>
          <p:cNvSpPr/>
          <p:nvPr/>
        </p:nvSpPr>
        <p:spPr>
          <a:xfrm>
            <a:off x="383250" y="1626295"/>
            <a:ext cx="8533200" cy="30469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fontAlgn="base"/>
            <a:r>
              <a:rPr lang="en-US" sz="2400" b="1" dirty="0" smtClean="0"/>
              <a:t>5. increment generator</a:t>
            </a:r>
            <a:endParaRPr lang="en-US" sz="2400" dirty="0" smtClean="0"/>
          </a:p>
          <a:p>
            <a:pPr fontAlgn="base"/>
            <a:endParaRPr lang="en-US" sz="2400" dirty="0" smtClean="0"/>
          </a:p>
          <a:p>
            <a:pPr algn="just" fontAlgn="base"/>
            <a:r>
              <a:rPr lang="en-US" sz="2400" dirty="0" smtClean="0"/>
              <a:t>An </a:t>
            </a:r>
            <a:r>
              <a:rPr lang="en-US" sz="2400" b="1" dirty="0" smtClean="0"/>
              <a:t>increment </a:t>
            </a:r>
            <a:r>
              <a:rPr lang="en-US" sz="2400" dirty="0" smtClean="0"/>
              <a:t>is a shortcut name given for the </a:t>
            </a:r>
            <a:r>
              <a:rPr lang="en-US" sz="2400" b="1" dirty="0" err="1" smtClean="0"/>
              <a:t>IncrementGenerator</a:t>
            </a:r>
            <a:r>
              <a:rPr lang="en-US" sz="2400" dirty="0" smtClean="0"/>
              <a:t> class. </a:t>
            </a:r>
          </a:p>
          <a:p>
            <a:pPr algn="just" fontAlgn="base"/>
            <a:endParaRPr lang="en-US" sz="2400" dirty="0" smtClean="0"/>
          </a:p>
          <a:p>
            <a:pPr algn="just" fontAlgn="base"/>
            <a:r>
              <a:rPr lang="en-US" sz="2400" dirty="0" smtClean="0"/>
              <a:t>The </a:t>
            </a:r>
            <a:r>
              <a:rPr lang="en-US" sz="2400" b="1" dirty="0" err="1" smtClean="0"/>
              <a:t>IncrementGenerator</a:t>
            </a:r>
            <a:r>
              <a:rPr lang="en-US" sz="2400" b="1" dirty="0" smtClean="0"/>
              <a:t> </a:t>
            </a:r>
            <a:r>
              <a:rPr lang="en-US" sz="2400" dirty="0" smtClean="0"/>
              <a:t>class reads the max value of the existing ID in the database table and then increments it by one and returns the ID value to hibernate.</a:t>
            </a:r>
            <a:endParaRPr lang="en-US" sz="2400" dirty="0"/>
          </a:p>
        </p:txBody>
      </p:sp>
      <p:cxnSp>
        <p:nvCxnSpPr>
          <p:cNvPr id="53" name="Google Shape;53;p3"/>
          <p:cNvCxnSpPr/>
          <p:nvPr/>
        </p:nvCxnSpPr>
        <p:spPr>
          <a:xfrm>
            <a:off x="7950" y="868825"/>
            <a:ext cx="9186600" cy="0"/>
          </a:xfrm>
          <a:prstGeom prst="straightConnector1">
            <a:avLst/>
          </a:prstGeom>
          <a:noFill/>
          <a:ln w="38100" cap="flat" cmpd="sng">
            <a:solidFill>
              <a:srgbClr val="1F487C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"/>
          <p:cNvSpPr/>
          <p:nvPr/>
        </p:nvSpPr>
        <p:spPr>
          <a:xfrm>
            <a:off x="354577" y="1023576"/>
            <a:ext cx="5740289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dirty="0" smtClean="0">
                <a:solidFill>
                  <a:schemeClr val="dk2"/>
                </a:solidFill>
                <a:latin typeface="Calibri"/>
                <a:cs typeface="Calibri"/>
                <a:sym typeface="Calibri"/>
              </a:rPr>
              <a:t>Generator Class</a:t>
            </a:r>
          </a:p>
        </p:txBody>
      </p:sp>
      <p:sp>
        <p:nvSpPr>
          <p:cNvPr id="52" name="Google Shape;52;p3"/>
          <p:cNvSpPr/>
          <p:nvPr/>
        </p:nvSpPr>
        <p:spPr>
          <a:xfrm>
            <a:off x="383250" y="1626295"/>
            <a:ext cx="8533200" cy="3416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fontAlgn="base"/>
            <a:r>
              <a:rPr lang="en-US" sz="2400" b="1" dirty="0" smtClean="0"/>
              <a:t>5. increment generator</a:t>
            </a:r>
            <a:endParaRPr lang="en-US" sz="2400" dirty="0" smtClean="0"/>
          </a:p>
          <a:p>
            <a:pPr fontAlgn="base"/>
            <a:endParaRPr lang="en-US" sz="2400" dirty="0" smtClean="0"/>
          </a:p>
          <a:p>
            <a:pPr fontAlgn="base"/>
            <a:r>
              <a:rPr lang="en-US" sz="2400" i="1" dirty="0" smtClean="0"/>
              <a:t>&lt;hibernate-mapping&gt;  </a:t>
            </a:r>
          </a:p>
          <a:p>
            <a:pPr fontAlgn="base"/>
            <a:r>
              <a:rPr lang="en-US" sz="2400" i="1" dirty="0" smtClean="0"/>
              <a:t>     &lt;class …&gt;  </a:t>
            </a:r>
          </a:p>
          <a:p>
            <a:pPr fontAlgn="base"/>
            <a:r>
              <a:rPr lang="en-US" sz="2400" i="1" dirty="0" smtClean="0"/>
              <a:t>              &lt;id name=”</a:t>
            </a:r>
            <a:r>
              <a:rPr lang="en-US" sz="2400" i="1" dirty="0" err="1" smtClean="0"/>
              <a:t>studentId</a:t>
            </a:r>
            <a:r>
              <a:rPr lang="en-US" sz="2400" i="1" dirty="0" smtClean="0"/>
              <a:t>” column=”</a:t>
            </a:r>
            <a:r>
              <a:rPr lang="en-US" sz="2400" i="1" dirty="0" err="1" smtClean="0"/>
              <a:t>sid</a:t>
            </a:r>
            <a:r>
              <a:rPr lang="en-US" sz="2400" i="1" dirty="0" smtClean="0"/>
              <a:t>”&gt;  </a:t>
            </a:r>
          </a:p>
          <a:p>
            <a:pPr fontAlgn="base"/>
            <a:r>
              <a:rPr lang="en-US" sz="2400" i="1" dirty="0" smtClean="0"/>
              <a:t>                     &lt;generator class=”increment”&gt;&lt;/generator&gt;  </a:t>
            </a:r>
          </a:p>
          <a:p>
            <a:pPr fontAlgn="base"/>
            <a:r>
              <a:rPr lang="en-US" sz="2400" i="1" dirty="0" smtClean="0"/>
              <a:t>             &lt;/id&gt;  </a:t>
            </a:r>
          </a:p>
          <a:p>
            <a:pPr fontAlgn="base"/>
            <a:r>
              <a:rPr lang="en-US" sz="2400" i="1" dirty="0" smtClean="0"/>
              <a:t>     &lt;/class&gt;  </a:t>
            </a:r>
          </a:p>
          <a:p>
            <a:pPr fontAlgn="base"/>
            <a:r>
              <a:rPr lang="en-US" sz="2400" i="1" dirty="0" smtClean="0"/>
              <a:t>&lt;/hibernate-mapping&gt;  </a:t>
            </a:r>
            <a:endParaRPr lang="en-US" sz="2400" i="1" dirty="0"/>
          </a:p>
        </p:txBody>
      </p:sp>
      <p:cxnSp>
        <p:nvCxnSpPr>
          <p:cNvPr id="53" name="Google Shape;53;p3"/>
          <p:cNvCxnSpPr/>
          <p:nvPr/>
        </p:nvCxnSpPr>
        <p:spPr>
          <a:xfrm>
            <a:off x="7950" y="868825"/>
            <a:ext cx="9186600" cy="0"/>
          </a:xfrm>
          <a:prstGeom prst="straightConnector1">
            <a:avLst/>
          </a:prstGeom>
          <a:noFill/>
          <a:ln w="38100" cap="flat" cmpd="sng">
            <a:solidFill>
              <a:srgbClr val="1F487C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"/>
          <p:cNvSpPr/>
          <p:nvPr/>
        </p:nvSpPr>
        <p:spPr>
          <a:xfrm>
            <a:off x="354577" y="1023576"/>
            <a:ext cx="5740289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dirty="0" smtClean="0">
                <a:solidFill>
                  <a:schemeClr val="dk2"/>
                </a:solidFill>
                <a:latin typeface="Calibri"/>
                <a:cs typeface="Calibri"/>
                <a:sym typeface="Calibri"/>
              </a:rPr>
              <a:t>Generator Class</a:t>
            </a:r>
          </a:p>
        </p:txBody>
      </p:sp>
      <p:sp>
        <p:nvSpPr>
          <p:cNvPr id="52" name="Google Shape;52;p3"/>
          <p:cNvSpPr/>
          <p:nvPr/>
        </p:nvSpPr>
        <p:spPr>
          <a:xfrm>
            <a:off x="383250" y="1626295"/>
            <a:ext cx="8533200" cy="37856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just" fontAlgn="base"/>
            <a:r>
              <a:rPr lang="en-US" sz="2400" b="1" dirty="0" smtClean="0"/>
              <a:t>6. native generator</a:t>
            </a:r>
            <a:endParaRPr lang="en-US" sz="2400" dirty="0" smtClean="0"/>
          </a:p>
          <a:p>
            <a:pPr algn="just" fontAlgn="base"/>
            <a:r>
              <a:rPr lang="en-US" sz="2400" b="1" dirty="0" smtClean="0"/>
              <a:t>native </a:t>
            </a:r>
            <a:r>
              <a:rPr lang="en-US" sz="2400" dirty="0" smtClean="0"/>
              <a:t>is the shortcut name given for the </a:t>
            </a:r>
            <a:r>
              <a:rPr lang="en-US" sz="2400" b="1" dirty="0" err="1" smtClean="0"/>
              <a:t>NativeGenerator</a:t>
            </a:r>
            <a:r>
              <a:rPr lang="en-US" sz="2400" b="1" dirty="0" smtClean="0"/>
              <a:t> </a:t>
            </a:r>
            <a:r>
              <a:rPr lang="en-US" sz="2400" dirty="0" smtClean="0"/>
              <a:t>class. </a:t>
            </a:r>
          </a:p>
          <a:p>
            <a:pPr algn="just" fontAlgn="base"/>
            <a:endParaRPr lang="en-US" sz="2400" dirty="0" smtClean="0"/>
          </a:p>
          <a:p>
            <a:pPr algn="just" fontAlgn="base"/>
            <a:r>
              <a:rPr lang="en-US" sz="2400" dirty="0" smtClean="0"/>
              <a:t>If the database supports an </a:t>
            </a:r>
            <a:r>
              <a:rPr lang="en-US" sz="2400" b="1" dirty="0" smtClean="0"/>
              <a:t>identity </a:t>
            </a:r>
            <a:r>
              <a:rPr lang="en-US" sz="2400" dirty="0" smtClean="0"/>
              <a:t>generator, then it acts as </a:t>
            </a:r>
            <a:r>
              <a:rPr lang="en-US" sz="2400" b="1" dirty="0" smtClean="0"/>
              <a:t>identity </a:t>
            </a:r>
            <a:r>
              <a:rPr lang="en-US" sz="2400" dirty="0" smtClean="0"/>
              <a:t>otherwise it will check for the database support of other generators. </a:t>
            </a:r>
          </a:p>
          <a:p>
            <a:pPr algn="just" fontAlgn="base"/>
            <a:endParaRPr lang="en-US" sz="2400" dirty="0" smtClean="0"/>
          </a:p>
          <a:p>
            <a:pPr algn="just" fontAlgn="base"/>
            <a:r>
              <a:rPr lang="en-US" sz="2400" dirty="0" smtClean="0"/>
              <a:t>It selects </a:t>
            </a:r>
            <a:r>
              <a:rPr lang="en-US" sz="2400" b="1" dirty="0" smtClean="0"/>
              <a:t>identity, sequence</a:t>
            </a:r>
            <a:r>
              <a:rPr lang="en-US" sz="2400" dirty="0" smtClean="0"/>
              <a:t>, or </a:t>
            </a:r>
            <a:r>
              <a:rPr lang="en-US" sz="2400" b="1" dirty="0" err="1" smtClean="0"/>
              <a:t>hilo</a:t>
            </a:r>
            <a:r>
              <a:rPr lang="en-US" sz="2400" b="1" dirty="0" smtClean="0"/>
              <a:t> </a:t>
            </a:r>
            <a:r>
              <a:rPr lang="en-US" sz="2400" dirty="0" smtClean="0"/>
              <a:t>depending upon the capabilities of the underlying database.</a:t>
            </a:r>
            <a:endParaRPr lang="en-US" sz="2400" dirty="0"/>
          </a:p>
        </p:txBody>
      </p:sp>
      <p:cxnSp>
        <p:nvCxnSpPr>
          <p:cNvPr id="53" name="Google Shape;53;p3"/>
          <p:cNvCxnSpPr/>
          <p:nvPr/>
        </p:nvCxnSpPr>
        <p:spPr>
          <a:xfrm>
            <a:off x="7950" y="868825"/>
            <a:ext cx="9186600" cy="0"/>
          </a:xfrm>
          <a:prstGeom prst="straightConnector1">
            <a:avLst/>
          </a:prstGeom>
          <a:noFill/>
          <a:ln w="38100" cap="flat" cmpd="sng">
            <a:solidFill>
              <a:srgbClr val="1F487C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"/>
          <p:cNvSpPr/>
          <p:nvPr/>
        </p:nvSpPr>
        <p:spPr>
          <a:xfrm>
            <a:off x="354577" y="1023576"/>
            <a:ext cx="5740289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dirty="0" smtClean="0">
                <a:solidFill>
                  <a:schemeClr val="dk2"/>
                </a:solidFill>
                <a:latin typeface="Calibri"/>
                <a:cs typeface="Calibri"/>
                <a:sym typeface="Calibri"/>
              </a:rPr>
              <a:t>Generator Class</a:t>
            </a:r>
          </a:p>
        </p:txBody>
      </p:sp>
      <p:sp>
        <p:nvSpPr>
          <p:cNvPr id="52" name="Google Shape;52;p3"/>
          <p:cNvSpPr/>
          <p:nvPr/>
        </p:nvSpPr>
        <p:spPr>
          <a:xfrm>
            <a:off x="383250" y="1626295"/>
            <a:ext cx="8533200" cy="37856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just" fontAlgn="base"/>
            <a:r>
              <a:rPr lang="en-US" sz="2400" b="1" dirty="0" smtClean="0"/>
              <a:t>6. native generator</a:t>
            </a:r>
            <a:endParaRPr lang="en-US" sz="2400" dirty="0" smtClean="0"/>
          </a:p>
          <a:p>
            <a:pPr fontAlgn="base"/>
            <a:r>
              <a:rPr lang="en-US" sz="2400" i="1" dirty="0" smtClean="0"/>
              <a:t>&lt;hibernate-mapping&gt;  </a:t>
            </a:r>
          </a:p>
          <a:p>
            <a:pPr fontAlgn="base"/>
            <a:r>
              <a:rPr lang="en-US" sz="2400" i="1" dirty="0" smtClean="0"/>
              <a:t>    &lt;class …&gt;  </a:t>
            </a:r>
          </a:p>
          <a:p>
            <a:pPr fontAlgn="base"/>
            <a:r>
              <a:rPr lang="en-US" sz="2400" i="1" dirty="0" smtClean="0"/>
              <a:t>             &lt;id name=”</a:t>
            </a:r>
            <a:r>
              <a:rPr lang="en-US" sz="2400" i="1" dirty="0" err="1" smtClean="0"/>
              <a:t>studentId</a:t>
            </a:r>
            <a:r>
              <a:rPr lang="en-US" sz="2400" i="1" dirty="0" smtClean="0"/>
              <a:t>” column=”</a:t>
            </a:r>
            <a:r>
              <a:rPr lang="en-US" sz="2400" i="1" dirty="0" err="1" smtClean="0"/>
              <a:t>sid</a:t>
            </a:r>
            <a:r>
              <a:rPr lang="en-US" sz="2400" i="1" dirty="0" smtClean="0"/>
              <a:t>”&gt;  </a:t>
            </a:r>
          </a:p>
          <a:p>
            <a:pPr fontAlgn="base"/>
            <a:r>
              <a:rPr lang="en-US" sz="2400" i="1" dirty="0" smtClean="0"/>
              <a:t>                    &lt;generator class=”native”&gt;&lt;/generator&gt;  </a:t>
            </a:r>
          </a:p>
          <a:p>
            <a:pPr fontAlgn="base"/>
            <a:r>
              <a:rPr lang="en-US" sz="2400" i="1" dirty="0" smtClean="0"/>
              <a:t>            &lt;/id&gt;  </a:t>
            </a:r>
          </a:p>
          <a:p>
            <a:pPr fontAlgn="base"/>
            <a:r>
              <a:rPr lang="en-US" sz="2400" i="1" dirty="0" smtClean="0"/>
              <a:t>    &lt;/class&gt;  </a:t>
            </a:r>
          </a:p>
          <a:p>
            <a:pPr fontAlgn="base"/>
            <a:r>
              <a:rPr lang="en-US" sz="2400" i="1" dirty="0" smtClean="0"/>
              <a:t>&lt;/hibernate-mapping&gt;  </a:t>
            </a:r>
          </a:p>
          <a:p>
            <a:r>
              <a:rPr lang="en-US" sz="2400" dirty="0" smtClean="0"/>
              <a:t/>
            </a:r>
            <a:br>
              <a:rPr lang="en-US" sz="2400" dirty="0" smtClean="0"/>
            </a:br>
            <a:endParaRPr lang="en-US" sz="2400" dirty="0"/>
          </a:p>
        </p:txBody>
      </p:sp>
      <p:cxnSp>
        <p:nvCxnSpPr>
          <p:cNvPr id="53" name="Google Shape;53;p3"/>
          <p:cNvCxnSpPr/>
          <p:nvPr/>
        </p:nvCxnSpPr>
        <p:spPr>
          <a:xfrm>
            <a:off x="7950" y="868825"/>
            <a:ext cx="9186600" cy="0"/>
          </a:xfrm>
          <a:prstGeom prst="straightConnector1">
            <a:avLst/>
          </a:prstGeom>
          <a:noFill/>
          <a:ln w="38100" cap="flat" cmpd="sng">
            <a:solidFill>
              <a:srgbClr val="1F487C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"/>
          <p:cNvSpPr/>
          <p:nvPr/>
        </p:nvSpPr>
        <p:spPr>
          <a:xfrm>
            <a:off x="354577" y="1023576"/>
            <a:ext cx="5740289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dirty="0" smtClean="0">
                <a:solidFill>
                  <a:schemeClr val="dk2"/>
                </a:solidFill>
                <a:latin typeface="Calibri"/>
                <a:cs typeface="Calibri"/>
                <a:sym typeface="Calibri"/>
              </a:rPr>
              <a:t>Generator Class</a:t>
            </a:r>
          </a:p>
        </p:txBody>
      </p:sp>
      <p:sp>
        <p:nvSpPr>
          <p:cNvPr id="52" name="Google Shape;52;p3"/>
          <p:cNvSpPr/>
          <p:nvPr/>
        </p:nvSpPr>
        <p:spPr>
          <a:xfrm>
            <a:off x="383250" y="1626295"/>
            <a:ext cx="8533200" cy="4154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just" fontAlgn="base"/>
            <a:r>
              <a:rPr lang="en-US" sz="2400" b="1" dirty="0" smtClean="0"/>
              <a:t>7. sequence generator</a:t>
            </a:r>
            <a:endParaRPr lang="en-US" sz="2400" dirty="0" smtClean="0"/>
          </a:p>
          <a:p>
            <a:pPr algn="just" fontAlgn="base"/>
            <a:endParaRPr lang="en-US" sz="2400" b="1" dirty="0" smtClean="0"/>
          </a:p>
          <a:p>
            <a:pPr algn="just" fontAlgn="base"/>
            <a:r>
              <a:rPr lang="en-US" sz="2400" b="1" dirty="0" smtClean="0"/>
              <a:t>sequence </a:t>
            </a:r>
            <a:r>
              <a:rPr lang="en-US" sz="2400" dirty="0" smtClean="0"/>
              <a:t>is a shortcut name given for the </a:t>
            </a:r>
            <a:r>
              <a:rPr lang="en-US" sz="2400" b="1" dirty="0" err="1" smtClean="0"/>
              <a:t>SequenceGenerator</a:t>
            </a:r>
            <a:r>
              <a:rPr lang="en-US" sz="2400" b="1" dirty="0" smtClean="0"/>
              <a:t> </a:t>
            </a:r>
            <a:r>
              <a:rPr lang="en-US" sz="2400" dirty="0" smtClean="0"/>
              <a:t>class. </a:t>
            </a:r>
          </a:p>
          <a:p>
            <a:pPr algn="just" fontAlgn="base"/>
            <a:endParaRPr lang="en-US" sz="2400" dirty="0" smtClean="0"/>
          </a:p>
          <a:p>
            <a:pPr algn="just" fontAlgn="base"/>
            <a:r>
              <a:rPr lang="en-US" sz="2400" dirty="0" smtClean="0"/>
              <a:t>It reads the next value of a database sequence and then returns that value as </a:t>
            </a:r>
            <a:r>
              <a:rPr lang="en-US" sz="2400" b="1" dirty="0" smtClean="0"/>
              <a:t>id </a:t>
            </a:r>
            <a:r>
              <a:rPr lang="en-US" sz="2400" dirty="0" smtClean="0"/>
              <a:t>to the hibernate.</a:t>
            </a:r>
          </a:p>
          <a:p>
            <a:pPr algn="just" fontAlgn="base"/>
            <a:r>
              <a:rPr lang="en-US" sz="2400" b="1" dirty="0" smtClean="0"/>
              <a:t>Syntax to create a sequence in the database:</a:t>
            </a:r>
          </a:p>
          <a:p>
            <a:pPr algn="just" fontAlgn="base"/>
            <a:endParaRPr lang="en-US" sz="2400" b="1" dirty="0" smtClean="0"/>
          </a:p>
          <a:p>
            <a:pPr algn="just" fontAlgn="base"/>
            <a:r>
              <a:rPr lang="en-US" sz="2400" i="1" dirty="0" smtClean="0"/>
              <a:t>create sequence &lt;</a:t>
            </a:r>
            <a:r>
              <a:rPr lang="en-US" sz="2400" i="1" dirty="0" err="1" smtClean="0"/>
              <a:t>sequence_name</a:t>
            </a:r>
            <a:r>
              <a:rPr lang="en-US" sz="2400" i="1" dirty="0" smtClean="0"/>
              <a:t>&gt; start with &lt;</a:t>
            </a:r>
            <a:r>
              <a:rPr lang="en-US" sz="2400" i="1" dirty="0" err="1" smtClean="0"/>
              <a:t>random_number</a:t>
            </a:r>
            <a:r>
              <a:rPr lang="en-US" sz="2400" i="1" dirty="0" smtClean="0"/>
              <a:t>&gt; increment by &lt;</a:t>
            </a:r>
            <a:r>
              <a:rPr lang="en-US" sz="2400" i="1" dirty="0" err="1" smtClean="0"/>
              <a:t>random_number</a:t>
            </a:r>
            <a:r>
              <a:rPr lang="en-US" sz="2400" i="1" dirty="0" smtClean="0"/>
              <a:t>&gt;</a:t>
            </a:r>
            <a:endParaRPr lang="en-US" sz="2400" dirty="0"/>
          </a:p>
        </p:txBody>
      </p:sp>
      <p:cxnSp>
        <p:nvCxnSpPr>
          <p:cNvPr id="53" name="Google Shape;53;p3"/>
          <p:cNvCxnSpPr/>
          <p:nvPr/>
        </p:nvCxnSpPr>
        <p:spPr>
          <a:xfrm>
            <a:off x="7950" y="868825"/>
            <a:ext cx="9186600" cy="0"/>
          </a:xfrm>
          <a:prstGeom prst="straightConnector1">
            <a:avLst/>
          </a:prstGeom>
          <a:noFill/>
          <a:ln w="38100" cap="flat" cmpd="sng">
            <a:solidFill>
              <a:srgbClr val="1F487C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"/>
          <p:cNvSpPr/>
          <p:nvPr/>
        </p:nvSpPr>
        <p:spPr>
          <a:xfrm>
            <a:off x="354577" y="1023576"/>
            <a:ext cx="5740289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dirty="0" smtClean="0">
                <a:solidFill>
                  <a:schemeClr val="dk2"/>
                </a:solidFill>
                <a:latin typeface="Calibri"/>
                <a:cs typeface="Calibri"/>
                <a:sym typeface="Calibri"/>
              </a:rPr>
              <a:t>Generator Class</a:t>
            </a:r>
          </a:p>
        </p:txBody>
      </p:sp>
      <p:sp>
        <p:nvSpPr>
          <p:cNvPr id="52" name="Google Shape;52;p3"/>
          <p:cNvSpPr/>
          <p:nvPr/>
        </p:nvSpPr>
        <p:spPr>
          <a:xfrm>
            <a:off x="383250" y="1626295"/>
            <a:ext cx="8533200" cy="4524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just" fontAlgn="base"/>
            <a:r>
              <a:rPr lang="en-US" sz="2400" b="1" dirty="0" smtClean="0"/>
              <a:t>7. sequence generator</a:t>
            </a:r>
            <a:endParaRPr lang="en-US" sz="2400" dirty="0" smtClean="0"/>
          </a:p>
          <a:p>
            <a:pPr algn="just" fontAlgn="base"/>
            <a:endParaRPr lang="en-US" sz="2400" b="1" dirty="0" smtClean="0"/>
          </a:p>
          <a:p>
            <a:pPr fontAlgn="base"/>
            <a:r>
              <a:rPr lang="en-US" sz="2400" i="1" dirty="0" smtClean="0"/>
              <a:t>&lt;hibernate-mapping&gt;  </a:t>
            </a:r>
          </a:p>
          <a:p>
            <a:pPr fontAlgn="base"/>
            <a:r>
              <a:rPr lang="en-US" sz="2400" i="1" dirty="0" smtClean="0"/>
              <a:t>   &lt;class …&gt;  </a:t>
            </a:r>
          </a:p>
          <a:p>
            <a:pPr fontAlgn="base"/>
            <a:r>
              <a:rPr lang="en-US" sz="2400" i="1" dirty="0" smtClean="0"/>
              <a:t>            &lt;id name=”</a:t>
            </a:r>
            <a:r>
              <a:rPr lang="en-US" sz="2400" i="1" dirty="0" err="1" smtClean="0"/>
              <a:t>studentId</a:t>
            </a:r>
            <a:r>
              <a:rPr lang="en-US" sz="2400" i="1" dirty="0" smtClean="0"/>
              <a:t>” column=”</a:t>
            </a:r>
            <a:r>
              <a:rPr lang="en-US" sz="2400" i="1" dirty="0" err="1" smtClean="0"/>
              <a:t>sid</a:t>
            </a:r>
            <a:r>
              <a:rPr lang="en-US" sz="2400" i="1" dirty="0" smtClean="0"/>
              <a:t>”&gt;  </a:t>
            </a:r>
          </a:p>
          <a:p>
            <a:pPr fontAlgn="base"/>
            <a:r>
              <a:rPr lang="en-US" sz="2400" i="1" dirty="0" smtClean="0"/>
              <a:t>                   &lt;generator class=”sequence”&gt;</a:t>
            </a:r>
          </a:p>
          <a:p>
            <a:pPr fontAlgn="base"/>
            <a:r>
              <a:rPr lang="en-US" sz="2400" i="1" dirty="0" smtClean="0"/>
              <a:t>                          &lt;</a:t>
            </a:r>
            <a:r>
              <a:rPr lang="en-US" sz="2400" i="1" dirty="0" err="1" smtClean="0"/>
              <a:t>param</a:t>
            </a:r>
            <a:r>
              <a:rPr lang="en-US" sz="2400" i="1" dirty="0" smtClean="0"/>
              <a:t> name=”sequence”&gt;</a:t>
            </a:r>
            <a:r>
              <a:rPr lang="en-US" sz="2400" i="1" dirty="0" err="1" smtClean="0"/>
              <a:t>sequential_datasource</a:t>
            </a:r>
            <a:r>
              <a:rPr lang="en-US" sz="2400" i="1" dirty="0" smtClean="0"/>
              <a:t>&lt;/</a:t>
            </a:r>
            <a:r>
              <a:rPr lang="en-US" sz="2400" i="1" dirty="0" err="1" smtClean="0"/>
              <a:t>param</a:t>
            </a:r>
            <a:r>
              <a:rPr lang="en-US" sz="2400" i="1" dirty="0" smtClean="0"/>
              <a:t>&gt;</a:t>
            </a:r>
          </a:p>
          <a:p>
            <a:pPr fontAlgn="base"/>
            <a:r>
              <a:rPr lang="en-US" sz="2400" i="1" dirty="0" smtClean="0"/>
              <a:t>                   &lt;/generator&gt;</a:t>
            </a:r>
          </a:p>
          <a:p>
            <a:pPr fontAlgn="base"/>
            <a:r>
              <a:rPr lang="en-US" sz="2400" i="1" dirty="0" smtClean="0"/>
              <a:t>           &lt;/id&gt;  </a:t>
            </a:r>
          </a:p>
          <a:p>
            <a:pPr fontAlgn="base"/>
            <a:r>
              <a:rPr lang="en-US" sz="2400" i="1" dirty="0" smtClean="0"/>
              <a:t>   &lt;/class&gt;  </a:t>
            </a:r>
          </a:p>
          <a:p>
            <a:pPr fontAlgn="base"/>
            <a:r>
              <a:rPr lang="en-US" sz="2400" i="1" dirty="0" smtClean="0"/>
              <a:t>&lt;/hibernate-mapping&gt;  </a:t>
            </a:r>
            <a:endParaRPr lang="en-US" sz="2400" i="1" dirty="0"/>
          </a:p>
        </p:txBody>
      </p:sp>
      <p:cxnSp>
        <p:nvCxnSpPr>
          <p:cNvPr id="53" name="Google Shape;53;p3"/>
          <p:cNvCxnSpPr/>
          <p:nvPr/>
        </p:nvCxnSpPr>
        <p:spPr>
          <a:xfrm>
            <a:off x="7950" y="868825"/>
            <a:ext cx="9186600" cy="0"/>
          </a:xfrm>
          <a:prstGeom prst="straightConnector1">
            <a:avLst/>
          </a:prstGeom>
          <a:noFill/>
          <a:ln w="38100" cap="flat" cmpd="sng">
            <a:solidFill>
              <a:srgbClr val="1F487C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"/>
          <p:cNvSpPr/>
          <p:nvPr/>
        </p:nvSpPr>
        <p:spPr>
          <a:xfrm>
            <a:off x="354577" y="1023576"/>
            <a:ext cx="5740289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dirty="0" smtClean="0">
                <a:solidFill>
                  <a:schemeClr val="dk2"/>
                </a:solidFill>
                <a:latin typeface="Calibri"/>
                <a:cs typeface="Calibri"/>
                <a:sym typeface="Calibri"/>
              </a:rPr>
              <a:t>Generator Class</a:t>
            </a:r>
          </a:p>
        </p:txBody>
      </p:sp>
      <p:sp>
        <p:nvSpPr>
          <p:cNvPr id="52" name="Google Shape;52;p3"/>
          <p:cNvSpPr/>
          <p:nvPr/>
        </p:nvSpPr>
        <p:spPr>
          <a:xfrm>
            <a:off x="383250" y="1626295"/>
            <a:ext cx="8533200" cy="30469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fontAlgn="base"/>
            <a:r>
              <a:rPr lang="en-US" sz="2400" b="1" dirty="0" smtClean="0"/>
              <a:t>8. </a:t>
            </a:r>
            <a:r>
              <a:rPr lang="en-US" sz="2400" b="1" dirty="0" err="1" smtClean="0"/>
              <a:t>uuid</a:t>
            </a:r>
            <a:r>
              <a:rPr lang="en-US" sz="2400" b="1" dirty="0" smtClean="0"/>
              <a:t> generator</a:t>
            </a:r>
            <a:endParaRPr lang="en-US" sz="2400" dirty="0" smtClean="0"/>
          </a:p>
          <a:p>
            <a:pPr algn="just" fontAlgn="base"/>
            <a:endParaRPr lang="en-US" sz="2400" b="1" dirty="0" smtClean="0"/>
          </a:p>
          <a:p>
            <a:pPr algn="just" fontAlgn="base"/>
            <a:r>
              <a:rPr lang="en-US" sz="2400" b="1" dirty="0" err="1" smtClean="0"/>
              <a:t>uuid</a:t>
            </a:r>
            <a:r>
              <a:rPr lang="en-US" sz="2400" b="1" dirty="0" smtClean="0"/>
              <a:t> </a:t>
            </a:r>
            <a:r>
              <a:rPr lang="en-US" sz="2400" dirty="0" smtClean="0"/>
              <a:t>is a shortcut name given for the </a:t>
            </a:r>
            <a:r>
              <a:rPr lang="en-US" sz="2400" b="1" dirty="0" err="1" smtClean="0"/>
              <a:t>AbstractUUIDGenerator</a:t>
            </a:r>
            <a:r>
              <a:rPr lang="en-US" sz="2400" dirty="0" smtClean="0"/>
              <a:t> class. </a:t>
            </a:r>
          </a:p>
          <a:p>
            <a:pPr algn="just" fontAlgn="base"/>
            <a:endParaRPr lang="en-US" sz="2400" dirty="0" smtClean="0"/>
          </a:p>
          <a:p>
            <a:pPr algn="just" fontAlgn="base"/>
            <a:r>
              <a:rPr lang="en-US" sz="2400" dirty="0" smtClean="0"/>
              <a:t>It generates a unique string Identifier and returns to hibernate based on the </a:t>
            </a:r>
            <a:r>
              <a:rPr lang="en-US" sz="2400" b="1" dirty="0" smtClean="0"/>
              <a:t>IP Address of the machine</a:t>
            </a:r>
            <a:r>
              <a:rPr lang="en-US" sz="2400" dirty="0" smtClean="0"/>
              <a:t>, </a:t>
            </a:r>
            <a:r>
              <a:rPr lang="en-US" sz="2400" b="1" dirty="0" smtClean="0"/>
              <a:t>Start-up time of JVM,</a:t>
            </a:r>
            <a:r>
              <a:rPr lang="en-US" sz="2400" dirty="0" smtClean="0"/>
              <a:t> </a:t>
            </a:r>
            <a:r>
              <a:rPr lang="en-US" sz="2400" b="1" dirty="0" smtClean="0"/>
              <a:t>System time</a:t>
            </a:r>
            <a:r>
              <a:rPr lang="en-US" sz="2400" dirty="0" smtClean="0"/>
              <a:t>, and </a:t>
            </a:r>
            <a:r>
              <a:rPr lang="en-US" sz="2400" b="1" dirty="0" smtClean="0"/>
              <a:t>Counter value in JVM. </a:t>
            </a:r>
            <a:endParaRPr lang="en-US" sz="2400" dirty="0"/>
          </a:p>
        </p:txBody>
      </p:sp>
      <p:cxnSp>
        <p:nvCxnSpPr>
          <p:cNvPr id="53" name="Google Shape;53;p3"/>
          <p:cNvCxnSpPr/>
          <p:nvPr/>
        </p:nvCxnSpPr>
        <p:spPr>
          <a:xfrm>
            <a:off x="7950" y="868825"/>
            <a:ext cx="9186600" cy="0"/>
          </a:xfrm>
          <a:prstGeom prst="straightConnector1">
            <a:avLst/>
          </a:prstGeom>
          <a:noFill/>
          <a:ln w="38100" cap="flat" cmpd="sng">
            <a:solidFill>
              <a:srgbClr val="1F487C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"/>
          <p:cNvSpPr/>
          <p:nvPr/>
        </p:nvSpPr>
        <p:spPr>
          <a:xfrm>
            <a:off x="354577" y="1023576"/>
            <a:ext cx="5740289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dirty="0" smtClean="0">
                <a:solidFill>
                  <a:schemeClr val="dk2"/>
                </a:solidFill>
                <a:latin typeface="Calibri"/>
                <a:cs typeface="Calibri"/>
                <a:sym typeface="Calibri"/>
              </a:rPr>
              <a:t>Generator Class</a:t>
            </a:r>
          </a:p>
        </p:txBody>
      </p:sp>
      <p:sp>
        <p:nvSpPr>
          <p:cNvPr id="52" name="Google Shape;52;p3"/>
          <p:cNvSpPr/>
          <p:nvPr/>
        </p:nvSpPr>
        <p:spPr>
          <a:xfrm>
            <a:off x="383250" y="1626295"/>
            <a:ext cx="8533200" cy="3416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fontAlgn="base"/>
            <a:r>
              <a:rPr lang="en-US" sz="2400" b="1" dirty="0" smtClean="0"/>
              <a:t>8. </a:t>
            </a:r>
            <a:r>
              <a:rPr lang="en-US" sz="2400" b="1" dirty="0" err="1" smtClean="0"/>
              <a:t>uuid</a:t>
            </a:r>
            <a:r>
              <a:rPr lang="en-US" sz="2400" b="1" dirty="0" smtClean="0"/>
              <a:t> generator</a:t>
            </a:r>
            <a:endParaRPr lang="en-US" sz="2400" dirty="0" smtClean="0"/>
          </a:p>
          <a:p>
            <a:pPr algn="just" fontAlgn="base"/>
            <a:endParaRPr lang="en-US" sz="2400" b="1" dirty="0" smtClean="0"/>
          </a:p>
          <a:p>
            <a:pPr fontAlgn="base"/>
            <a:r>
              <a:rPr lang="en-US" sz="2400" i="1" dirty="0" smtClean="0"/>
              <a:t>&lt;hibernate-mapping&gt;  </a:t>
            </a:r>
          </a:p>
          <a:p>
            <a:pPr fontAlgn="base"/>
            <a:r>
              <a:rPr lang="en-US" sz="2400" i="1" dirty="0" smtClean="0"/>
              <a:t>  &lt;class …&gt;  </a:t>
            </a:r>
          </a:p>
          <a:p>
            <a:pPr fontAlgn="base"/>
            <a:r>
              <a:rPr lang="en-US" sz="2400" i="1" dirty="0" smtClean="0"/>
              <a:t>           &lt;id name=”</a:t>
            </a:r>
            <a:r>
              <a:rPr lang="en-US" sz="2400" i="1" dirty="0" err="1" smtClean="0"/>
              <a:t>studentId</a:t>
            </a:r>
            <a:r>
              <a:rPr lang="en-US" sz="2400" i="1" dirty="0" smtClean="0"/>
              <a:t>” column=”</a:t>
            </a:r>
            <a:r>
              <a:rPr lang="en-US" sz="2400" i="1" dirty="0" err="1" smtClean="0"/>
              <a:t>sid</a:t>
            </a:r>
            <a:r>
              <a:rPr lang="en-US" sz="2400" i="1" dirty="0" smtClean="0"/>
              <a:t>”&gt;  </a:t>
            </a:r>
          </a:p>
          <a:p>
            <a:pPr fontAlgn="base"/>
            <a:r>
              <a:rPr lang="en-US" sz="2400" i="1" dirty="0" smtClean="0"/>
              <a:t>                  &lt;generator class=”</a:t>
            </a:r>
            <a:r>
              <a:rPr lang="en-US" sz="2400" i="1" dirty="0" err="1" smtClean="0"/>
              <a:t>uuid</a:t>
            </a:r>
            <a:r>
              <a:rPr lang="en-US" sz="2400" i="1" dirty="0" smtClean="0"/>
              <a:t>”&gt;     &lt;/generator&gt;</a:t>
            </a:r>
          </a:p>
          <a:p>
            <a:pPr fontAlgn="base"/>
            <a:r>
              <a:rPr lang="en-US" sz="2400" i="1" dirty="0" smtClean="0"/>
              <a:t>          &lt;/id&gt;  </a:t>
            </a:r>
          </a:p>
          <a:p>
            <a:pPr fontAlgn="base"/>
            <a:r>
              <a:rPr lang="en-US" sz="2400" i="1" dirty="0" smtClean="0"/>
              <a:t>  &lt;/class&gt;  </a:t>
            </a:r>
          </a:p>
          <a:p>
            <a:pPr fontAlgn="base"/>
            <a:r>
              <a:rPr lang="en-US" sz="2400" i="1" dirty="0" smtClean="0"/>
              <a:t>&lt;/hibernate-mapping&gt;  </a:t>
            </a:r>
            <a:endParaRPr lang="en-US" sz="2400" i="1" dirty="0"/>
          </a:p>
        </p:txBody>
      </p:sp>
      <p:cxnSp>
        <p:nvCxnSpPr>
          <p:cNvPr id="53" name="Google Shape;53;p3"/>
          <p:cNvCxnSpPr/>
          <p:nvPr/>
        </p:nvCxnSpPr>
        <p:spPr>
          <a:xfrm>
            <a:off x="7950" y="868825"/>
            <a:ext cx="9186600" cy="0"/>
          </a:xfrm>
          <a:prstGeom prst="straightConnector1">
            <a:avLst/>
          </a:prstGeom>
          <a:noFill/>
          <a:ln w="38100" cap="flat" cmpd="sng">
            <a:solidFill>
              <a:srgbClr val="1F487C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264a707208_0_9"/>
          <p:cNvSpPr/>
          <p:nvPr/>
        </p:nvSpPr>
        <p:spPr>
          <a:xfrm>
            <a:off x="354577" y="1023576"/>
            <a:ext cx="5740200" cy="5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PPT Content Resources Reference Sample: </a:t>
            </a:r>
            <a:endParaRPr sz="2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6" name="Google Shape;86;g3264a707208_0_9"/>
          <p:cNvCxnSpPr/>
          <p:nvPr/>
        </p:nvCxnSpPr>
        <p:spPr>
          <a:xfrm rot="10800000" flipH="1">
            <a:off x="-8250" y="794900"/>
            <a:ext cx="9160500" cy="47100"/>
          </a:xfrm>
          <a:prstGeom prst="straightConnector1">
            <a:avLst/>
          </a:prstGeom>
          <a:noFill/>
          <a:ln w="38100" cap="flat" cmpd="sng">
            <a:solidFill>
              <a:srgbClr val="1F487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7" name="Google Shape;87;g3264a707208_0_9"/>
          <p:cNvSpPr/>
          <p:nvPr/>
        </p:nvSpPr>
        <p:spPr>
          <a:xfrm>
            <a:off x="383250" y="1789925"/>
            <a:ext cx="8395500" cy="4527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indent="-304800">
              <a:lnSpc>
                <a:spcPct val="150000"/>
              </a:lnSpc>
              <a:buClr>
                <a:schemeClr val="dk1"/>
              </a:buClr>
              <a:buSzPts val="1200"/>
              <a:buFont typeface="Arial"/>
              <a:buAutoNum type="arabicPeriod"/>
            </a:pPr>
            <a:r>
              <a:rPr lang="en-US" sz="1200" b="1" dirty="0" smtClean="0">
                <a:solidFill>
                  <a:srgbClr val="FF0000"/>
                </a:solidFill>
              </a:rPr>
              <a:t>Book Reference</a:t>
            </a:r>
            <a:br>
              <a:rPr lang="en-US" sz="1200" b="1" dirty="0" smtClean="0">
                <a:solidFill>
                  <a:srgbClr val="FF0000"/>
                </a:solidFill>
              </a:rPr>
            </a:br>
            <a:r>
              <a:rPr lang="en-US" sz="1200" dirty="0" smtClean="0">
                <a:solidFill>
                  <a:srgbClr val="FF0000"/>
                </a:solidFill>
              </a:rPr>
              <a:t>Jim Farley, William Crawford, David Flanagan. Java Enterprise in a Nutshell, O'Reilly</a:t>
            </a:r>
          </a:p>
          <a:p>
            <a:pPr marL="457200" lvl="0" indent="-304800">
              <a:lnSpc>
                <a:spcPct val="150000"/>
              </a:lnSpc>
              <a:buClr>
                <a:schemeClr val="dk1"/>
              </a:buClr>
              <a:buSzPts val="1200"/>
              <a:buFont typeface="Arial"/>
              <a:buAutoNum type="arabicPeriod"/>
            </a:pPr>
            <a:r>
              <a:rPr lang="en-US" sz="1200" b="1" dirty="0" smtClean="0">
                <a:solidFill>
                  <a:srgbClr val="FF0000"/>
                </a:solidFill>
              </a:rPr>
              <a:t>Book Reference</a:t>
            </a:r>
          </a:p>
          <a:p>
            <a:pPr marL="457200" lvl="0">
              <a:lnSpc>
                <a:spcPct val="150000"/>
              </a:lnSpc>
              <a:buSzPts val="1200"/>
            </a:pPr>
            <a:r>
              <a:rPr lang="en-US" sz="1200" dirty="0" smtClean="0">
                <a:solidFill>
                  <a:srgbClr val="FF0000"/>
                </a:solidFill>
              </a:rPr>
              <a:t>Rocha, R., </a:t>
            </a:r>
            <a:r>
              <a:rPr lang="en-US" sz="1200" dirty="0" err="1" smtClean="0">
                <a:solidFill>
                  <a:srgbClr val="FF0000"/>
                </a:solidFill>
              </a:rPr>
              <a:t>Purificação</a:t>
            </a:r>
            <a:r>
              <a:rPr lang="en-US" sz="1200" dirty="0" smtClean="0">
                <a:solidFill>
                  <a:srgbClr val="FF0000"/>
                </a:solidFill>
              </a:rPr>
              <a:t>, J. (2018). Java EE 8 Design Patterns and Best Practices: Build Enterprise-ready Scalable Applications with Architectural Design Patterns. Germany: </a:t>
            </a:r>
            <a:r>
              <a:rPr lang="en-US" sz="1200" dirty="0" err="1" smtClean="0">
                <a:solidFill>
                  <a:srgbClr val="FF0000"/>
                </a:solidFill>
              </a:rPr>
              <a:t>Packt</a:t>
            </a:r>
            <a:r>
              <a:rPr lang="en-US" sz="1200" dirty="0" smtClean="0">
                <a:solidFill>
                  <a:srgbClr val="FF0000"/>
                </a:solidFill>
              </a:rPr>
              <a:t> Publishing..</a:t>
            </a:r>
            <a:endParaRPr lang="en-US" sz="1200" b="1" dirty="0" smtClean="0">
              <a:solidFill>
                <a:srgbClr val="FF0000"/>
              </a:solidFill>
            </a:endParaRPr>
          </a:p>
          <a:p>
            <a:pPr marL="457200" lvl="0" indent="-304800">
              <a:lnSpc>
                <a:spcPct val="150000"/>
              </a:lnSpc>
              <a:buClr>
                <a:schemeClr val="dk1"/>
              </a:buClr>
              <a:buSzPts val="1200"/>
              <a:buFont typeface="+mj-lt"/>
              <a:buAutoNum type="arabicPeriod" startAt="3"/>
            </a:pPr>
            <a:r>
              <a:rPr lang="en-US" sz="1200" b="1" dirty="0" smtClean="0">
                <a:solidFill>
                  <a:srgbClr val="FF0000"/>
                </a:solidFill>
              </a:rPr>
              <a:t>Website Reference</a:t>
            </a:r>
          </a:p>
          <a:p>
            <a:pPr marL="457200" lvl="0">
              <a:lnSpc>
                <a:spcPct val="150000"/>
              </a:lnSpc>
              <a:buSzPts val="1200"/>
            </a:pPr>
            <a:r>
              <a:rPr lang="en-US" sz="1200" dirty="0" smtClean="0">
                <a:solidFill>
                  <a:srgbClr val="FF0000"/>
                </a:solidFill>
              </a:rPr>
              <a:t>https://www.scribd.com/document/268349254/Java-8-Programming-Black-Book .</a:t>
            </a:r>
          </a:p>
          <a:p>
            <a:pPr marL="457200" lvl="0" indent="-304800">
              <a:lnSpc>
                <a:spcPct val="150000"/>
              </a:lnSpc>
              <a:buClr>
                <a:schemeClr val="dk1"/>
              </a:buClr>
              <a:buSzPts val="1200"/>
              <a:buFont typeface="Arial"/>
              <a:buAutoNum type="arabicPeriod" startAt="4"/>
            </a:pPr>
            <a:r>
              <a:rPr lang="en-US" sz="1200" b="1" dirty="0" smtClean="0">
                <a:solidFill>
                  <a:srgbClr val="FF0000"/>
                </a:solidFill>
              </a:rPr>
              <a:t>Sources</a:t>
            </a:r>
          </a:p>
          <a:p>
            <a:pPr marL="452438" lvl="2">
              <a:lnSpc>
                <a:spcPct val="150000"/>
              </a:lnSpc>
              <a:buClr>
                <a:schemeClr val="dk1"/>
              </a:buClr>
              <a:buSzPts val="1200"/>
            </a:pPr>
            <a:r>
              <a:rPr lang="en-US" sz="1200" dirty="0" smtClean="0">
                <a:solidFill>
                  <a:srgbClr val="FF0000"/>
                </a:solidFill>
              </a:rPr>
              <a:t>https://developers.redhat.com/topics/enterprise-java</a:t>
            </a:r>
            <a:endParaRPr lang="en-US" sz="1200" b="1" dirty="0" smtClean="0">
              <a:solidFill>
                <a:srgbClr val="FF0000"/>
              </a:solidFill>
            </a:endParaRPr>
          </a:p>
          <a:p>
            <a:pPr marL="457200" lvl="0" indent="-304800">
              <a:lnSpc>
                <a:spcPct val="150000"/>
              </a:lnSpc>
              <a:buClr>
                <a:schemeClr val="dk1"/>
              </a:buClr>
              <a:buSzPts val="1200"/>
              <a:buFont typeface="Arial"/>
              <a:buAutoNum type="arabicPeriod" startAt="4"/>
            </a:pPr>
            <a:r>
              <a:rPr lang="en-US" sz="1200" b="1" dirty="0" smtClean="0">
                <a:solidFill>
                  <a:srgbClr val="FF0000"/>
                </a:solidFill>
              </a:rPr>
              <a:t>Article</a:t>
            </a:r>
            <a:endParaRPr lang="en-US" sz="1200" dirty="0" smtClean="0">
              <a:solidFill>
                <a:srgbClr val="FF0000"/>
              </a:solidFill>
            </a:endParaRPr>
          </a:p>
          <a:p>
            <a:pPr marL="452438" lvl="0">
              <a:lnSpc>
                <a:spcPct val="150000"/>
              </a:lnSpc>
              <a:buClr>
                <a:schemeClr val="dk1"/>
              </a:buClr>
              <a:buSzPts val="1200"/>
            </a:pPr>
            <a:r>
              <a:rPr lang="en-US" sz="1200" smtClean="0">
                <a:solidFill>
                  <a:srgbClr val="FF0000"/>
                </a:solidFill>
              </a:rPr>
              <a:t>https://www.researchgate.net/publication/276412369_Advanced_Java_Programming</a:t>
            </a:r>
          </a:p>
          <a:p>
            <a:pPr marL="457200" lvl="0">
              <a:lnSpc>
                <a:spcPct val="150000"/>
              </a:lnSpc>
              <a:buSzPts val="1200"/>
            </a:pPr>
            <a:endParaRPr lang="en-US" sz="1200" dirty="0" smtClean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514</TotalTime>
  <Words>164</Words>
  <Application>Microsoft Office PowerPoint</Application>
  <PresentationFormat>On-screen Show (4:3)</PresentationFormat>
  <Paragraphs>181</Paragraphs>
  <Slides>22</Slides>
  <Notes>22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3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Administrator</dc:creator>
  <cp:lastModifiedBy>key</cp:lastModifiedBy>
  <cp:revision>153</cp:revision>
  <dcterms:created xsi:type="dcterms:W3CDTF">2024-12-13T07:18:04Z</dcterms:created>
  <dcterms:modified xsi:type="dcterms:W3CDTF">2025-05-17T05:25:49Z</dcterms:modified>
</cp:coreProperties>
</file>