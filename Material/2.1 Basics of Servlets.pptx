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6"/>
  </p:notesMasterIdLst>
  <p:sldIdLst>
    <p:sldId id="256" r:id="rId2"/>
    <p:sldId id="257" r:id="rId3"/>
    <p:sldId id="258" r:id="rId4"/>
    <p:sldId id="288" r:id="rId5"/>
    <p:sldId id="289" r:id="rId6"/>
    <p:sldId id="264" r:id="rId7"/>
    <p:sldId id="290" r:id="rId8"/>
    <p:sldId id="291" r:id="rId9"/>
    <p:sldId id="292" r:id="rId10"/>
    <p:sldId id="295" r:id="rId11"/>
    <p:sldId id="294" r:id="rId12"/>
    <p:sldId id="293" r:id="rId13"/>
    <p:sldId id="296" r:id="rId14"/>
    <p:sldId id="297" r:id="rId15"/>
    <p:sldId id="298" r:id="rId16"/>
    <p:sldId id="299" r:id="rId17"/>
    <p:sldId id="300" r:id="rId18"/>
    <p:sldId id="301" r:id="rId19"/>
    <p:sldId id="302" r:id="rId20"/>
    <p:sldId id="303" r:id="rId21"/>
    <p:sldId id="305" r:id="rId22"/>
    <p:sldId id="304"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4" r:id="rId50"/>
    <p:sldId id="332" r:id="rId51"/>
    <p:sldId id="333" r:id="rId52"/>
    <p:sldId id="335" r:id="rId53"/>
    <p:sldId id="262" r:id="rId54"/>
    <p:sldId id="263" r:id="rId5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66" d="100"/>
          <a:sy n="66" d="100"/>
        </p:scale>
        <p:origin x="-1204" y="12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Chapter-2: </a:t>
            </a:r>
            <a:r>
              <a:rPr lang="en-US" sz="3000" b="1" dirty="0" err="1" smtClean="0">
                <a:solidFill>
                  <a:srgbClr val="FFFFFF"/>
                </a:solidFill>
                <a:latin typeface="Calibri"/>
                <a:ea typeface="Calibri"/>
                <a:cs typeface="Calibri"/>
                <a:sym typeface="Calibri"/>
              </a:rPr>
              <a:t>Servlets</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169511"/>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solidFill>
                  <a:schemeClr val="dk1"/>
                </a:solidFill>
                <a:latin typeface="Calibri"/>
                <a:ea typeface="Calibri"/>
                <a:cs typeface="Calibri"/>
                <a:sym typeface="Calibri"/>
              </a:rPr>
              <a:t>Basics of Web</a:t>
            </a:r>
            <a:r>
              <a:rPr lang="en-US" sz="2200" dirty="0" smtClean="0">
                <a:solidFill>
                  <a:schemeClr val="dk1"/>
                </a:solidFill>
                <a:latin typeface="Calibri"/>
                <a:ea typeface="Calibri"/>
                <a:cs typeface="Calibri"/>
                <a:sym typeface="Calibri"/>
              </a:rPr>
              <a:t>………………………………….…………</a:t>
            </a:r>
            <a:r>
              <a:rPr lang="en-US" sz="2200" b="0" i="0" u="none" strike="noStrike" cap="none" dirty="0" smtClean="0">
                <a:solidFill>
                  <a:schemeClr val="dk1"/>
                </a:solidFill>
                <a:latin typeface="Calibri"/>
                <a:ea typeface="Calibri"/>
                <a:cs typeface="Calibri"/>
                <a:sym typeface="Calibri"/>
              </a:rPr>
              <a:t>3</a:t>
            </a:r>
            <a:endParaRPr sz="2200" b="0" i="0" u="none" strike="noStrike" cap="none" dirty="0">
              <a:solidFill>
                <a:schemeClr val="dk1"/>
              </a:solidFill>
              <a:latin typeface="Calibri"/>
              <a:ea typeface="Calibri"/>
              <a:cs typeface="Calibri"/>
              <a:sym typeface="Calibri"/>
            </a:endParaRPr>
          </a:p>
          <a:p>
            <a:pPr marL="457200" lvl="0" indent="-368300">
              <a:buClr>
                <a:schemeClr val="dk1"/>
              </a:buClr>
              <a:buSzPts val="2200"/>
              <a:buFont typeface="Calibri"/>
              <a:buAutoNum type="arabicPeriod"/>
            </a:pPr>
            <a:r>
              <a:rPr lang="en-US" sz="2400" dirty="0" err="1" smtClean="0">
                <a:latin typeface="Calibri" pitchFamily="34" charset="0"/>
                <a:cs typeface="Calibri" pitchFamily="34" charset="0"/>
              </a:rPr>
              <a:t>Servlet</a:t>
            </a:r>
            <a:r>
              <a:rPr lang="en-US" sz="2400" dirty="0" smtClean="0">
                <a:latin typeface="Calibri" pitchFamily="34" charset="0"/>
                <a:cs typeface="Calibri" pitchFamily="34" charset="0"/>
              </a:rPr>
              <a:t> Lifecycle..</a:t>
            </a:r>
            <a:r>
              <a:rPr lang="en-US" sz="2200" b="0" i="0" u="none" strike="noStrike" cap="none" dirty="0" smtClean="0">
                <a:solidFill>
                  <a:schemeClr val="dk1"/>
                </a:solidFill>
                <a:latin typeface="Calibri"/>
                <a:ea typeface="Calibri"/>
                <a:cs typeface="Calibri"/>
                <a:sym typeface="Calibri"/>
              </a:rPr>
              <a:t>……………………….….</a:t>
            </a:r>
            <a:r>
              <a:rPr lang="en-US" sz="2200" dirty="0" smtClean="0">
                <a:solidFill>
                  <a:schemeClr val="dk1"/>
                </a:solidFill>
                <a:latin typeface="Calibri"/>
                <a:ea typeface="Calibri"/>
                <a:cs typeface="Calibri"/>
                <a:sym typeface="Calibri"/>
              </a:rPr>
              <a:t>.</a:t>
            </a:r>
            <a:r>
              <a:rPr lang="en-US" sz="2200" b="0" i="0" u="none" strike="noStrike" cap="none" dirty="0" smtClean="0">
                <a:solidFill>
                  <a:schemeClr val="dk1"/>
                </a:solidFill>
                <a:latin typeface="Calibri"/>
                <a:ea typeface="Calibri"/>
                <a:cs typeface="Calibri"/>
                <a:sym typeface="Calibri"/>
              </a:rPr>
              <a:t>………….5</a:t>
            </a:r>
            <a:endParaRPr sz="2200" b="0" i="0" u="none" strike="noStrike" cap="none" dirty="0">
              <a:solidFill>
                <a:schemeClr val="dk1"/>
              </a:solidFill>
              <a:latin typeface="Calibri"/>
              <a:ea typeface="Calibri"/>
              <a:cs typeface="Calibri"/>
              <a:sym typeface="Calibri"/>
            </a:endParaRPr>
          </a:p>
          <a:p>
            <a:pPr marL="457200" indent="-368300">
              <a:buClr>
                <a:schemeClr val="dk1"/>
              </a:buClr>
              <a:buSzPts val="2200"/>
              <a:buFont typeface="Calibri"/>
              <a:buAutoNum type="arabicPeriod"/>
            </a:pPr>
            <a:r>
              <a:rPr lang="en-US" sz="2200" dirty="0" err="1" smtClean="0">
                <a:solidFill>
                  <a:schemeClr val="dk1"/>
                </a:solidFill>
                <a:latin typeface="Calibri"/>
                <a:ea typeface="Calibri"/>
                <a:cs typeface="Calibri"/>
                <a:sym typeface="Calibri"/>
              </a:rPr>
              <a:t>Servlets</a:t>
            </a:r>
            <a:r>
              <a:rPr lang="en-US" sz="2200" dirty="0" smtClean="0">
                <a:solidFill>
                  <a:schemeClr val="dk1"/>
                </a:solidFill>
                <a:latin typeface="Calibri"/>
                <a:ea typeface="Calibri"/>
                <a:cs typeface="Calibri"/>
                <a:sym typeface="Calibri"/>
              </a:rPr>
              <a:t> </a:t>
            </a:r>
            <a:r>
              <a:rPr lang="en-US" sz="2200" smtClean="0">
                <a:solidFill>
                  <a:schemeClr val="dk1"/>
                </a:solidFill>
                <a:latin typeface="Calibri"/>
                <a:ea typeface="Calibri"/>
                <a:cs typeface="Calibri"/>
                <a:sym typeface="Calibri"/>
              </a:rPr>
              <a:t>API………....…………………….……………….2</a:t>
            </a:r>
            <a:r>
              <a:rPr lang="en-US" sz="2200" b="0" i="0" u="none" strike="noStrike" cap="none" smtClean="0">
                <a:solidFill>
                  <a:schemeClr val="dk1"/>
                </a:solidFill>
                <a:latin typeface="Calibri"/>
                <a:ea typeface="Calibri"/>
                <a:cs typeface="Calibri"/>
                <a:sym typeface="Calibri"/>
              </a:rPr>
              <a:t>6</a:t>
            </a:r>
            <a:endParaRPr sz="2200" b="0" i="0" u="none" strike="noStrike" cap="none" dirty="0">
              <a:solidFill>
                <a:schemeClr val="dk1"/>
              </a:solidFill>
              <a:latin typeface="Calibri"/>
              <a:ea typeface="Calibri"/>
              <a:cs typeface="Calibri"/>
              <a:sym typeface="Calibri"/>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Basics of Web</a:t>
            </a:r>
          </a:p>
        </p:txBody>
      </p:sp>
      <p:sp>
        <p:nvSpPr>
          <p:cNvPr id="52" name="Google Shape;52;p3"/>
          <p:cNvSpPr/>
          <p:nvPr/>
        </p:nvSpPr>
        <p:spPr>
          <a:xfrm>
            <a:off x="383250" y="1789925"/>
            <a:ext cx="8533200" cy="2677616"/>
          </a:xfrm>
          <a:prstGeom prst="rect">
            <a:avLst/>
          </a:prstGeom>
          <a:noFill/>
          <a:ln>
            <a:noFill/>
          </a:ln>
        </p:spPr>
        <p:txBody>
          <a:bodyPr spcFirstLastPara="1" wrap="square" lIns="91425" tIns="45700" rIns="91425" bIns="45700" anchor="t" anchorCtr="0">
            <a:spAutoFit/>
          </a:bodyPr>
          <a:lstStyle/>
          <a:p>
            <a:pPr lvl="0" algn="just">
              <a:buSzPts val="2200"/>
            </a:pPr>
            <a:r>
              <a:rPr lang="en-US" sz="2400" dirty="0" smtClean="0"/>
              <a:t>A Web application is sometimes called a Web app, Thus, it is an application that is accessed using a Web browser over the network such as the Internet or an Intranet. </a:t>
            </a:r>
          </a:p>
          <a:p>
            <a:pPr lvl="0" algn="just">
              <a:buSzPts val="2200"/>
            </a:pPr>
            <a:endParaRPr lang="en-US" sz="2400" dirty="0" smtClean="0"/>
          </a:p>
          <a:p>
            <a:pPr lvl="0" algn="just">
              <a:buSzPts val="2200"/>
            </a:pPr>
            <a:r>
              <a:rPr lang="en-US" sz="2400" dirty="0" smtClean="0"/>
              <a:t>While many of the Web applications are written directly in PHP or Perl, Java remains a commonly used programming language for writing Web applications.</a:t>
            </a:r>
            <a:endParaRPr sz="1800" b="0" i="0" u="none" strike="noStrike" cap="none">
              <a:solidFill>
                <a:schemeClr val="dk1"/>
              </a:solidFill>
              <a:latin typeface="Calibri"/>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err="1" smtClean="0">
                <a:solidFill>
                  <a:schemeClr val="dk2"/>
                </a:solidFill>
                <a:latin typeface="Calibri"/>
                <a:cs typeface="Calibri"/>
                <a:sym typeface="Calibri"/>
              </a:rPr>
              <a:t>Servlets</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789925"/>
            <a:ext cx="8533200" cy="2308284"/>
          </a:xfrm>
          <a:prstGeom prst="rect">
            <a:avLst/>
          </a:prstGeom>
          <a:noFill/>
          <a:ln>
            <a:noFill/>
          </a:ln>
        </p:spPr>
        <p:txBody>
          <a:bodyPr spcFirstLastPara="1" wrap="square" lIns="91425" tIns="45700" rIns="91425" bIns="45700" anchor="t" anchorCtr="0">
            <a:spAutoFit/>
          </a:bodyPr>
          <a:lstStyle/>
          <a:p>
            <a:pPr lvl="0" algn="just">
              <a:buSzPts val="2200"/>
            </a:pPr>
            <a:r>
              <a:rPr lang="en-US" sz="2400" dirty="0" err="1" smtClean="0"/>
              <a:t>Servlets</a:t>
            </a:r>
            <a:r>
              <a:rPr lang="en-US" sz="2400" dirty="0" smtClean="0"/>
              <a:t> are the Java programs that run on the Java-enabled web server or application server. </a:t>
            </a:r>
          </a:p>
          <a:p>
            <a:pPr lvl="0" algn="just">
              <a:buSzPts val="2200"/>
            </a:pPr>
            <a:endParaRPr lang="en-US" sz="2400" dirty="0" smtClean="0"/>
          </a:p>
          <a:p>
            <a:pPr lvl="0" algn="just">
              <a:buSzPts val="2200"/>
            </a:pPr>
            <a:r>
              <a:rPr lang="en-US" sz="2400" dirty="0" smtClean="0"/>
              <a:t>They are used to handle the request obtained from the </a:t>
            </a:r>
            <a:r>
              <a:rPr lang="en-US" sz="2400" dirty="0" err="1" smtClean="0"/>
              <a:t>webserver</a:t>
            </a:r>
            <a:r>
              <a:rPr lang="en-US" sz="2400" dirty="0" smtClean="0"/>
              <a:t>, process the request, produce the response, then send a response back to the </a:t>
            </a:r>
            <a:r>
              <a:rPr lang="en-US" sz="2400" dirty="0" err="1" smtClean="0"/>
              <a:t>webserver</a:t>
            </a:r>
            <a:r>
              <a:rPr lang="en-US" sz="2400" dirty="0" smtClean="0"/>
              <a:t>.</a:t>
            </a:r>
            <a:endParaRPr sz="1800" b="0" i="0" u="none" strike="noStrike" cap="none">
              <a:solidFill>
                <a:schemeClr val="dk1"/>
              </a:solidFill>
              <a:latin typeface="Calibri"/>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endParaRPr lang="en-US" sz="2400" b="1" dirty="0" smtClean="0">
              <a:solidFill>
                <a:schemeClr val="dk2"/>
              </a:solidFill>
              <a:latin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1026" name="Picture 2"/>
          <p:cNvPicPr>
            <a:picLocks noChangeAspect="1" noChangeArrowheads="1"/>
          </p:cNvPicPr>
          <p:nvPr/>
        </p:nvPicPr>
        <p:blipFill>
          <a:blip r:embed="rId3"/>
          <a:srcRect/>
          <a:stretch>
            <a:fillRect/>
          </a:stretch>
        </p:blipFill>
        <p:spPr bwMode="auto">
          <a:xfrm>
            <a:off x="1470864" y="1538930"/>
            <a:ext cx="6181725" cy="458152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endParaRPr lang="en-US" sz="2400" b="1" dirty="0" smtClean="0">
              <a:solidFill>
                <a:schemeClr val="dk2"/>
              </a:solidFill>
              <a:latin typeface="Calibri"/>
              <a:cs typeface="Calibri"/>
              <a:sym typeface="Calibri"/>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algn="just" fontAlgn="base"/>
            <a:r>
              <a:rPr lang="en-US" sz="2400" dirty="0" smtClean="0"/>
              <a:t>The entire life cycle of a </a:t>
            </a:r>
            <a:r>
              <a:rPr lang="en-US" sz="2400" dirty="0" err="1" smtClean="0"/>
              <a:t>Servlet</a:t>
            </a:r>
            <a:r>
              <a:rPr lang="en-US" sz="2400" dirty="0" smtClean="0"/>
              <a:t> is managed by the </a:t>
            </a:r>
            <a:r>
              <a:rPr lang="en-US" sz="2400" dirty="0" err="1" smtClean="0"/>
              <a:t>Servlet</a:t>
            </a:r>
            <a:r>
              <a:rPr lang="en-US" sz="2400" dirty="0" smtClean="0"/>
              <a:t> container, which uses the </a:t>
            </a:r>
            <a:r>
              <a:rPr lang="en-US" sz="2400" b="1" dirty="0" err="1" smtClean="0"/>
              <a:t>jakarta.servlet.Servlet</a:t>
            </a:r>
            <a:r>
              <a:rPr lang="en-US" sz="2400" b="1" dirty="0" smtClean="0"/>
              <a:t> </a:t>
            </a:r>
            <a:r>
              <a:rPr lang="en-US" sz="2400" dirty="0" smtClean="0"/>
              <a:t>interface to understand the </a:t>
            </a:r>
            <a:r>
              <a:rPr lang="en-US" sz="2400" dirty="0" err="1" smtClean="0"/>
              <a:t>Servlet</a:t>
            </a:r>
            <a:r>
              <a:rPr lang="en-US" sz="2400" dirty="0" smtClean="0"/>
              <a:t> object and manage it. So, before creating a </a:t>
            </a:r>
            <a:r>
              <a:rPr lang="en-US" sz="2400" dirty="0" err="1" smtClean="0"/>
              <a:t>Servlet</a:t>
            </a:r>
            <a:r>
              <a:rPr lang="en-US" sz="2400" dirty="0" smtClean="0"/>
              <a:t> object, let’s first understand the life cycle of the </a:t>
            </a:r>
            <a:r>
              <a:rPr lang="en-US" sz="2400" dirty="0" err="1" smtClean="0"/>
              <a:t>Servlet</a:t>
            </a:r>
            <a:r>
              <a:rPr lang="en-US" sz="2400" dirty="0" smtClean="0"/>
              <a:t> object, which is actually understanding how the </a:t>
            </a:r>
            <a:r>
              <a:rPr lang="en-US" sz="2400" dirty="0" err="1" smtClean="0"/>
              <a:t>Servlet</a:t>
            </a:r>
            <a:r>
              <a:rPr lang="en-US" sz="2400" dirty="0" smtClean="0"/>
              <a:t> container manages the </a:t>
            </a:r>
            <a:r>
              <a:rPr lang="en-US" sz="2400" dirty="0" err="1" smtClean="0"/>
              <a:t>Servlet</a:t>
            </a:r>
            <a:r>
              <a:rPr lang="en-US" sz="2400" dirty="0" smtClean="0"/>
              <a:t> object.</a:t>
            </a:r>
          </a:p>
          <a:p>
            <a:pPr algn="just" fontAlgn="base">
              <a:buFont typeface="+mj-lt"/>
              <a:buAutoNum type="arabicPeriod"/>
            </a:pP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endParaRPr lang="en-US" sz="2400" b="1" dirty="0" smtClean="0">
              <a:solidFill>
                <a:schemeClr val="dk2"/>
              </a:solidFill>
              <a:latin typeface="Calibri"/>
              <a:cs typeface="Calibri"/>
              <a:sym typeface="Calibri"/>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marL="457200" indent="-457200" fontAlgn="base">
              <a:buAutoNum type="arabicPeriod"/>
            </a:pPr>
            <a:r>
              <a:rPr lang="en-US" sz="2400" b="1" dirty="0" smtClean="0"/>
              <a:t>Loading a </a:t>
            </a:r>
            <a:r>
              <a:rPr lang="en-US" sz="2400" b="1" dirty="0" err="1" smtClean="0"/>
              <a:t>Servlet</a:t>
            </a:r>
            <a:endParaRPr lang="en-US" sz="2400" dirty="0" smtClean="0"/>
          </a:p>
          <a:p>
            <a:pPr algn="just" fontAlgn="base"/>
            <a:r>
              <a:rPr lang="en-US" sz="2400" b="1" dirty="0" smtClean="0"/>
              <a:t>Loading: </a:t>
            </a:r>
            <a:r>
              <a:rPr lang="en-US" sz="2400" dirty="0" smtClean="0"/>
              <a:t>The </a:t>
            </a:r>
            <a:r>
              <a:rPr lang="en-US" sz="2400" dirty="0" err="1" smtClean="0"/>
              <a:t>Servlet</a:t>
            </a:r>
            <a:r>
              <a:rPr lang="en-US" sz="2400" dirty="0" smtClean="0"/>
              <a:t> container loads the </a:t>
            </a:r>
            <a:r>
              <a:rPr lang="en-US" sz="2400" dirty="0" err="1" smtClean="0"/>
              <a:t>Servlet</a:t>
            </a:r>
            <a:r>
              <a:rPr lang="en-US" sz="2400" dirty="0" smtClean="0"/>
              <a:t> class into memory.</a:t>
            </a:r>
          </a:p>
          <a:p>
            <a:pPr algn="just" fontAlgn="base"/>
            <a:r>
              <a:rPr lang="en-US" sz="2400" b="1" dirty="0" smtClean="0"/>
              <a:t>Instantiation:</a:t>
            </a:r>
            <a:r>
              <a:rPr lang="en-US" sz="2400" dirty="0" smtClean="0"/>
              <a:t> The container creates an instance of the </a:t>
            </a:r>
            <a:r>
              <a:rPr lang="en-US" sz="2400" dirty="0" err="1" smtClean="0"/>
              <a:t>Servlet</a:t>
            </a:r>
            <a:r>
              <a:rPr lang="en-US" sz="2400" dirty="0" smtClean="0"/>
              <a:t> using the no-argument constructor.</a:t>
            </a:r>
          </a:p>
          <a:p>
            <a:pPr algn="just" fontAlgn="base"/>
            <a:endParaRPr lang="en-US" sz="2400" dirty="0" smtClean="0"/>
          </a:p>
          <a:p>
            <a:pPr algn="just" fontAlgn="base"/>
            <a:r>
              <a:rPr lang="en-US" sz="2400" b="1" dirty="0" smtClean="0"/>
              <a:t>2. Initializing a </a:t>
            </a:r>
            <a:r>
              <a:rPr lang="en-US" sz="2400" b="1" dirty="0" err="1" smtClean="0"/>
              <a:t>Servlet</a:t>
            </a:r>
            <a:endParaRPr lang="en-US" sz="2400" b="1" dirty="0" smtClean="0"/>
          </a:p>
          <a:p>
            <a:pPr algn="just" fontAlgn="base"/>
            <a:r>
              <a:rPr lang="en-US" sz="2400" dirty="0" smtClean="0"/>
              <a:t>After the </a:t>
            </a:r>
            <a:r>
              <a:rPr lang="en-US" sz="2400" dirty="0" err="1" smtClean="0"/>
              <a:t>Servlet</a:t>
            </a:r>
            <a:r>
              <a:rPr lang="en-US" sz="2400" dirty="0" smtClean="0"/>
              <a:t> is instantiated, the </a:t>
            </a:r>
            <a:r>
              <a:rPr lang="en-US" sz="2400" dirty="0" err="1" smtClean="0"/>
              <a:t>Servlet</a:t>
            </a:r>
            <a:r>
              <a:rPr lang="en-US" sz="2400" dirty="0" smtClean="0"/>
              <a:t> container initializes it by calling the init(</a:t>
            </a:r>
            <a:r>
              <a:rPr lang="en-US" sz="2400" dirty="0" err="1" smtClean="0"/>
              <a:t>ServletConfig</a:t>
            </a:r>
            <a:r>
              <a:rPr lang="en-US" sz="2400" dirty="0" smtClean="0"/>
              <a:t> </a:t>
            </a:r>
            <a:r>
              <a:rPr lang="en-US" sz="2400" dirty="0" err="1" smtClean="0"/>
              <a:t>config</a:t>
            </a:r>
            <a:r>
              <a:rPr lang="en-US" sz="2400" dirty="0" smtClean="0"/>
              <a:t>) method. This method is called only once during the </a:t>
            </a:r>
            <a:r>
              <a:rPr lang="en-US" sz="2400" dirty="0" err="1" smtClean="0"/>
              <a:t>Servlet’s</a:t>
            </a:r>
            <a:r>
              <a:rPr lang="en-US" sz="2400" dirty="0" smtClean="0"/>
              <a:t> life cycle.</a:t>
            </a:r>
          </a:p>
          <a:p>
            <a:pPr algn="just"/>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endParaRPr lang="en-US" sz="2400" b="1" dirty="0" smtClean="0">
              <a:solidFill>
                <a:schemeClr val="dk2"/>
              </a:solidFill>
              <a:latin typeface="Calibri"/>
              <a:cs typeface="Calibri"/>
              <a:sym typeface="Calibri"/>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Handling request</a:t>
            </a:r>
          </a:p>
          <a:p>
            <a:pPr algn="just" fontAlgn="base"/>
            <a:endParaRPr lang="en-US" sz="2400" b="1" dirty="0" smtClean="0"/>
          </a:p>
          <a:p>
            <a:pPr algn="just" fontAlgn="base"/>
            <a:r>
              <a:rPr lang="en-US" sz="2400" dirty="0" smtClean="0"/>
              <a:t>Once the </a:t>
            </a:r>
            <a:r>
              <a:rPr lang="en-US" sz="2400" dirty="0" err="1" smtClean="0"/>
              <a:t>Servlet</a:t>
            </a:r>
            <a:r>
              <a:rPr lang="en-US" sz="2400" dirty="0" smtClean="0"/>
              <a:t> is initialized, it is ready to handle client requests. The </a:t>
            </a:r>
            <a:r>
              <a:rPr lang="en-US" sz="2400" dirty="0" err="1" smtClean="0"/>
              <a:t>Servlet</a:t>
            </a:r>
            <a:r>
              <a:rPr lang="en-US" sz="2400" dirty="0" smtClean="0"/>
              <a:t> container performs the following steps for each request:</a:t>
            </a:r>
          </a:p>
          <a:p>
            <a:pPr algn="just" fontAlgn="base"/>
            <a:endParaRPr lang="en-US" sz="2400" dirty="0" smtClean="0"/>
          </a:p>
          <a:p>
            <a:pPr marL="360363" indent="-360363">
              <a:buFont typeface="Arial" pitchFamily="34" charset="0"/>
              <a:buChar char="•"/>
            </a:pPr>
            <a:r>
              <a:rPr lang="en-US" sz="2400" dirty="0" smtClean="0"/>
              <a:t>Create Request and Response Objects</a:t>
            </a:r>
          </a:p>
          <a:p>
            <a:pPr marL="360363" indent="-360363">
              <a:buFont typeface="Arial" pitchFamily="34" charset="0"/>
              <a:buChar char="•"/>
            </a:pPr>
            <a:r>
              <a:rPr lang="en-US" sz="2400" dirty="0" smtClean="0"/>
              <a:t>Invoke the service() Method</a:t>
            </a:r>
            <a:br>
              <a:rPr lang="en-US" sz="2400" dirty="0" smtClean="0"/>
            </a:b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endParaRPr lang="en-US" sz="2400" b="1" dirty="0" smtClean="0">
              <a:solidFill>
                <a:schemeClr val="dk2"/>
              </a:solidFill>
              <a:latin typeface="Calibri"/>
              <a:cs typeface="Calibri"/>
              <a:sym typeface="Calibri"/>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fontAlgn="base"/>
            <a:r>
              <a:rPr lang="en-US" sz="2400" b="1" dirty="0" smtClean="0"/>
              <a:t>4. Destroying a </a:t>
            </a:r>
            <a:r>
              <a:rPr lang="en-US" sz="2400" b="1" dirty="0" err="1" smtClean="0"/>
              <a:t>Servlet</a:t>
            </a:r>
            <a:endParaRPr lang="en-US" sz="2400" b="1" dirty="0" smtClean="0"/>
          </a:p>
          <a:p>
            <a:r>
              <a:rPr lang="en-US" sz="2400" dirty="0" smtClean="0"/>
              <a:t/>
            </a:r>
            <a:br>
              <a:rPr lang="en-US" sz="2400" dirty="0" smtClean="0"/>
            </a:br>
            <a:r>
              <a:rPr lang="en-US" sz="2400" dirty="0" smtClean="0"/>
              <a:t>When the </a:t>
            </a:r>
            <a:r>
              <a:rPr lang="en-US" sz="2400" dirty="0" err="1" smtClean="0"/>
              <a:t>Servlet</a:t>
            </a:r>
            <a:r>
              <a:rPr lang="en-US" sz="2400" dirty="0" smtClean="0"/>
              <a:t> container decides to remove the </a:t>
            </a:r>
            <a:r>
              <a:rPr lang="en-US" sz="2400" dirty="0" err="1" smtClean="0"/>
              <a:t>Servlet</a:t>
            </a:r>
            <a:r>
              <a:rPr lang="en-US" sz="2400" dirty="0" smtClean="0"/>
              <a:t>, it follows these steps which are listed below</a:t>
            </a:r>
          </a:p>
          <a:p>
            <a:endParaRPr lang="en-US" sz="2400" dirty="0" smtClean="0"/>
          </a:p>
          <a:p>
            <a:pPr marL="360363" indent="-360363">
              <a:buFont typeface="Arial" pitchFamily="34" charset="0"/>
              <a:buChar char="•"/>
            </a:pPr>
            <a:r>
              <a:rPr lang="en-US" sz="2400" dirty="0" smtClean="0"/>
              <a:t>Allow Active Threads to Complete</a:t>
            </a:r>
          </a:p>
          <a:p>
            <a:pPr marL="360363" indent="-360363">
              <a:buFont typeface="Arial" pitchFamily="34" charset="0"/>
              <a:buChar char="•"/>
            </a:pPr>
            <a:r>
              <a:rPr lang="en-US" sz="2400" dirty="0" smtClean="0"/>
              <a:t>Invoke the destroy() Method</a:t>
            </a:r>
          </a:p>
          <a:p>
            <a:pPr marL="360363" indent="-360363">
              <a:buFont typeface="Arial" pitchFamily="34" charset="0"/>
              <a:buChar char="•"/>
            </a:pPr>
            <a:r>
              <a:rPr lang="en-US" sz="2400" dirty="0" smtClean="0"/>
              <a:t>Release </a:t>
            </a:r>
            <a:r>
              <a:rPr lang="en-US" sz="2400" dirty="0" err="1" smtClean="0"/>
              <a:t>Servlet</a:t>
            </a:r>
            <a:r>
              <a:rPr lang="en-US" sz="2400" dirty="0" smtClean="0"/>
              <a:t> Instance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fontAlgn="base"/>
            <a:r>
              <a:rPr lang="en-US" sz="2400" dirty="0" smtClean="0"/>
              <a:t>There are three life cycle methods of a </a:t>
            </a:r>
            <a:r>
              <a:rPr lang="en-US" sz="2400" dirty="0" err="1" smtClean="0"/>
              <a:t>Servlet</a:t>
            </a:r>
            <a:r>
              <a:rPr lang="en-US" sz="2400" dirty="0" smtClean="0"/>
              <a:t>:</a:t>
            </a:r>
          </a:p>
          <a:p>
            <a:pPr fontAlgn="base"/>
            <a:endParaRPr lang="en-US" sz="2400" dirty="0" smtClean="0"/>
          </a:p>
          <a:p>
            <a:pPr fontAlgn="base"/>
            <a:r>
              <a:rPr lang="en-US" sz="2400" dirty="0" smtClean="0"/>
              <a:t>init()</a:t>
            </a:r>
          </a:p>
          <a:p>
            <a:pPr fontAlgn="base"/>
            <a:r>
              <a:rPr lang="en-US" sz="2400" dirty="0" smtClean="0"/>
              <a:t>service()</a:t>
            </a:r>
          </a:p>
          <a:p>
            <a:pPr fontAlgn="base"/>
            <a:r>
              <a:rPr lang="en-US" sz="2400" dirty="0" smtClean="0"/>
              <a:t>destroy()</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pic>
        <p:nvPicPr>
          <p:cNvPr id="2050" name="Picture 2"/>
          <p:cNvPicPr>
            <a:picLocks noChangeAspect="1" noChangeArrowheads="1"/>
          </p:cNvPicPr>
          <p:nvPr/>
        </p:nvPicPr>
        <p:blipFill>
          <a:blip r:embed="rId3"/>
          <a:srcRect/>
          <a:stretch>
            <a:fillRect/>
          </a:stretch>
        </p:blipFill>
        <p:spPr bwMode="auto">
          <a:xfrm>
            <a:off x="1042988" y="1676400"/>
            <a:ext cx="7058025" cy="35052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fontAlgn="base"/>
            <a:r>
              <a:rPr lang="en-US" sz="2400" dirty="0" smtClean="0"/>
              <a:t>The </a:t>
            </a:r>
            <a:r>
              <a:rPr lang="en-US" sz="2400" dirty="0" err="1" smtClean="0"/>
              <a:t>servlet</a:t>
            </a:r>
            <a:r>
              <a:rPr lang="en-US" sz="2400" dirty="0" smtClean="0"/>
              <a:t> life cycle consists of these stages:</a:t>
            </a:r>
          </a:p>
          <a:p>
            <a:pPr fontAlgn="base"/>
            <a:endParaRPr lang="en-US" sz="2400" dirty="0" smtClean="0"/>
          </a:p>
          <a:p>
            <a:pPr marL="360363" indent="-360363" fontAlgn="base">
              <a:buFont typeface="Arial" pitchFamily="34" charset="0"/>
              <a:buChar char="•"/>
            </a:pPr>
            <a:r>
              <a:rPr lang="en-US" sz="2400" dirty="0" err="1" smtClean="0"/>
              <a:t>Servlet</a:t>
            </a:r>
            <a:r>
              <a:rPr lang="en-US" sz="2400" dirty="0" smtClean="0"/>
              <a:t> is created</a:t>
            </a:r>
          </a:p>
          <a:p>
            <a:pPr marL="360363" indent="-360363" fontAlgn="base">
              <a:buFont typeface="Arial" pitchFamily="34" charset="0"/>
              <a:buChar char="•"/>
            </a:pPr>
            <a:r>
              <a:rPr lang="en-US" sz="2400" dirty="0" err="1" smtClean="0"/>
              <a:t>Servlet</a:t>
            </a:r>
            <a:r>
              <a:rPr lang="en-US" sz="2400" dirty="0" smtClean="0"/>
              <a:t> is initialized</a:t>
            </a:r>
          </a:p>
          <a:p>
            <a:pPr marL="360363" indent="-360363" fontAlgn="base">
              <a:buFont typeface="Arial" pitchFamily="34" charset="0"/>
              <a:buChar char="•"/>
            </a:pPr>
            <a:r>
              <a:rPr lang="en-US" sz="2400" dirty="0" err="1" smtClean="0"/>
              <a:t>Servlet</a:t>
            </a:r>
            <a:r>
              <a:rPr lang="en-US" sz="2400" dirty="0" smtClean="0"/>
              <a:t> is ready to service</a:t>
            </a:r>
          </a:p>
          <a:p>
            <a:pPr marL="360363" indent="-360363" fontAlgn="base">
              <a:buFont typeface="Arial" pitchFamily="34" charset="0"/>
              <a:buChar char="•"/>
            </a:pPr>
            <a:r>
              <a:rPr lang="en-US" sz="2400" dirty="0" err="1" smtClean="0"/>
              <a:t>Servlet</a:t>
            </a:r>
            <a:r>
              <a:rPr lang="en-US" sz="2400" dirty="0" smtClean="0"/>
              <a:t> is servicing</a:t>
            </a:r>
          </a:p>
          <a:p>
            <a:pPr marL="360363" indent="-360363" fontAlgn="base">
              <a:buFont typeface="Arial" pitchFamily="34" charset="0"/>
              <a:buChar char="•"/>
            </a:pPr>
            <a:r>
              <a:rPr lang="en-US" sz="2400" dirty="0" err="1" smtClean="0"/>
              <a:t>Servlet</a:t>
            </a:r>
            <a:r>
              <a:rPr lang="en-US" sz="2400" dirty="0" smtClean="0"/>
              <a:t> is not ready to service</a:t>
            </a:r>
          </a:p>
          <a:p>
            <a:pPr marL="360363" indent="-360363" fontAlgn="base">
              <a:buFont typeface="Arial" pitchFamily="34" charset="0"/>
              <a:buChar char="•"/>
            </a:pPr>
            <a:r>
              <a:rPr lang="en-US" sz="2400" dirty="0" err="1" smtClean="0"/>
              <a:t>Servlet</a:t>
            </a:r>
            <a:r>
              <a:rPr lang="en-US" sz="2400" dirty="0" smtClean="0"/>
              <a:t> is destroyed</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553620"/>
            <a:ext cx="8349784" cy="4436214"/>
          </a:xfrm>
          <a:prstGeom prst="rect">
            <a:avLst/>
          </a:prstGeom>
          <a:noFill/>
          <a:ln>
            <a:noFill/>
          </a:ln>
        </p:spPr>
        <p:txBody>
          <a:bodyPr spcFirstLastPara="1" wrap="square" lIns="91425" tIns="45700" rIns="91425" bIns="45700" anchor="t" anchorCtr="0">
            <a:noAutofit/>
          </a:bodyPr>
          <a:lstStyle/>
          <a:p>
            <a:pPr fontAlgn="base"/>
            <a:r>
              <a:rPr lang="en-US" sz="2400" b="1" dirty="0" smtClean="0"/>
              <a:t>1. init() Method</a:t>
            </a:r>
          </a:p>
          <a:p>
            <a:pPr algn="just" fontAlgn="base"/>
            <a:r>
              <a:rPr lang="en-US" sz="2400" dirty="0" smtClean="0"/>
              <a:t>This method is called by the </a:t>
            </a:r>
            <a:r>
              <a:rPr lang="en-US" sz="2400" dirty="0" err="1" smtClean="0"/>
              <a:t>Servlet</a:t>
            </a:r>
            <a:r>
              <a:rPr lang="en-US" sz="2400" dirty="0" smtClean="0"/>
              <a:t> container to indicate that this </a:t>
            </a:r>
            <a:r>
              <a:rPr lang="en-US" sz="2400" dirty="0" err="1" smtClean="0"/>
              <a:t>Servlet</a:t>
            </a:r>
            <a:r>
              <a:rPr lang="en-US" sz="2400" dirty="0" smtClean="0"/>
              <a:t> instance is instantiated successfully and is about to put into the service.</a:t>
            </a:r>
          </a:p>
          <a:p>
            <a:pPr fontAlgn="base"/>
            <a:r>
              <a:rPr lang="en-US" sz="2400" i="1" dirty="0" smtClean="0"/>
              <a:t>// init() method</a:t>
            </a:r>
          </a:p>
          <a:p>
            <a:pPr fontAlgn="base"/>
            <a:r>
              <a:rPr lang="en-US" sz="2400" i="1" dirty="0" smtClean="0"/>
              <a:t>public class </a:t>
            </a:r>
            <a:r>
              <a:rPr lang="en-US" sz="2400" i="1" dirty="0" err="1" smtClean="0"/>
              <a:t>MyServlet</a:t>
            </a:r>
            <a:r>
              <a:rPr lang="en-US" sz="2400" i="1" dirty="0" smtClean="0"/>
              <a:t> implements </a:t>
            </a:r>
            <a:r>
              <a:rPr lang="en-US" sz="2400" i="1" dirty="0" err="1" smtClean="0"/>
              <a:t>Servlet</a:t>
            </a:r>
            <a:r>
              <a:rPr lang="en-US" sz="2400" i="1" dirty="0" smtClean="0"/>
              <a:t> {</a:t>
            </a:r>
          </a:p>
          <a:p>
            <a:pPr fontAlgn="base"/>
            <a:r>
              <a:rPr lang="en-US" sz="2400" i="1" dirty="0" smtClean="0"/>
              <a:t>	public void init(</a:t>
            </a:r>
            <a:r>
              <a:rPr lang="en-US" sz="2400" i="1" dirty="0" err="1" smtClean="0"/>
              <a:t>ServletConfig</a:t>
            </a:r>
            <a:r>
              <a:rPr lang="en-US" sz="2400" i="1" dirty="0" smtClean="0"/>
              <a:t> </a:t>
            </a:r>
            <a:r>
              <a:rPr lang="en-US" sz="2400" i="1" dirty="0" err="1" smtClean="0"/>
              <a:t>config</a:t>
            </a:r>
            <a:r>
              <a:rPr lang="en-US" sz="2400" i="1" dirty="0" smtClean="0"/>
              <a:t>) throws 	</a:t>
            </a:r>
            <a:r>
              <a:rPr lang="en-US" sz="2400" i="1" dirty="0" err="1" smtClean="0"/>
              <a:t>ServletException</a:t>
            </a:r>
            <a:endParaRPr lang="en-US" sz="2400" i="1" dirty="0" smtClean="0"/>
          </a:p>
          <a:p>
            <a:pPr fontAlgn="base"/>
            <a:r>
              <a:rPr lang="en-US" sz="2400" i="1" dirty="0" smtClean="0"/>
              <a:t>	{</a:t>
            </a:r>
          </a:p>
          <a:p>
            <a:pPr fontAlgn="base"/>
            <a:r>
              <a:rPr lang="en-US" sz="2400" i="1" dirty="0" smtClean="0"/>
              <a:t>		// initialization code</a:t>
            </a:r>
          </a:p>
          <a:p>
            <a:pPr fontAlgn="base"/>
            <a:r>
              <a:rPr lang="en-US" sz="2400" i="1" dirty="0" smtClean="0"/>
              <a:t>	}</a:t>
            </a:r>
          </a:p>
          <a:p>
            <a:pPr fontAlgn="base"/>
            <a:r>
              <a:rPr lang="en-US" sz="2400" i="1" dirty="0" smtClean="0"/>
              <a:t>	// rest of code</a:t>
            </a:r>
          </a:p>
          <a:p>
            <a:pPr fontAlgn="base"/>
            <a:r>
              <a:rPr lang="en-US" sz="2400" i="1" dirty="0" smtClean="0"/>
              <a:t>}</a:t>
            </a:r>
          </a:p>
          <a:p>
            <a:r>
              <a:rPr lang="en-US" sz="2400" dirty="0" smtClean="0"/>
              <a:t/>
            </a:r>
            <a:br>
              <a:rPr lang="en-US" sz="2400" dirty="0" smtClean="0"/>
            </a:b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553620"/>
            <a:ext cx="8349784" cy="4436214"/>
          </a:xfrm>
          <a:prstGeom prst="rect">
            <a:avLst/>
          </a:prstGeom>
          <a:noFill/>
          <a:ln>
            <a:noFill/>
          </a:ln>
        </p:spPr>
        <p:txBody>
          <a:bodyPr spcFirstLastPara="1" wrap="square" lIns="91425" tIns="45700" rIns="91425" bIns="45700" anchor="t" anchorCtr="0">
            <a:noAutofit/>
          </a:bodyPr>
          <a:lstStyle/>
          <a:p>
            <a:pPr marL="457200" indent="-457200" fontAlgn="base">
              <a:buAutoNum type="arabicPeriod"/>
            </a:pPr>
            <a:r>
              <a:rPr lang="en-US" sz="2400" b="1" dirty="0" smtClean="0"/>
              <a:t>init() Method</a:t>
            </a:r>
          </a:p>
          <a:p>
            <a:pPr marL="457200" indent="-457200" fontAlgn="base"/>
            <a:endParaRPr lang="en-US" sz="2400" b="1" dirty="0" smtClean="0"/>
          </a:p>
          <a:p>
            <a:pPr algn="just" fontAlgn="base"/>
            <a:r>
              <a:rPr lang="en-US" sz="2400" dirty="0" smtClean="0"/>
              <a:t>A </a:t>
            </a:r>
            <a:r>
              <a:rPr lang="en-US" sz="2400" dirty="0" err="1" smtClean="0"/>
              <a:t>Servlet</a:t>
            </a:r>
            <a:r>
              <a:rPr lang="en-US" sz="2400" dirty="0" smtClean="0"/>
              <a:t> life begins from this method. This method is called only once to load the </a:t>
            </a:r>
            <a:r>
              <a:rPr lang="en-US" sz="2400" dirty="0" err="1" smtClean="0"/>
              <a:t>servlet</a:t>
            </a:r>
            <a:r>
              <a:rPr lang="en-US" sz="2400" dirty="0" smtClean="0"/>
              <a:t>.</a:t>
            </a:r>
          </a:p>
          <a:p>
            <a:pPr algn="just" fontAlgn="base"/>
            <a:endParaRPr lang="en-US" sz="2400" b="1" i="1" dirty="0" smtClean="0"/>
          </a:p>
          <a:p>
            <a:pPr algn="just" fontAlgn="base"/>
            <a:r>
              <a:rPr lang="en-US" sz="2400" b="1" i="1" dirty="0" smtClean="0"/>
              <a:t>Question:</a:t>
            </a:r>
          </a:p>
          <a:p>
            <a:pPr algn="just" fontAlgn="base"/>
            <a:endParaRPr lang="en-US" sz="2400" i="1" dirty="0" smtClean="0"/>
          </a:p>
          <a:p>
            <a:pPr algn="just" fontAlgn="base"/>
            <a:r>
              <a:rPr lang="en-US" sz="2400" i="1" dirty="0" smtClean="0"/>
              <a:t>Why can’t we write connected architecture code inside the constructor, since constructor also run only once in it’s entire life?</a:t>
            </a:r>
          </a:p>
          <a:p>
            <a:r>
              <a:rPr lang="en-US" sz="2400" dirty="0" smtClean="0"/>
              <a:t/>
            </a:r>
            <a:br>
              <a:rPr lang="en-US" sz="2400" dirty="0" smtClean="0"/>
            </a:b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553620"/>
            <a:ext cx="8349784" cy="4436214"/>
          </a:xfrm>
          <a:prstGeom prst="rect">
            <a:avLst/>
          </a:prstGeom>
          <a:noFill/>
          <a:ln>
            <a:noFill/>
          </a:ln>
        </p:spPr>
        <p:txBody>
          <a:bodyPr spcFirstLastPara="1" wrap="square" lIns="91425" tIns="45700" rIns="91425" bIns="45700" anchor="t" anchorCtr="0">
            <a:noAutofit/>
          </a:bodyPr>
          <a:lstStyle/>
          <a:p>
            <a:pPr marL="457200" indent="-457200" fontAlgn="base">
              <a:buAutoNum type="arabicPeriod"/>
            </a:pPr>
            <a:r>
              <a:rPr lang="en-US" sz="2400" b="1" dirty="0" smtClean="0"/>
              <a:t>init() Method</a:t>
            </a:r>
          </a:p>
          <a:p>
            <a:pPr marL="457200" indent="-457200" fontAlgn="base"/>
            <a:endParaRPr lang="en-US" sz="2400" b="1" dirty="0" smtClean="0"/>
          </a:p>
          <a:p>
            <a:pPr algn="just" fontAlgn="base"/>
            <a:r>
              <a:rPr lang="en-US" sz="2400" b="1" i="1" dirty="0" smtClean="0"/>
              <a:t>Answer:</a:t>
            </a:r>
          </a:p>
          <a:p>
            <a:pPr algn="just" fontAlgn="base"/>
            <a:endParaRPr lang="en-US" sz="2400" dirty="0" smtClean="0"/>
          </a:p>
          <a:p>
            <a:pPr algn="just" fontAlgn="base"/>
            <a:r>
              <a:rPr lang="en-US" sz="2400" dirty="0" smtClean="0"/>
              <a:t>Suppose if the connection doesn’t get established, then we can throw an exception from init() and the rest of the steps stop executing. But in the constructor we can’t use, throw in it’s prototype otherwise it is an error</a:t>
            </a:r>
            <a:endParaRPr lang="en-US" sz="2400" i="1" dirty="0" smtClean="0"/>
          </a:p>
          <a:p>
            <a:r>
              <a:rPr lang="en-US" sz="2400" dirty="0" smtClean="0"/>
              <a:t/>
            </a:r>
            <a:br>
              <a:rPr lang="en-US" sz="2400" dirty="0" smtClean="0"/>
            </a:b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553620"/>
            <a:ext cx="8349784" cy="4436214"/>
          </a:xfrm>
          <a:prstGeom prst="rect">
            <a:avLst/>
          </a:prstGeom>
          <a:noFill/>
          <a:ln>
            <a:noFill/>
          </a:ln>
        </p:spPr>
        <p:txBody>
          <a:bodyPr spcFirstLastPara="1" wrap="square" lIns="91425" tIns="45700" rIns="91425" bIns="45700" anchor="t" anchorCtr="0">
            <a:noAutofit/>
          </a:bodyPr>
          <a:lstStyle/>
          <a:p>
            <a:pPr marL="457200" indent="-457200" fontAlgn="base">
              <a:buAutoNum type="arabicPeriod"/>
            </a:pPr>
            <a:r>
              <a:rPr lang="en-US" sz="2400" b="1" dirty="0" smtClean="0"/>
              <a:t>init() Method</a:t>
            </a:r>
          </a:p>
          <a:p>
            <a:pPr algn="just" fontAlgn="base"/>
            <a:endParaRPr lang="en-US" sz="2400" b="1" i="1" dirty="0" smtClean="0"/>
          </a:p>
          <a:p>
            <a:pPr algn="just" fontAlgn="base"/>
            <a:r>
              <a:rPr lang="en-US" sz="2400" b="1" i="1" dirty="0" smtClean="0"/>
              <a:t>Question: </a:t>
            </a:r>
          </a:p>
          <a:p>
            <a:pPr algn="just" fontAlgn="base"/>
            <a:endParaRPr lang="en-US" sz="2400" b="1" i="1" dirty="0" smtClean="0"/>
          </a:p>
          <a:p>
            <a:pPr algn="just" fontAlgn="base"/>
            <a:r>
              <a:rPr lang="en-US" sz="2400" b="1" i="1" dirty="0" smtClean="0"/>
              <a:t>Why it is recommended to use the non parameterized version of init() instead of parameterized version?</a:t>
            </a:r>
          </a:p>
          <a:p>
            <a:pPr fontAlgn="base"/>
            <a:endParaRPr lang="en-US" sz="24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Arial"/>
              <a:buAutoNum type="arabicPeriod"/>
            </a:pPr>
            <a:r>
              <a:rPr lang="en-US" sz="2400" b="1" dirty="0" smtClean="0"/>
              <a:t>init() Method: Using the Parameterized init(ServletConfig.con)</a:t>
            </a:r>
            <a:endParaRPr lang="en-US" sz="2400" b="1" i="1" dirty="0" smtClean="0"/>
          </a:p>
          <a:p>
            <a:pPr algn="just" fontAlgn="base"/>
            <a:endParaRPr lang="en-US" sz="1600" b="1" i="1" dirty="0" smtClean="0"/>
          </a:p>
          <a:p>
            <a:pPr algn="just" fontAlgn="base"/>
            <a:r>
              <a:rPr lang="en-US" sz="2400" b="1" i="1" dirty="0" smtClean="0"/>
              <a:t>Answer: </a:t>
            </a:r>
          </a:p>
          <a:p>
            <a:pPr fontAlgn="base"/>
            <a:endParaRPr lang="en-US" sz="1600" dirty="0" smtClean="0"/>
          </a:p>
          <a:p>
            <a:pPr algn="just" fontAlgn="base"/>
            <a:r>
              <a:rPr lang="en-US" sz="2400" dirty="0" smtClean="0"/>
              <a:t>When the parameterized init(</a:t>
            </a:r>
            <a:r>
              <a:rPr lang="en-US" sz="2400" dirty="0" err="1" smtClean="0"/>
              <a:t>ServletConfig</a:t>
            </a:r>
            <a:r>
              <a:rPr lang="en-US" sz="2400" dirty="0" smtClean="0"/>
              <a:t> con) is called during the </a:t>
            </a:r>
            <a:r>
              <a:rPr lang="en-US" sz="2400" dirty="0" err="1" smtClean="0"/>
              <a:t>servlet</a:t>
            </a:r>
            <a:r>
              <a:rPr lang="en-US" sz="2400" dirty="0" smtClean="0"/>
              <a:t> life cycle, the following steps occur:</a:t>
            </a:r>
          </a:p>
          <a:p>
            <a:pPr marL="360363" indent="-360363" algn="just" fontAlgn="base">
              <a:buFont typeface="Arial" pitchFamily="34" charset="0"/>
              <a:buChar char="•"/>
            </a:pPr>
            <a:r>
              <a:rPr lang="en-US" sz="2400" dirty="0" smtClean="0"/>
              <a:t>First the overridden init(</a:t>
            </a:r>
            <a:r>
              <a:rPr lang="en-US" sz="2400" dirty="0" err="1" smtClean="0"/>
              <a:t>ServletConfig</a:t>
            </a:r>
            <a:r>
              <a:rPr lang="en-US" sz="2400" dirty="0" smtClean="0"/>
              <a:t> con) in our </a:t>
            </a:r>
            <a:r>
              <a:rPr lang="en-US" sz="2400" dirty="0" err="1" smtClean="0"/>
              <a:t>servlet</a:t>
            </a:r>
            <a:r>
              <a:rPr lang="en-US" sz="2400" dirty="0" smtClean="0"/>
              <a:t> class is executed.</a:t>
            </a:r>
          </a:p>
          <a:p>
            <a:pPr marL="360363" indent="-360363" algn="just" fontAlgn="base">
              <a:buFont typeface="Arial" pitchFamily="34" charset="0"/>
              <a:buChar char="•"/>
            </a:pPr>
            <a:r>
              <a:rPr lang="en-US" sz="2400" dirty="0" smtClean="0"/>
              <a:t>Then the init(</a:t>
            </a:r>
            <a:r>
              <a:rPr lang="en-US" sz="2400" dirty="0" err="1" smtClean="0"/>
              <a:t>ServletConfig</a:t>
            </a:r>
            <a:r>
              <a:rPr lang="en-US" sz="2400" dirty="0" smtClean="0"/>
              <a:t> con) method in the parent </a:t>
            </a:r>
            <a:r>
              <a:rPr lang="en-US" sz="2400" dirty="0" err="1" smtClean="0"/>
              <a:t>HttpServlet</a:t>
            </a:r>
            <a:r>
              <a:rPr lang="en-US" sz="2400" dirty="0" smtClean="0"/>
              <a:t> class is called using </a:t>
            </a:r>
            <a:r>
              <a:rPr lang="en-US" sz="2400" dirty="0" err="1" smtClean="0"/>
              <a:t>super.init</a:t>
            </a:r>
            <a:r>
              <a:rPr lang="en-US" sz="2400" dirty="0" smtClean="0"/>
              <a:t>(con).</a:t>
            </a:r>
          </a:p>
          <a:p>
            <a:pPr marL="360363" indent="-360363" algn="just" fontAlgn="base">
              <a:buFont typeface="Arial" pitchFamily="34" charset="0"/>
              <a:buChar char="•"/>
            </a:pPr>
            <a:r>
              <a:rPr lang="en-US" sz="2400" dirty="0" smtClean="0"/>
              <a:t>Finally the init() (non-parameterized version) in the parent </a:t>
            </a:r>
            <a:r>
              <a:rPr lang="en-US" sz="2400" dirty="0" err="1" smtClean="0"/>
              <a:t>HttpServlet</a:t>
            </a:r>
            <a:r>
              <a:rPr lang="en-US" sz="2400" dirty="0" smtClean="0"/>
              <a:t> class is invoked. However, this method has an empty body, making the call redundant.</a:t>
            </a:r>
          </a:p>
          <a:p>
            <a:pPr algn="just" fontAlgn="base"/>
            <a:endParaRPr lang="en-US" sz="2400" dirty="0" smtClean="0"/>
          </a:p>
          <a:p>
            <a:pPr fontAlgn="base"/>
            <a:endParaRPr lang="en-US" sz="24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Arial"/>
              <a:buAutoNum type="arabicPeriod"/>
            </a:pPr>
            <a:r>
              <a:rPr lang="en-US" sz="2400" b="1" dirty="0" smtClean="0"/>
              <a:t>init() Method: Using the Parameterized init(ServletConfig.con)</a:t>
            </a:r>
            <a:endParaRPr lang="en-US" sz="2400" b="1" i="1" dirty="0" smtClean="0"/>
          </a:p>
          <a:p>
            <a:pPr algn="just" fontAlgn="base"/>
            <a:endParaRPr lang="en-US" sz="1600" b="1" i="1" dirty="0" smtClean="0"/>
          </a:p>
          <a:p>
            <a:pPr fontAlgn="base"/>
            <a:r>
              <a:rPr lang="en-US" sz="2400" i="1" dirty="0" smtClean="0"/>
              <a:t>public void init(</a:t>
            </a:r>
            <a:r>
              <a:rPr lang="en-US" sz="2400" i="1" dirty="0" err="1" smtClean="0"/>
              <a:t>ServletConfig</a:t>
            </a:r>
            <a:r>
              <a:rPr lang="en-US" sz="2400" i="1" dirty="0" smtClean="0"/>
              <a:t> con) throws </a:t>
            </a:r>
            <a:r>
              <a:rPr lang="en-US" sz="2400" i="1" dirty="0" err="1" smtClean="0"/>
              <a:t>ServletException</a:t>
            </a:r>
            <a:endParaRPr lang="en-US" sz="2400" i="1" dirty="0" smtClean="0"/>
          </a:p>
          <a:p>
            <a:pPr fontAlgn="base"/>
            <a:r>
              <a:rPr lang="en-US" sz="2400" i="1" dirty="0" smtClean="0"/>
              <a:t>{</a:t>
            </a:r>
          </a:p>
          <a:p>
            <a:pPr fontAlgn="base"/>
            <a:r>
              <a:rPr lang="en-US" sz="2400" i="1" dirty="0" smtClean="0"/>
              <a:t>	</a:t>
            </a:r>
            <a:r>
              <a:rPr lang="en-US" sz="2400" i="1" dirty="0" err="1" smtClean="0"/>
              <a:t>super.init</a:t>
            </a:r>
            <a:r>
              <a:rPr lang="en-US" sz="2400" i="1" dirty="0" smtClean="0"/>
              <a:t>(con); // Calls </a:t>
            </a:r>
            <a:r>
              <a:rPr lang="en-US" sz="2400" i="1" dirty="0" err="1" smtClean="0"/>
              <a:t>HttpServlet’s</a:t>
            </a:r>
            <a:r>
              <a:rPr lang="en-US" sz="2400" i="1" dirty="0" smtClean="0"/>
              <a:t> 	init(</a:t>
            </a:r>
            <a:r>
              <a:rPr lang="en-US" sz="2400" i="1" dirty="0" err="1" smtClean="0"/>
              <a:t>ServletConfig</a:t>
            </a:r>
            <a:r>
              <a:rPr lang="en-US" sz="2400" i="1" dirty="0" smtClean="0"/>
              <a:t>)</a:t>
            </a:r>
          </a:p>
          <a:p>
            <a:pPr fontAlgn="base"/>
            <a:r>
              <a:rPr lang="en-US" sz="2400" i="1" dirty="0" smtClean="0"/>
              <a:t>	// Custom database connection code here</a:t>
            </a:r>
          </a:p>
          <a:p>
            <a:pPr fontAlgn="base"/>
            <a:r>
              <a:rPr lang="en-US" sz="2400" i="1" dirty="0" smtClean="0"/>
              <a:t>}</a:t>
            </a:r>
          </a:p>
          <a:p>
            <a:pPr algn="just" fontAlgn="base"/>
            <a:endParaRPr lang="en-US" sz="2400" dirty="0" smtClean="0"/>
          </a:p>
          <a:p>
            <a:pPr fontAlgn="base"/>
            <a:endParaRPr lang="en-US" sz="24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Arial"/>
              <a:buAutoNum type="arabicPeriod"/>
            </a:pPr>
            <a:r>
              <a:rPr lang="en-US" sz="2400" b="1" dirty="0" smtClean="0"/>
              <a:t>init() Method: Using the Parameterized init(ServletConfig.con)</a:t>
            </a:r>
            <a:endParaRPr lang="en-US" sz="2400" b="1" i="1" dirty="0" smtClean="0"/>
          </a:p>
          <a:p>
            <a:pPr algn="just" fontAlgn="base"/>
            <a:endParaRPr lang="en-US" sz="1600" b="1" i="1" dirty="0" smtClean="0"/>
          </a:p>
          <a:p>
            <a:pPr algn="just" fontAlgn="base"/>
            <a:r>
              <a:rPr lang="en-US" sz="2400" b="1" dirty="0" smtClean="0"/>
              <a:t>Disadvantages:</a:t>
            </a:r>
          </a:p>
          <a:p>
            <a:pPr algn="just" fontAlgn="base"/>
            <a:endParaRPr lang="en-US" sz="2400" b="1" dirty="0" smtClean="0"/>
          </a:p>
          <a:p>
            <a:pPr algn="just" fontAlgn="base"/>
            <a:r>
              <a:rPr lang="en-US" sz="2400" b="1" dirty="0" smtClean="0"/>
              <a:t>More Calls:</a:t>
            </a:r>
            <a:r>
              <a:rPr lang="en-US" sz="2400" dirty="0" smtClean="0"/>
              <a:t> Total 3 init() calls</a:t>
            </a:r>
          </a:p>
          <a:p>
            <a:pPr marL="360363" indent="-360363" algn="just" fontAlgn="base">
              <a:buFont typeface="Arial" pitchFamily="34" charset="0"/>
              <a:buChar char="•"/>
            </a:pPr>
            <a:r>
              <a:rPr lang="en-US" sz="2400" dirty="0" smtClean="0"/>
              <a:t>Parameterized init(</a:t>
            </a:r>
            <a:r>
              <a:rPr lang="en-US" sz="2400" dirty="0" err="1" smtClean="0"/>
              <a:t>ServletConfig</a:t>
            </a:r>
            <a:r>
              <a:rPr lang="en-US" sz="2400" dirty="0" smtClean="0"/>
              <a:t> con) in our </a:t>
            </a:r>
            <a:r>
              <a:rPr lang="en-US" sz="2400" dirty="0" err="1" smtClean="0"/>
              <a:t>servlet</a:t>
            </a:r>
            <a:r>
              <a:rPr lang="en-US" sz="2400" dirty="0" smtClean="0"/>
              <a:t> class.</a:t>
            </a:r>
          </a:p>
          <a:p>
            <a:pPr marL="360363" indent="-360363" algn="just" fontAlgn="base">
              <a:buFont typeface="Arial" pitchFamily="34" charset="0"/>
              <a:buChar char="•"/>
            </a:pPr>
            <a:r>
              <a:rPr lang="en-US" sz="2400" dirty="0" smtClean="0"/>
              <a:t>Parameterized init(</a:t>
            </a:r>
            <a:r>
              <a:rPr lang="en-US" sz="2400" dirty="0" err="1" smtClean="0"/>
              <a:t>ServletConfig</a:t>
            </a:r>
            <a:r>
              <a:rPr lang="en-US" sz="2400" dirty="0" smtClean="0"/>
              <a:t> con) in </a:t>
            </a:r>
            <a:r>
              <a:rPr lang="en-US" sz="2400" dirty="0" err="1" smtClean="0"/>
              <a:t>HttpServlet</a:t>
            </a:r>
            <a:r>
              <a:rPr lang="en-US" sz="2400" dirty="0" smtClean="0"/>
              <a:t>.</a:t>
            </a:r>
          </a:p>
          <a:p>
            <a:pPr marL="360363" indent="-360363" algn="just" fontAlgn="base">
              <a:buFont typeface="Arial" pitchFamily="34" charset="0"/>
              <a:buChar char="•"/>
            </a:pPr>
            <a:r>
              <a:rPr lang="en-US" sz="2400" dirty="0" smtClean="0"/>
              <a:t>Non-parameterized init() in </a:t>
            </a:r>
            <a:r>
              <a:rPr lang="en-US" sz="2400" dirty="0" err="1" smtClean="0"/>
              <a:t>HttpServlet</a:t>
            </a:r>
            <a:r>
              <a:rPr lang="en-US" sz="2400" dirty="0" smtClean="0"/>
              <a:t>(empty body, hence useless)</a:t>
            </a:r>
          </a:p>
          <a:p>
            <a:pPr algn="just" fontAlgn="base"/>
            <a:r>
              <a:rPr lang="en-US" sz="2400" b="1" dirty="0" err="1" smtClean="0"/>
              <a:t>Performace</a:t>
            </a:r>
            <a:r>
              <a:rPr lang="en-US" sz="2400" b="1" dirty="0" smtClean="0"/>
              <a:t> Overhead:</a:t>
            </a:r>
            <a:r>
              <a:rPr lang="en-US" sz="2400" dirty="0" smtClean="0"/>
              <a:t> Extra calls increase stack usage and execution time.</a:t>
            </a:r>
          </a:p>
          <a:p>
            <a:pPr algn="just" fontAlgn="base"/>
            <a:endParaRPr lang="en-US" sz="24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Arial"/>
              <a:buAutoNum type="arabicPeriod"/>
            </a:pPr>
            <a:r>
              <a:rPr lang="en-US" sz="2400" b="1" dirty="0" smtClean="0"/>
              <a:t>init() Method: Using the Non-Parameterized init()</a:t>
            </a:r>
            <a:endParaRPr lang="en-US" sz="2400" b="1" i="1" dirty="0" smtClean="0"/>
          </a:p>
          <a:p>
            <a:pPr algn="just" fontAlgn="base"/>
            <a:endParaRPr lang="en-US" sz="1600" b="1" i="1" dirty="0" smtClean="0"/>
          </a:p>
          <a:p>
            <a:pPr marL="360363" indent="-360363" algn="just" fontAlgn="base">
              <a:buFont typeface="Arial" pitchFamily="34" charset="0"/>
              <a:buChar char="•"/>
            </a:pPr>
            <a:r>
              <a:rPr lang="en-US" sz="2400" dirty="0" smtClean="0"/>
              <a:t>Instead of overriding the parameterized init(</a:t>
            </a:r>
            <a:r>
              <a:rPr lang="en-US" sz="2400" dirty="0" err="1" smtClean="0"/>
              <a:t>servletConfig</a:t>
            </a:r>
            <a:r>
              <a:rPr lang="en-US" sz="2400" dirty="0" smtClean="0"/>
              <a:t> con), override the non-parameterized init().</a:t>
            </a:r>
          </a:p>
          <a:p>
            <a:pPr marL="360363" indent="-360363" algn="just" fontAlgn="base">
              <a:buFont typeface="Arial" pitchFamily="34" charset="0"/>
              <a:buChar char="•"/>
            </a:pPr>
            <a:r>
              <a:rPr lang="en-US" sz="2400" dirty="0" smtClean="0"/>
              <a:t>During the </a:t>
            </a:r>
            <a:r>
              <a:rPr lang="en-US" sz="2400" dirty="0" err="1" smtClean="0"/>
              <a:t>servlet</a:t>
            </a:r>
            <a:r>
              <a:rPr lang="en-US" sz="2400" dirty="0" smtClean="0"/>
              <a:t> life cycle</a:t>
            </a:r>
          </a:p>
          <a:p>
            <a:pPr marL="1254125" lvl="4" indent="-360363" algn="just" fontAlgn="base">
              <a:buFont typeface="Arial" pitchFamily="34" charset="0"/>
              <a:buChar char="•"/>
            </a:pPr>
            <a:r>
              <a:rPr lang="en-US" sz="2400" dirty="0" smtClean="0"/>
              <a:t>The parameterized init(</a:t>
            </a:r>
            <a:r>
              <a:rPr lang="en-US" sz="2400" dirty="0" err="1" smtClean="0"/>
              <a:t>servletConfig</a:t>
            </a:r>
            <a:r>
              <a:rPr lang="en-US" sz="2400" dirty="0" smtClean="0"/>
              <a:t> con) in </a:t>
            </a:r>
            <a:r>
              <a:rPr lang="en-US" sz="2400" dirty="0" err="1" smtClean="0"/>
              <a:t>theHttpServlet</a:t>
            </a:r>
            <a:r>
              <a:rPr lang="en-US" sz="2400" dirty="0" smtClean="0"/>
              <a:t> class is called automatically.</a:t>
            </a:r>
          </a:p>
          <a:p>
            <a:pPr marL="1254125" lvl="4" indent="-360363" algn="just" fontAlgn="base">
              <a:buFont typeface="Arial" pitchFamily="34" charset="0"/>
              <a:buChar char="•"/>
            </a:pPr>
            <a:r>
              <a:rPr lang="en-US" sz="2400" dirty="0" smtClean="0"/>
              <a:t>This method then calls the non-</a:t>
            </a:r>
            <a:r>
              <a:rPr lang="en-US" sz="2400" dirty="0" err="1" smtClean="0"/>
              <a:t>parameterizedinit</a:t>
            </a:r>
            <a:r>
              <a:rPr lang="en-US" sz="2400" dirty="0" smtClean="0"/>
              <a:t>() method of our </a:t>
            </a:r>
            <a:r>
              <a:rPr lang="en-US" sz="2400" dirty="0" err="1" smtClean="0"/>
              <a:t>servlet</a:t>
            </a:r>
            <a:r>
              <a:rPr lang="en-US" sz="2400" dirty="0" smtClean="0"/>
              <a:t> directly.</a:t>
            </a:r>
          </a:p>
          <a:p>
            <a:pPr lvl="4" algn="just" fontAlgn="base"/>
            <a:endParaRPr lang="en-US" sz="2400" i="1" dirty="0" smtClean="0"/>
          </a:p>
          <a:p>
            <a:pPr lvl="4" algn="just" fontAlgn="base"/>
            <a:r>
              <a:rPr lang="en-US" sz="2400" i="1" dirty="0" smtClean="0"/>
              <a:t>public void init() throws </a:t>
            </a:r>
            <a:r>
              <a:rPr lang="en-US" sz="2400" i="1" dirty="0" err="1" smtClean="0"/>
              <a:t>ServletException</a:t>
            </a:r>
            <a:endParaRPr lang="en-US" sz="2400" i="1" dirty="0" smtClean="0"/>
          </a:p>
          <a:p>
            <a:pPr lvl="4" algn="just" fontAlgn="base"/>
            <a:r>
              <a:rPr lang="en-US" sz="2400" i="1" dirty="0" smtClean="0"/>
              <a:t>{</a:t>
            </a:r>
          </a:p>
          <a:p>
            <a:pPr lvl="4" algn="just" fontAlgn="base"/>
            <a:r>
              <a:rPr lang="en-US" sz="2400" i="1" dirty="0" smtClean="0"/>
              <a:t>	// Custom database connection code here</a:t>
            </a:r>
          </a:p>
          <a:p>
            <a:pPr lvl="4" algn="just" fontAlgn="base"/>
            <a:r>
              <a:rPr lang="en-US" sz="2400" i="1" dirty="0" smtClean="0"/>
              <a:t>}</a:t>
            </a:r>
          </a:p>
          <a:p>
            <a:pPr lvl="4" algn="just" fontAlgn="base"/>
            <a:endParaRPr lang="en-US" sz="2400" dirty="0" smtClean="0"/>
          </a:p>
          <a:p>
            <a:pPr algn="just" fontAlgn="base"/>
            <a:endParaRPr lang="en-US" sz="24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r>
              <a:rPr lang="en-US" sz="2400" b="1" dirty="0" smtClean="0"/>
              <a:t>Advantages:</a:t>
            </a:r>
            <a:endParaRPr lang="en-US" sz="2400" dirty="0" smtClean="0"/>
          </a:p>
          <a:p>
            <a:pPr marL="457200" indent="-457200" fontAlgn="base"/>
            <a:endParaRPr lang="en-US" sz="2400" dirty="0" smtClean="0"/>
          </a:p>
          <a:p>
            <a:pPr marL="457200" indent="-457200" fontAlgn="base"/>
            <a:r>
              <a:rPr lang="en-US" sz="2400" b="1" dirty="0" smtClean="0"/>
              <a:t>Fewer Calls:</a:t>
            </a:r>
            <a:r>
              <a:rPr lang="en-US" sz="2400" dirty="0" smtClean="0"/>
              <a:t> Total of 2 init() calls</a:t>
            </a:r>
          </a:p>
          <a:p>
            <a:pPr marL="457200" indent="-4763" fontAlgn="base">
              <a:buFont typeface="Arial" pitchFamily="34" charset="0"/>
              <a:buChar char="•"/>
            </a:pPr>
            <a:r>
              <a:rPr lang="en-US" sz="2400" dirty="0" smtClean="0"/>
              <a:t>	Parameterized init(</a:t>
            </a:r>
            <a:r>
              <a:rPr lang="en-US" sz="2400" dirty="0" err="1" smtClean="0"/>
              <a:t>ServletConfig</a:t>
            </a:r>
            <a:r>
              <a:rPr lang="en-US" sz="2400" dirty="0" smtClean="0"/>
              <a:t> con) in </a:t>
            </a:r>
            <a:r>
              <a:rPr lang="en-US" sz="2400" dirty="0" err="1" smtClean="0"/>
              <a:t>HttpServlet</a:t>
            </a:r>
            <a:r>
              <a:rPr lang="en-US" sz="2400" dirty="0" smtClean="0"/>
              <a:t>.</a:t>
            </a:r>
          </a:p>
          <a:p>
            <a:pPr marL="893763" indent="-441325" fontAlgn="base">
              <a:buFont typeface="Arial" pitchFamily="34" charset="0"/>
              <a:buChar char="•"/>
            </a:pPr>
            <a:r>
              <a:rPr lang="en-US" sz="2400" dirty="0" smtClean="0"/>
              <a:t>Non-parameterized init() in our </a:t>
            </a:r>
            <a:r>
              <a:rPr lang="en-US" sz="2400" dirty="0" err="1" smtClean="0"/>
              <a:t>servlet</a:t>
            </a:r>
            <a:r>
              <a:rPr lang="en-US" sz="2400" dirty="0" smtClean="0"/>
              <a:t> class.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mj-lt"/>
              <a:buAutoNum type="arabicPeriod" startAt="2"/>
            </a:pPr>
            <a:r>
              <a:rPr lang="en-US" sz="2400" b="1" dirty="0" smtClean="0"/>
              <a:t>service() Method</a:t>
            </a:r>
          </a:p>
          <a:p>
            <a:pPr marL="457200" indent="-457200" fontAlgn="base">
              <a:buFont typeface="+mj-lt"/>
              <a:buAutoNum type="arabicPeriod" startAt="2"/>
            </a:pPr>
            <a:endParaRPr lang="en-US" sz="2400" b="1" dirty="0" smtClean="0"/>
          </a:p>
          <a:p>
            <a:pPr fontAlgn="base"/>
            <a:r>
              <a:rPr lang="en-US" sz="2400" dirty="0" smtClean="0"/>
              <a:t>This method is used to inform the </a:t>
            </a:r>
            <a:r>
              <a:rPr lang="en-US" sz="2400" dirty="0" err="1" smtClean="0"/>
              <a:t>Servlet</a:t>
            </a:r>
            <a:r>
              <a:rPr lang="en-US" sz="2400" dirty="0" smtClean="0"/>
              <a:t> about the client requests</a:t>
            </a:r>
          </a:p>
          <a:p>
            <a:pPr marL="627063" indent="-266700" fontAlgn="base">
              <a:buFont typeface="Arial" pitchFamily="34" charset="0"/>
              <a:buChar char="•"/>
            </a:pPr>
            <a:r>
              <a:rPr lang="en-US" sz="2400" dirty="0" smtClean="0"/>
              <a:t>This method uses </a:t>
            </a:r>
            <a:r>
              <a:rPr lang="en-US" sz="2400" dirty="0" err="1" smtClean="0"/>
              <a:t>ServletRequest</a:t>
            </a:r>
            <a:r>
              <a:rPr lang="en-US" sz="2400" dirty="0" smtClean="0"/>
              <a:t> object to collect the data requested by the client</a:t>
            </a:r>
          </a:p>
          <a:p>
            <a:pPr marL="627063" indent="-266700" fontAlgn="base">
              <a:buFont typeface="Arial" pitchFamily="34" charset="0"/>
              <a:buChar char="•"/>
            </a:pPr>
            <a:r>
              <a:rPr lang="en-US" sz="2400" dirty="0" smtClean="0"/>
              <a:t>This method uses </a:t>
            </a:r>
            <a:r>
              <a:rPr lang="en-US" sz="2400" dirty="0" err="1" smtClean="0"/>
              <a:t>ServletResponse</a:t>
            </a:r>
            <a:r>
              <a:rPr lang="en-US" sz="2400" dirty="0" smtClean="0"/>
              <a:t> object to generate the output content</a:t>
            </a:r>
          </a:p>
          <a:p>
            <a:pPr marL="457200" indent="-457200" fontAlgn="base"/>
            <a:endParaRPr lang="en-US" sz="2400" b="1" dirty="0" smtClean="0"/>
          </a:p>
          <a:p>
            <a:pPr marL="457200" indent="-457200" fontAlgn="base"/>
            <a:endParaRPr lang="en-US" sz="2400" b="1"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mj-lt"/>
              <a:buAutoNum type="arabicPeriod" startAt="2"/>
            </a:pPr>
            <a:r>
              <a:rPr lang="en-US" sz="2400" b="1" dirty="0" smtClean="0"/>
              <a:t>service() Method</a:t>
            </a:r>
          </a:p>
          <a:p>
            <a:pPr marL="457200" indent="-457200" fontAlgn="base">
              <a:buFont typeface="+mj-lt"/>
              <a:buAutoNum type="arabicPeriod" startAt="2"/>
            </a:pPr>
            <a:endParaRPr lang="en-US" sz="2400" b="1" dirty="0" smtClean="0"/>
          </a:p>
          <a:p>
            <a:pPr fontAlgn="base"/>
            <a:r>
              <a:rPr lang="en-US" sz="2400" i="1" dirty="0" smtClean="0"/>
              <a:t>// service() method</a:t>
            </a:r>
          </a:p>
          <a:p>
            <a:pPr fontAlgn="base"/>
            <a:r>
              <a:rPr lang="en-US" sz="2400" i="1" dirty="0" smtClean="0"/>
              <a:t>public class </a:t>
            </a:r>
            <a:r>
              <a:rPr lang="en-US" sz="2400" i="1" dirty="0" err="1" smtClean="0"/>
              <a:t>MyServlet</a:t>
            </a:r>
            <a:r>
              <a:rPr lang="en-US" sz="2400" i="1" dirty="0" smtClean="0"/>
              <a:t> implements </a:t>
            </a:r>
            <a:r>
              <a:rPr lang="en-US" sz="2400" i="1" dirty="0" err="1" smtClean="0"/>
              <a:t>Servlet</a:t>
            </a:r>
            <a:r>
              <a:rPr lang="en-US" sz="2400" i="1" dirty="0" smtClean="0"/>
              <a:t> {</a:t>
            </a:r>
          </a:p>
          <a:p>
            <a:pPr fontAlgn="base"/>
            <a:r>
              <a:rPr lang="en-US" sz="2400" i="1" dirty="0" smtClean="0"/>
              <a:t>	public void service(</a:t>
            </a:r>
            <a:r>
              <a:rPr lang="en-US" sz="2400" i="1" dirty="0" err="1" smtClean="0"/>
              <a:t>ServletRequest</a:t>
            </a:r>
            <a:r>
              <a:rPr lang="en-US" sz="2400" i="1" dirty="0" smtClean="0"/>
              <a:t> </a:t>
            </a:r>
            <a:r>
              <a:rPr lang="en-US" sz="2400" i="1" dirty="0" err="1" smtClean="0"/>
              <a:t>req</a:t>
            </a:r>
            <a:r>
              <a:rPr lang="en-US" sz="2400" i="1" dirty="0" smtClean="0"/>
              <a:t>,</a:t>
            </a:r>
          </a:p>
          <a:p>
            <a:pPr fontAlgn="base"/>
            <a:r>
              <a:rPr lang="en-US" sz="2400" i="1" dirty="0" smtClean="0"/>
              <a:t>	</a:t>
            </a:r>
            <a:r>
              <a:rPr lang="en-US" sz="2400" i="1" dirty="0" err="1" smtClean="0"/>
              <a:t>ServletResponse</a:t>
            </a:r>
            <a:r>
              <a:rPr lang="en-US" sz="2400" i="1" dirty="0" smtClean="0"/>
              <a:t> res) throws </a:t>
            </a:r>
            <a:r>
              <a:rPr lang="en-US" sz="2400" i="1" dirty="0" err="1" smtClean="0"/>
              <a:t>ServletException</a:t>
            </a:r>
            <a:r>
              <a:rPr lang="en-US" sz="2400" i="1" dirty="0" smtClean="0"/>
              <a:t>, 	</a:t>
            </a:r>
            <a:r>
              <a:rPr lang="en-US" sz="2400" i="1" dirty="0" err="1" smtClean="0"/>
              <a:t>IOException</a:t>
            </a:r>
            <a:endParaRPr lang="en-US" sz="2400" i="1" dirty="0" smtClean="0"/>
          </a:p>
          <a:p>
            <a:pPr fontAlgn="base"/>
            <a:r>
              <a:rPr lang="en-US" sz="2400" i="1" dirty="0" smtClean="0"/>
              <a:t>	{</a:t>
            </a:r>
          </a:p>
          <a:p>
            <a:pPr fontAlgn="base"/>
            <a:r>
              <a:rPr lang="en-US" sz="2400" i="1" dirty="0" smtClean="0"/>
              <a:t>		// request handling code</a:t>
            </a:r>
          </a:p>
          <a:p>
            <a:pPr fontAlgn="base"/>
            <a:r>
              <a:rPr lang="en-US" sz="2400" i="1" dirty="0" smtClean="0"/>
              <a:t>	}</a:t>
            </a:r>
          </a:p>
          <a:p>
            <a:pPr fontAlgn="base"/>
            <a:r>
              <a:rPr lang="en-US" sz="2400" i="1" dirty="0" smtClean="0"/>
              <a:t>	// rest of code</a:t>
            </a:r>
          </a:p>
          <a:p>
            <a:pPr fontAlgn="base"/>
            <a:r>
              <a:rPr lang="en-US" sz="2400" i="1" dirty="0" smtClean="0"/>
              <a:t>}</a:t>
            </a:r>
          </a:p>
          <a:p>
            <a:r>
              <a:rPr lang="en-US" sz="2400" dirty="0" smtClean="0"/>
              <a:t/>
            </a:r>
            <a:br>
              <a:rPr lang="en-US" sz="2400" dirty="0" smtClean="0"/>
            </a:br>
            <a:endParaRPr lang="en-US" sz="2400" b="1" dirty="0" smtClean="0"/>
          </a:p>
          <a:p>
            <a:pPr marL="457200" indent="-457200" fontAlgn="base"/>
            <a:endParaRPr lang="en-US" sz="2400" b="1"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fontAlgn="base">
              <a:buFont typeface="+mj-lt"/>
              <a:buAutoNum type="arabicPeriod" startAt="3"/>
            </a:pPr>
            <a:r>
              <a:rPr lang="en-US" sz="2400" b="1" dirty="0" smtClean="0"/>
              <a:t>destroy() Method</a:t>
            </a:r>
          </a:p>
          <a:p>
            <a:pPr fontAlgn="base"/>
            <a:endParaRPr lang="en-US" sz="2400" b="1" dirty="0" smtClean="0"/>
          </a:p>
          <a:p>
            <a:pPr algn="just" fontAlgn="base"/>
            <a:r>
              <a:rPr lang="en-US" sz="2400" dirty="0" smtClean="0"/>
              <a:t>This method runs only once during the lifetime of a  signals the end of the </a:t>
            </a:r>
            <a:r>
              <a:rPr lang="en-US" sz="2400" dirty="0" err="1" smtClean="0"/>
              <a:t>Servlet</a:t>
            </a:r>
            <a:r>
              <a:rPr lang="en-US" sz="2400" dirty="0" smtClean="0"/>
              <a:t> instance.</a:t>
            </a:r>
          </a:p>
          <a:p>
            <a:pPr fontAlgn="base"/>
            <a:endParaRPr lang="en-US" sz="2400" i="1" dirty="0" smtClean="0"/>
          </a:p>
          <a:p>
            <a:pPr fontAlgn="base"/>
            <a:r>
              <a:rPr lang="en-US" sz="2400" i="1" dirty="0" smtClean="0"/>
              <a:t>// destroy() method</a:t>
            </a:r>
          </a:p>
          <a:p>
            <a:pPr fontAlgn="base"/>
            <a:r>
              <a:rPr lang="en-US" sz="2400" i="1" dirty="0" smtClean="0"/>
              <a:t>public void destroy()</a:t>
            </a:r>
          </a:p>
          <a:p>
            <a:pPr fontAlgn="base"/>
            <a:r>
              <a:rPr lang="en-US" sz="2400" i="1" dirty="0" smtClean="0"/>
              <a:t>{</a:t>
            </a:r>
          </a:p>
          <a:p>
            <a:pPr fontAlgn="base"/>
            <a:r>
              <a:rPr lang="en-US" sz="2400" i="1" dirty="0" smtClean="0"/>
              <a:t>	// code</a:t>
            </a:r>
          </a:p>
          <a:p>
            <a:pPr fontAlgn="base"/>
            <a:r>
              <a:rPr lang="en-US" sz="2400" i="1" dirty="0" smtClean="0"/>
              <a:t>}</a:t>
            </a:r>
          </a:p>
          <a:p>
            <a:pPr algn="just" fontAlgn="base"/>
            <a:endParaRPr lang="en-US" sz="2400" b="1" dirty="0" smtClean="0"/>
          </a:p>
          <a:p>
            <a:r>
              <a:rPr lang="en-US" sz="2400" dirty="0" smtClean="0"/>
              <a:t/>
            </a:r>
            <a:br>
              <a:rPr lang="en-US" sz="2400" dirty="0" smtClean="0"/>
            </a:br>
            <a:endParaRPr lang="en-US" sz="2400" b="1" dirty="0" smtClean="0"/>
          </a:p>
          <a:p>
            <a:pPr marL="457200" indent="-457200" fontAlgn="base"/>
            <a:endParaRPr lang="en-US" sz="2400" b="1"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t>
            </a:r>
            <a:r>
              <a:rPr lang="en-US" sz="2400" b="1" dirty="0" err="1" smtClean="0">
                <a:solidFill>
                  <a:schemeClr val="dk2"/>
                </a:solidFill>
                <a:latin typeface="Calibri"/>
                <a:cs typeface="Calibri"/>
                <a:sym typeface="Calibri"/>
              </a:rPr>
              <a:t>LifeCycle</a:t>
            </a:r>
            <a:r>
              <a:rPr lang="en-US" sz="2400" b="1" dirty="0" smtClean="0">
                <a:solidFill>
                  <a:schemeClr val="dk2"/>
                </a:solidFill>
                <a:latin typeface="Calibri"/>
                <a:cs typeface="Calibri"/>
                <a:sym typeface="Calibri"/>
              </a:rPr>
              <a:t> Methods</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457200" indent="-457200" algn="just" fontAlgn="base">
              <a:buFont typeface="+mj-lt"/>
              <a:buAutoNum type="arabicPeriod" startAt="3"/>
            </a:pPr>
            <a:r>
              <a:rPr lang="en-US" sz="2400" b="1" dirty="0" smtClean="0"/>
              <a:t>destroy() Method</a:t>
            </a:r>
          </a:p>
          <a:p>
            <a:pPr algn="just" fontAlgn="base"/>
            <a:endParaRPr lang="en-US" sz="2400" b="1" dirty="0" smtClean="0"/>
          </a:p>
          <a:p>
            <a:pPr marL="360363" indent="-360363" algn="just" fontAlgn="base">
              <a:buFont typeface="Arial" pitchFamily="34" charset="0"/>
              <a:buChar char="•"/>
            </a:pPr>
            <a:r>
              <a:rPr lang="en-US" sz="2400" dirty="0" smtClean="0"/>
              <a:t>The destroy() method is called only once.</a:t>
            </a:r>
          </a:p>
          <a:p>
            <a:pPr marL="360363" indent="-360363" algn="just" fontAlgn="base">
              <a:buFont typeface="Arial" pitchFamily="34" charset="0"/>
              <a:buChar char="•"/>
            </a:pPr>
            <a:r>
              <a:rPr lang="en-US" sz="2400" dirty="0" smtClean="0"/>
              <a:t>It is called at the end of the life cycle of the </a:t>
            </a:r>
            <a:r>
              <a:rPr lang="en-US" sz="2400" dirty="0" err="1" smtClean="0"/>
              <a:t>servlet</a:t>
            </a:r>
            <a:r>
              <a:rPr lang="en-US" sz="2400" dirty="0" smtClean="0"/>
              <a:t>.</a:t>
            </a:r>
          </a:p>
          <a:p>
            <a:pPr marL="360363" indent="-360363" algn="just" fontAlgn="base">
              <a:buFont typeface="Arial" pitchFamily="34" charset="0"/>
              <a:buChar char="•"/>
            </a:pPr>
            <a:r>
              <a:rPr lang="en-US" sz="2400" dirty="0" smtClean="0"/>
              <a:t>This method performs various tasks such as closing connection with the database, releasing memory allocated to the </a:t>
            </a:r>
            <a:r>
              <a:rPr lang="en-US" sz="2400" dirty="0" err="1" smtClean="0"/>
              <a:t>servlet</a:t>
            </a:r>
            <a:r>
              <a:rPr lang="en-US" sz="2400" dirty="0" smtClean="0"/>
              <a:t>, releasing resources that are allocated to the </a:t>
            </a:r>
            <a:r>
              <a:rPr lang="en-US" sz="2400" dirty="0" err="1" smtClean="0"/>
              <a:t>servlet</a:t>
            </a:r>
            <a:r>
              <a:rPr lang="en-US" sz="2400" dirty="0" smtClean="0"/>
              <a:t> and other cleanup activities.</a:t>
            </a:r>
          </a:p>
          <a:p>
            <a:pPr marL="360363" indent="-360363" algn="just" fontAlgn="base">
              <a:buFont typeface="Arial" pitchFamily="34" charset="0"/>
              <a:buChar char="•"/>
            </a:pPr>
            <a:r>
              <a:rPr lang="en-US" sz="2400" dirty="0" smtClean="0"/>
              <a:t>After destroy() method the </a:t>
            </a:r>
            <a:r>
              <a:rPr lang="en-US" sz="2400" dirty="0" err="1" smtClean="0"/>
              <a:t>Servlet</a:t>
            </a:r>
            <a:r>
              <a:rPr lang="en-US" sz="2400" dirty="0" smtClean="0"/>
              <a:t> instance becomes eligible for garbage collection.</a:t>
            </a:r>
          </a:p>
          <a:p>
            <a:pPr algn="just" fontAlgn="base"/>
            <a:endParaRPr lang="en-US" sz="2400" b="1" dirty="0" smtClean="0"/>
          </a:p>
          <a:p>
            <a:pPr algn="just"/>
            <a:r>
              <a:rPr lang="en-US" sz="2400" dirty="0" smtClean="0"/>
              <a:t/>
            </a:r>
            <a:br>
              <a:rPr lang="en-US" sz="2400" dirty="0" smtClean="0"/>
            </a:br>
            <a:endParaRPr lang="en-US" sz="2400" b="1" dirty="0" smtClean="0"/>
          </a:p>
          <a:p>
            <a:pPr marL="457200" indent="-457200" algn="just" fontAlgn="base"/>
            <a:endParaRPr lang="en-US" sz="2400" b="1"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360363" indent="-360363" algn="just" fontAlgn="base">
              <a:buFont typeface="Arial" pitchFamily="34" charset="0"/>
              <a:buChar char="•"/>
            </a:pPr>
            <a:r>
              <a:rPr lang="en-US" sz="2400" dirty="0" err="1" smtClean="0"/>
              <a:t>Servlets</a:t>
            </a:r>
            <a:r>
              <a:rPr lang="en-US" sz="2400" dirty="0" smtClean="0"/>
              <a:t> are the Java programs that run on the Java-enabled web server or application server. </a:t>
            </a:r>
          </a:p>
          <a:p>
            <a:pPr marL="360363" indent="-360363" algn="just" fontAlgn="base">
              <a:buFont typeface="Arial" pitchFamily="34" charset="0"/>
              <a:buChar char="•"/>
            </a:pPr>
            <a:r>
              <a:rPr lang="en-US" sz="2400" dirty="0" smtClean="0"/>
              <a:t>They are used to handle the request obtained from the </a:t>
            </a:r>
            <a:r>
              <a:rPr lang="en-US" sz="2400" dirty="0" err="1" smtClean="0"/>
              <a:t>webserver</a:t>
            </a:r>
            <a:r>
              <a:rPr lang="en-US" sz="2400" dirty="0" smtClean="0"/>
              <a:t>, process the request, produce the response, then send a response back to the </a:t>
            </a:r>
            <a:r>
              <a:rPr lang="en-US" sz="2400" dirty="0" err="1" smtClean="0"/>
              <a:t>webserver</a:t>
            </a:r>
            <a:r>
              <a:rPr lang="en-US" sz="2400" dirty="0" smtClean="0"/>
              <a:t>. </a:t>
            </a:r>
          </a:p>
          <a:p>
            <a:pPr marL="360363" indent="-360363" algn="just" fontAlgn="base">
              <a:buFont typeface="Arial" pitchFamily="34" charset="0"/>
              <a:buChar char="•"/>
            </a:pPr>
            <a:r>
              <a:rPr lang="en-US" sz="2400" dirty="0" smtClean="0"/>
              <a:t>In Java, to create web applications we use </a:t>
            </a:r>
            <a:r>
              <a:rPr lang="en-US" sz="2400" dirty="0" err="1" smtClean="0"/>
              <a:t>Servlets</a:t>
            </a:r>
            <a:r>
              <a:rPr lang="en-US" sz="2400" dirty="0" smtClean="0"/>
              <a:t>. </a:t>
            </a:r>
          </a:p>
          <a:p>
            <a:pPr marL="360363" indent="-360363" algn="just" fontAlgn="base">
              <a:buFont typeface="Arial" pitchFamily="34" charset="0"/>
              <a:buChar char="•"/>
            </a:pPr>
            <a:r>
              <a:rPr lang="en-US" sz="2400" dirty="0" smtClean="0"/>
              <a:t>To create Java </a:t>
            </a:r>
            <a:r>
              <a:rPr lang="en-US" sz="2400" dirty="0" err="1" smtClean="0"/>
              <a:t>Servlets</a:t>
            </a:r>
            <a:r>
              <a:rPr lang="en-US" sz="2400" dirty="0" smtClean="0"/>
              <a:t>, we need to use </a:t>
            </a:r>
            <a:r>
              <a:rPr lang="en-US" sz="2400" dirty="0" err="1" smtClean="0"/>
              <a:t>Servlet</a:t>
            </a:r>
            <a:r>
              <a:rPr lang="en-US" sz="2400" dirty="0" smtClean="0"/>
              <a:t> API which contains all the necessary interfaces and classes. </a:t>
            </a:r>
            <a:r>
              <a:rPr lang="en-US" sz="2400" dirty="0" err="1" smtClean="0"/>
              <a:t>Servlet</a:t>
            </a:r>
            <a:r>
              <a:rPr lang="en-US" sz="2400" dirty="0" smtClean="0"/>
              <a:t> API has 2 packages namely,</a:t>
            </a:r>
          </a:p>
          <a:p>
            <a:pPr marL="360363" indent="-360363" algn="just" fontAlgn="base">
              <a:buFont typeface="Arial" pitchFamily="34" charset="0"/>
              <a:buChar char="•"/>
            </a:pPr>
            <a:endParaRPr lang="en-US" sz="2400" dirty="0" smtClean="0"/>
          </a:p>
          <a:p>
            <a:pPr marL="1079500" indent="-360363" algn="just" fontAlgn="base">
              <a:buFont typeface="+mj-lt"/>
              <a:buAutoNum type="arabicPeriod"/>
            </a:pPr>
            <a:r>
              <a:rPr lang="en-US" sz="2400" dirty="0" err="1" smtClean="0"/>
              <a:t>javax.servlet</a:t>
            </a:r>
            <a:endParaRPr lang="en-US" sz="2400" dirty="0" smtClean="0"/>
          </a:p>
          <a:p>
            <a:pPr marL="1079500" indent="-360363" algn="just" fontAlgn="base">
              <a:buFont typeface="+mj-lt"/>
              <a:buAutoNum type="arabicPeriod"/>
            </a:pPr>
            <a:r>
              <a:rPr lang="en-US" sz="2400" dirty="0" err="1" smtClean="0"/>
              <a:t>javax.servlet.http</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marL="360363" indent="-360363" algn="just" fontAlgn="base">
              <a:buFont typeface="Arial" pitchFamily="34" charset="0"/>
              <a:buChar char="•"/>
            </a:pPr>
            <a:r>
              <a:rPr lang="en-US" sz="2400" b="1" dirty="0" err="1" smtClean="0"/>
              <a:t>javax.servlet</a:t>
            </a:r>
            <a:endParaRPr lang="en-US" sz="2400" b="1" dirty="0" smtClean="0"/>
          </a:p>
          <a:p>
            <a:pPr marL="360363" indent="-360363" algn="just" fontAlgn="base"/>
            <a:endParaRPr lang="en-US" sz="2400" b="1" dirty="0" smtClean="0"/>
          </a:p>
          <a:p>
            <a:pPr marL="719138" indent="-358775" algn="just" fontAlgn="base">
              <a:buFont typeface="Arial" pitchFamily="34" charset="0"/>
              <a:buChar char="•"/>
            </a:pPr>
            <a:r>
              <a:rPr lang="en-US" sz="2400" dirty="0" smtClean="0"/>
              <a:t>This package provides the number of interfaces and classes to support Generic </a:t>
            </a:r>
            <a:r>
              <a:rPr lang="en-US" sz="2400" dirty="0" err="1" smtClean="0"/>
              <a:t>servlet</a:t>
            </a:r>
            <a:r>
              <a:rPr lang="en-US" sz="2400" dirty="0" smtClean="0"/>
              <a:t> which is protocol independent.</a:t>
            </a:r>
          </a:p>
          <a:p>
            <a:pPr marL="719138" indent="-358775" algn="just" fontAlgn="base">
              <a:buFont typeface="Arial" pitchFamily="34" charset="0"/>
              <a:buChar char="•"/>
            </a:pPr>
            <a:r>
              <a:rPr lang="en-US" sz="2400" dirty="0" smtClean="0"/>
              <a:t>These interfaces and classes describe and define the contracts between a </a:t>
            </a:r>
            <a:r>
              <a:rPr lang="en-US" sz="2400" dirty="0" err="1" smtClean="0"/>
              <a:t>servlet</a:t>
            </a:r>
            <a:r>
              <a:rPr lang="en-US" sz="2400" dirty="0" smtClean="0"/>
              <a:t> class and the runtime environment provided by a </a:t>
            </a:r>
            <a:r>
              <a:rPr lang="en-US" sz="2400" dirty="0" err="1" smtClean="0"/>
              <a:t>servlet</a:t>
            </a:r>
            <a:r>
              <a:rPr lang="en-US" sz="2400" dirty="0" smtClean="0"/>
              <a:t> container.</a:t>
            </a:r>
          </a:p>
          <a:p>
            <a:pPr marL="360363" indent="-360363" fontAlgn="base">
              <a:buFont typeface="Arial" pitchFamily="34" charset="0"/>
              <a:buChar char="•"/>
            </a:pPr>
            <a:endParaRPr lang="en-US" sz="2400" b="1" dirty="0" smtClean="0"/>
          </a:p>
          <a:p>
            <a:r>
              <a:rPr lang="en-US" sz="2400" dirty="0" smtClean="0"/>
              <a:t/>
            </a:r>
            <a:br>
              <a:rPr lang="en-US" sz="2400" dirty="0" smtClean="0"/>
            </a:b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javax.servlet</a:t>
            </a:r>
            <a:r>
              <a:rPr lang="en-US" sz="2400" b="1" dirty="0" smtClean="0"/>
              <a:t>: </a:t>
            </a:r>
            <a:r>
              <a:rPr lang="fr-FR" sz="2400" b="1" dirty="0" smtClean="0"/>
              <a:t>Classes </a:t>
            </a:r>
            <a:r>
              <a:rPr lang="fr-FR" sz="2400" b="1" dirty="0" err="1" smtClean="0"/>
              <a:t>available</a:t>
            </a:r>
            <a:r>
              <a:rPr lang="fr-FR" sz="2400" b="1" dirty="0" smtClean="0"/>
              <a:t> in </a:t>
            </a:r>
            <a:r>
              <a:rPr lang="fr-FR" sz="2400" b="1" dirty="0" err="1" smtClean="0"/>
              <a:t>javax.servlet</a:t>
            </a:r>
            <a:r>
              <a:rPr lang="fr-FR" sz="2400" b="1" dirty="0" smtClean="0"/>
              <a:t> package: </a:t>
            </a:r>
          </a:p>
          <a:p>
            <a:pPr algn="just" fontAlgn="base"/>
            <a:endParaRPr lang="fr-FR" sz="2400" b="1" dirty="0" smtClean="0"/>
          </a:p>
          <a:p>
            <a:pPr marL="457200" indent="-457200" algn="just" fontAlgn="base">
              <a:buFont typeface="+mj-lt"/>
              <a:buAutoNum type="arabicPeriod"/>
            </a:pPr>
            <a:r>
              <a:rPr lang="en-US" sz="2400" b="1" dirty="0" err="1" smtClean="0"/>
              <a:t>GenericServlet</a:t>
            </a:r>
            <a:r>
              <a:rPr lang="en-US" sz="2400" b="1" dirty="0" smtClean="0"/>
              <a:t>: </a:t>
            </a:r>
            <a:r>
              <a:rPr lang="en-US" sz="2400" dirty="0" smtClean="0"/>
              <a:t>To define a generic and protocol-independent </a:t>
            </a:r>
            <a:r>
              <a:rPr lang="en-US" sz="2400" dirty="0" err="1" smtClean="0"/>
              <a:t>servlet</a:t>
            </a:r>
            <a:r>
              <a:rPr lang="en-US" sz="2400" dirty="0" smtClean="0"/>
              <a:t>.</a:t>
            </a:r>
          </a:p>
          <a:p>
            <a:pPr marL="457200" indent="-457200" algn="just" fontAlgn="base">
              <a:buFont typeface="+mj-lt"/>
              <a:buAutoNum type="arabicPeriod"/>
            </a:pPr>
            <a:r>
              <a:rPr lang="en-US" sz="2400" b="1" dirty="0" err="1" smtClean="0"/>
              <a:t>ServletContextAttributeEvent</a:t>
            </a:r>
            <a:r>
              <a:rPr lang="en-US" sz="2400" b="1" dirty="0" smtClean="0"/>
              <a:t>:</a:t>
            </a:r>
            <a:r>
              <a:rPr lang="en-US" sz="2400" dirty="0" smtClean="0"/>
              <a:t> To generate notifications about changes to the attributes of the </a:t>
            </a:r>
            <a:r>
              <a:rPr lang="en-US" sz="2400" dirty="0" err="1" smtClean="0"/>
              <a:t>servlet</a:t>
            </a:r>
            <a:r>
              <a:rPr lang="en-US" sz="2400" dirty="0" smtClean="0"/>
              <a:t> context of a web application. </a:t>
            </a:r>
          </a:p>
          <a:p>
            <a:pPr marL="457200" indent="-457200" algn="just" fontAlgn="base">
              <a:buFont typeface="+mj-lt"/>
              <a:buAutoNum type="arabicPeriod"/>
            </a:pPr>
            <a:r>
              <a:rPr lang="en-US" sz="2400" b="1" dirty="0" err="1" smtClean="0"/>
              <a:t>ServletContextEvent</a:t>
            </a:r>
            <a:r>
              <a:rPr lang="en-US" sz="2400" b="1" dirty="0" smtClean="0"/>
              <a:t>:</a:t>
            </a:r>
            <a:r>
              <a:rPr lang="en-US" sz="2400" dirty="0" smtClean="0"/>
              <a:t> To generate notifications about changes to the </a:t>
            </a:r>
            <a:r>
              <a:rPr lang="en-US" sz="2400" dirty="0" err="1" smtClean="0"/>
              <a:t>servlet</a:t>
            </a:r>
            <a:r>
              <a:rPr lang="en-US" sz="2400" dirty="0" smtClean="0"/>
              <a:t> context of a web application.</a:t>
            </a:r>
          </a:p>
          <a:p>
            <a:pPr marL="457200" indent="-457200" algn="just" fontAlgn="base">
              <a:buFont typeface="+mj-lt"/>
              <a:buAutoNum type="arabicPeriod"/>
            </a:pPr>
            <a:r>
              <a:rPr lang="en-US" sz="2400" b="1" dirty="0" err="1" smtClean="0"/>
              <a:t>ServletInputStream</a:t>
            </a:r>
            <a:r>
              <a:rPr lang="en-US" sz="2400" b="1" dirty="0" smtClean="0"/>
              <a:t>: </a:t>
            </a:r>
            <a:r>
              <a:rPr lang="en-US" sz="2400" dirty="0" smtClean="0"/>
              <a:t>This class provides an input stream to read binary data from a client request.</a:t>
            </a:r>
            <a:endParaRPr lang="en-US" sz="2400" b="1"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javax.servlet</a:t>
            </a:r>
            <a:r>
              <a:rPr lang="en-US" sz="2400" b="1" dirty="0" smtClean="0"/>
              <a:t>: </a:t>
            </a:r>
            <a:r>
              <a:rPr lang="fr-FR" sz="2400" b="1" dirty="0" smtClean="0"/>
              <a:t>Classes </a:t>
            </a:r>
            <a:r>
              <a:rPr lang="fr-FR" sz="2400" b="1" dirty="0" err="1" smtClean="0"/>
              <a:t>available</a:t>
            </a:r>
            <a:r>
              <a:rPr lang="fr-FR" sz="2400" b="1" dirty="0" smtClean="0"/>
              <a:t> in </a:t>
            </a:r>
            <a:r>
              <a:rPr lang="fr-FR" sz="2400" b="1" dirty="0" err="1" smtClean="0"/>
              <a:t>javax.servlet</a:t>
            </a:r>
            <a:r>
              <a:rPr lang="fr-FR" sz="2400" b="1" dirty="0" smtClean="0"/>
              <a:t> package: </a:t>
            </a:r>
          </a:p>
          <a:p>
            <a:pPr marL="457200" indent="-457200" algn="just" fontAlgn="base">
              <a:buFont typeface="+mj-lt"/>
              <a:buAutoNum type="arabicPeriod"/>
            </a:pPr>
            <a:endParaRPr lang="en-US" sz="2400" dirty="0" smtClean="0"/>
          </a:p>
          <a:p>
            <a:pPr marL="457200" indent="-457200" algn="just" fontAlgn="base">
              <a:buFont typeface="+mj-lt"/>
              <a:buAutoNum type="arabicPeriod" startAt="5"/>
            </a:pPr>
            <a:r>
              <a:rPr lang="en-US" sz="2400" b="1" dirty="0" err="1" smtClean="0"/>
              <a:t>ServletOutputStream</a:t>
            </a:r>
            <a:r>
              <a:rPr lang="en-US" sz="2400" b="1" dirty="0" smtClean="0"/>
              <a:t>:</a:t>
            </a:r>
            <a:r>
              <a:rPr lang="en-US" sz="2400" dirty="0" smtClean="0"/>
              <a:t> This class provides an output stream for sending binary data to the client.</a:t>
            </a:r>
          </a:p>
          <a:p>
            <a:pPr marL="457200" indent="-457200" algn="just" fontAlgn="base">
              <a:buFont typeface="+mj-lt"/>
              <a:buAutoNum type="arabicPeriod" startAt="5"/>
            </a:pPr>
            <a:r>
              <a:rPr lang="en-US" sz="2400" b="1" dirty="0" err="1" smtClean="0"/>
              <a:t>ServletRequestAttributeEvent</a:t>
            </a:r>
            <a:r>
              <a:rPr lang="en-US" sz="2400" b="1" dirty="0" smtClean="0"/>
              <a:t>:</a:t>
            </a:r>
            <a:r>
              <a:rPr lang="en-US" sz="2400" dirty="0" smtClean="0"/>
              <a:t> To generate notifications about changes to the attributes of the </a:t>
            </a:r>
            <a:r>
              <a:rPr lang="en-US" sz="2400" dirty="0" err="1" smtClean="0"/>
              <a:t>servlet</a:t>
            </a:r>
            <a:r>
              <a:rPr lang="en-US" sz="2400" dirty="0" smtClean="0"/>
              <a:t> request in an application.</a:t>
            </a:r>
          </a:p>
          <a:p>
            <a:pPr marL="457200" indent="-457200" fontAlgn="base">
              <a:buFont typeface="+mj-lt"/>
              <a:buAutoNum type="arabicPeriod" startAt="5"/>
            </a:pPr>
            <a:r>
              <a:rPr lang="en-US" sz="2400" b="1" dirty="0" err="1" smtClean="0"/>
              <a:t>ServletRequestEvent</a:t>
            </a:r>
            <a:r>
              <a:rPr lang="en-US" sz="2400" b="1" dirty="0" smtClean="0"/>
              <a:t>: </a:t>
            </a:r>
            <a:r>
              <a:rPr lang="en-US" sz="2400" dirty="0" smtClean="0"/>
              <a:t>To indicate lifecycle events for a </a:t>
            </a:r>
            <a:r>
              <a:rPr lang="en-US" sz="2400" dirty="0" err="1" smtClean="0"/>
              <a:t>ServletRequest</a:t>
            </a:r>
            <a:r>
              <a:rPr lang="en-US" sz="2400" dirty="0" smtClean="0"/>
              <a:t>.</a:t>
            </a:r>
            <a:br>
              <a:rPr lang="en-US" sz="2400" dirty="0" smtClean="0"/>
            </a:br>
            <a:endParaRPr lang="en-US" sz="2400" b="1"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91975"/>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javax.servlet</a:t>
            </a:r>
            <a:r>
              <a:rPr lang="en-US" sz="2400" b="1" dirty="0" smtClean="0"/>
              <a:t>: </a:t>
            </a:r>
            <a:r>
              <a:rPr lang="fr-FR" sz="2400" b="1" dirty="0" smtClean="0"/>
              <a:t>Classes </a:t>
            </a:r>
            <a:r>
              <a:rPr lang="fr-FR" sz="2400" b="1" dirty="0" err="1" smtClean="0"/>
              <a:t>available</a:t>
            </a:r>
            <a:r>
              <a:rPr lang="fr-FR" sz="2400" b="1" dirty="0" smtClean="0"/>
              <a:t> in </a:t>
            </a:r>
            <a:r>
              <a:rPr lang="fr-FR" sz="2400" b="1" dirty="0" err="1" smtClean="0"/>
              <a:t>javax.servlet</a:t>
            </a:r>
            <a:r>
              <a:rPr lang="fr-FR" sz="2400" b="1" dirty="0" smtClean="0"/>
              <a:t> package: </a:t>
            </a:r>
          </a:p>
          <a:p>
            <a:pPr marL="457200" indent="-457200" algn="just" fontAlgn="base">
              <a:buFont typeface="+mj-lt"/>
              <a:buAutoNum type="arabicPeriod"/>
            </a:pPr>
            <a:endParaRPr lang="en-US" sz="2400" dirty="0" smtClean="0"/>
          </a:p>
          <a:p>
            <a:pPr marL="457200" indent="-457200" algn="just" fontAlgn="base">
              <a:buFont typeface="+mj-lt"/>
              <a:buAutoNum type="arabicPeriod" startAt="8"/>
            </a:pPr>
            <a:r>
              <a:rPr lang="en-US" sz="2400" b="1" dirty="0" err="1" smtClean="0"/>
              <a:t>ServletRequestWrapper</a:t>
            </a:r>
            <a:r>
              <a:rPr lang="en-US" sz="2400" b="1" dirty="0" smtClean="0"/>
              <a:t> : </a:t>
            </a:r>
            <a:r>
              <a:rPr lang="en-US" sz="2400" dirty="0" smtClean="0"/>
              <a:t>This class provides the implementation of the </a:t>
            </a:r>
            <a:r>
              <a:rPr lang="en-US" sz="2400" dirty="0" err="1" smtClean="0"/>
              <a:t>ServletRequest</a:t>
            </a:r>
            <a:r>
              <a:rPr lang="en-US" sz="2400" dirty="0" smtClean="0"/>
              <a:t> interface that can be </a:t>
            </a:r>
            <a:r>
              <a:rPr lang="en-US" sz="2400" dirty="0" err="1" smtClean="0"/>
              <a:t>subclassed</a:t>
            </a:r>
            <a:r>
              <a:rPr lang="en-US" sz="2400" dirty="0" smtClean="0"/>
              <a:t> by developers to adapt the request to a </a:t>
            </a:r>
            <a:r>
              <a:rPr lang="en-US" sz="2400" dirty="0" err="1" smtClean="0"/>
              <a:t>Servlet</a:t>
            </a:r>
            <a:r>
              <a:rPr lang="en-US" sz="2400" dirty="0" smtClean="0"/>
              <a:t>.</a:t>
            </a:r>
          </a:p>
          <a:p>
            <a:pPr marL="457200" indent="-457200" algn="just" fontAlgn="base">
              <a:buFont typeface="+mj-lt"/>
              <a:buAutoNum type="arabicPeriod" startAt="8"/>
            </a:pPr>
            <a:r>
              <a:rPr lang="en-US" sz="2400" b="1" dirty="0" err="1" smtClean="0"/>
              <a:t>ServletResponseWrapper</a:t>
            </a:r>
            <a:r>
              <a:rPr lang="en-US" sz="2400" b="1" dirty="0" smtClean="0"/>
              <a:t>:</a:t>
            </a:r>
            <a:r>
              <a:rPr lang="en-US" sz="2400" dirty="0" smtClean="0"/>
              <a:t> This class provides the implementation of the </a:t>
            </a:r>
            <a:r>
              <a:rPr lang="en-US" sz="2400" dirty="0" err="1" smtClean="0"/>
              <a:t>ServletResponse</a:t>
            </a:r>
            <a:r>
              <a:rPr lang="en-US" sz="2400" dirty="0" smtClean="0"/>
              <a:t> interface that can be </a:t>
            </a:r>
            <a:r>
              <a:rPr lang="en-US" sz="2400" dirty="0" err="1" smtClean="0"/>
              <a:t>subclassed</a:t>
            </a:r>
            <a:r>
              <a:rPr lang="en-US" sz="2400" dirty="0" smtClean="0"/>
              <a:t> by developers to adapt the response from a </a:t>
            </a:r>
            <a:r>
              <a:rPr lang="en-US" sz="2400" dirty="0" err="1" smtClean="0"/>
              <a:t>Servlet</a:t>
            </a:r>
            <a:r>
              <a:rPr lang="en-US" sz="2400" dirty="0" smtClean="0"/>
              <a:t>.</a:t>
            </a:r>
            <a:endParaRPr lang="en-US" sz="2400" b="1"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a:t>
            </a:r>
            <a:r>
              <a:rPr lang="en-US" sz="2400" b="1" dirty="0" smtClean="0"/>
              <a:t>: </a:t>
            </a:r>
            <a:r>
              <a:rPr lang="fr-FR" sz="2400" b="1" dirty="0" smtClean="0"/>
              <a:t>Interfaces </a:t>
            </a:r>
            <a:r>
              <a:rPr lang="fr-FR" sz="2400" b="1" dirty="0" err="1" smtClean="0"/>
              <a:t>available</a:t>
            </a:r>
            <a:r>
              <a:rPr lang="fr-FR" sz="2400" b="1" dirty="0" smtClean="0"/>
              <a:t> in </a:t>
            </a:r>
            <a:r>
              <a:rPr lang="fr-FR" sz="2400" b="1" dirty="0" err="1" smtClean="0"/>
              <a:t>javax.servlet</a:t>
            </a:r>
            <a:r>
              <a:rPr lang="fr-FR" sz="2400" b="1" dirty="0" smtClean="0"/>
              <a:t> package: </a:t>
            </a:r>
          </a:p>
          <a:p>
            <a:pPr marL="457200" indent="-457200" algn="just" fontAlgn="base">
              <a:buFont typeface="+mj-lt"/>
              <a:buAutoNum type="arabicPeriod"/>
            </a:pPr>
            <a:r>
              <a:rPr lang="en-US" sz="2400" b="1" dirty="0" smtClean="0"/>
              <a:t>Filter: </a:t>
            </a:r>
            <a:r>
              <a:rPr lang="en-US" sz="2400" dirty="0" smtClean="0"/>
              <a:t>To perform filtering tasks on either the request to a resource, or on the response from a resource, or both.</a:t>
            </a:r>
            <a:endParaRPr lang="en-US" sz="2400" b="1" dirty="0" smtClean="0"/>
          </a:p>
          <a:p>
            <a:pPr marL="457200" indent="-457200" algn="just" fontAlgn="base">
              <a:buFont typeface="+mj-lt"/>
              <a:buAutoNum type="arabicPeriod"/>
            </a:pPr>
            <a:r>
              <a:rPr lang="en-US" sz="2400" b="1" dirty="0" err="1" smtClean="0"/>
              <a:t>FilterChain</a:t>
            </a:r>
            <a:r>
              <a:rPr lang="en-US" sz="2400" b="1" dirty="0" smtClean="0"/>
              <a:t>: </a:t>
            </a:r>
            <a:r>
              <a:rPr lang="en-US" sz="2400" dirty="0" smtClean="0"/>
              <a:t>To provide a view into the invocation chain of a filtered request for a resource to the developer by the </a:t>
            </a:r>
            <a:r>
              <a:rPr lang="en-US" sz="2400" dirty="0" err="1" smtClean="0"/>
              <a:t>servlet</a:t>
            </a:r>
            <a:r>
              <a:rPr lang="en-US" sz="2400" dirty="0" smtClean="0"/>
              <a:t> container.</a:t>
            </a:r>
            <a:endParaRPr lang="en-US" sz="2400" b="1" dirty="0" smtClean="0"/>
          </a:p>
          <a:p>
            <a:pPr marL="457200" indent="-457200" algn="just" fontAlgn="base">
              <a:buFont typeface="+mj-lt"/>
              <a:buAutoNum type="arabicPeriod"/>
            </a:pPr>
            <a:r>
              <a:rPr lang="en-US" sz="2400" b="1" dirty="0" err="1" smtClean="0"/>
              <a:t>FilterConfig</a:t>
            </a:r>
            <a:r>
              <a:rPr lang="en-US" sz="2400" b="1" dirty="0" smtClean="0"/>
              <a:t>: </a:t>
            </a:r>
            <a:r>
              <a:rPr lang="en-US" sz="2400" dirty="0" smtClean="0"/>
              <a:t>To pass information to a filter during initialization used by a </a:t>
            </a:r>
            <a:r>
              <a:rPr lang="en-US" sz="2400" dirty="0" err="1" smtClean="0"/>
              <a:t>servlet</a:t>
            </a:r>
            <a:r>
              <a:rPr lang="en-US" sz="2400" dirty="0" smtClean="0"/>
              <a:t> container.</a:t>
            </a:r>
          </a:p>
          <a:p>
            <a:pPr marL="457200" indent="-457200" algn="just" fontAlgn="base">
              <a:buFont typeface="+mj-lt"/>
              <a:buAutoNum type="arabicPeriod"/>
            </a:pPr>
            <a:r>
              <a:rPr lang="en-US" sz="2400" b="1" dirty="0" err="1" smtClean="0"/>
              <a:t>RequestDispatcher</a:t>
            </a:r>
            <a:r>
              <a:rPr lang="en-US" sz="2400" b="1" dirty="0" smtClean="0"/>
              <a:t>:</a:t>
            </a:r>
            <a:r>
              <a:rPr lang="en-US" sz="2400" dirty="0" smtClean="0"/>
              <a:t> It defines an object to dispatch the request and response to any other resource, means it receives requests from the client and sends them to a </a:t>
            </a:r>
            <a:r>
              <a:rPr lang="en-US" sz="2400" dirty="0" err="1" smtClean="0"/>
              <a:t>servlet</a:t>
            </a:r>
            <a:r>
              <a:rPr lang="en-US" sz="2400" dirty="0" smtClean="0"/>
              <a:t>/HTML file/JSP file on the server.</a:t>
            </a:r>
            <a:endParaRPr lang="en-US" sz="2400" b="1"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a:t>
            </a:r>
            <a:r>
              <a:rPr lang="en-US" sz="2400" b="1" dirty="0" smtClean="0"/>
              <a:t>: </a:t>
            </a:r>
            <a:r>
              <a:rPr lang="fr-FR" sz="2400" b="1" dirty="0" smtClean="0"/>
              <a:t>Interfaces </a:t>
            </a:r>
            <a:r>
              <a:rPr lang="fr-FR" sz="2400" b="1" dirty="0" err="1" smtClean="0"/>
              <a:t>available</a:t>
            </a:r>
            <a:r>
              <a:rPr lang="fr-FR" sz="2400" b="1" dirty="0" smtClean="0"/>
              <a:t> in </a:t>
            </a:r>
            <a:r>
              <a:rPr lang="fr-FR" sz="2400" b="1" dirty="0" err="1" smtClean="0"/>
              <a:t>javax.servlet</a:t>
            </a:r>
            <a:r>
              <a:rPr lang="fr-FR" sz="2400" b="1" dirty="0" smtClean="0"/>
              <a:t> package: </a:t>
            </a:r>
          </a:p>
          <a:p>
            <a:pPr marL="457200" indent="-457200" algn="just" fontAlgn="base">
              <a:buFont typeface="+mj-lt"/>
              <a:buAutoNum type="arabicPeriod" startAt="5"/>
            </a:pPr>
            <a:r>
              <a:rPr lang="en-US" sz="2400" b="1" dirty="0" err="1" smtClean="0"/>
              <a:t>Servlet</a:t>
            </a:r>
            <a:r>
              <a:rPr lang="en-US" sz="2400" b="1" dirty="0" smtClean="0"/>
              <a:t>: </a:t>
            </a:r>
            <a:r>
              <a:rPr lang="en-US" sz="2400" dirty="0" smtClean="0"/>
              <a:t>This is the main interface that defines the methods in which all the </a:t>
            </a:r>
            <a:r>
              <a:rPr lang="en-US" sz="2400" dirty="0" err="1" smtClean="0"/>
              <a:t>servlets</a:t>
            </a:r>
            <a:r>
              <a:rPr lang="en-US" sz="2400" dirty="0" smtClean="0"/>
              <a:t> must implement. To implement this interface, write a generic </a:t>
            </a:r>
            <a:r>
              <a:rPr lang="en-US" sz="2400" dirty="0" err="1" smtClean="0"/>
              <a:t>servlet</a:t>
            </a:r>
            <a:r>
              <a:rPr lang="en-US" sz="2400" dirty="0" smtClean="0"/>
              <a:t> that extends </a:t>
            </a:r>
            <a:r>
              <a:rPr lang="en-US" sz="2400" dirty="0" err="1" smtClean="0"/>
              <a:t>javax.servlet.GenericServlet</a:t>
            </a:r>
            <a:r>
              <a:rPr lang="en-US" sz="2400" dirty="0" smtClean="0"/>
              <a:t> or an HTTP </a:t>
            </a:r>
            <a:r>
              <a:rPr lang="en-US" sz="2400" dirty="0" err="1" smtClean="0"/>
              <a:t>servlet</a:t>
            </a:r>
            <a:r>
              <a:rPr lang="en-US" sz="2400" dirty="0" smtClean="0"/>
              <a:t> that extends </a:t>
            </a:r>
            <a:r>
              <a:rPr lang="en-US" sz="2400" dirty="0" err="1" smtClean="0"/>
              <a:t>javax.servlet.http.HttpServlet</a:t>
            </a:r>
            <a:r>
              <a:rPr lang="en-US" sz="2400" dirty="0" smtClean="0"/>
              <a:t>.</a:t>
            </a:r>
            <a:endParaRPr lang="en-US" sz="2400" b="1" dirty="0" smtClean="0"/>
          </a:p>
          <a:p>
            <a:pPr marL="457200" indent="-457200" algn="just" fontAlgn="base">
              <a:buFont typeface="+mj-lt"/>
              <a:buAutoNum type="arabicPeriod" startAt="5"/>
            </a:pPr>
            <a:r>
              <a:rPr lang="en-US" sz="2400" b="1" dirty="0" err="1" smtClean="0"/>
              <a:t>ServletConfig</a:t>
            </a:r>
            <a:r>
              <a:rPr lang="en-US" sz="2400" b="1" dirty="0" smtClean="0"/>
              <a:t>: </a:t>
            </a:r>
            <a:r>
              <a:rPr lang="en-US" sz="2400" dirty="0" smtClean="0"/>
              <a:t>It defines an object created by a </a:t>
            </a:r>
            <a:r>
              <a:rPr lang="en-US" sz="2400" dirty="0" err="1" smtClean="0"/>
              <a:t>servlet</a:t>
            </a:r>
            <a:r>
              <a:rPr lang="en-US" sz="2400" dirty="0" smtClean="0"/>
              <a:t> container at the time of </a:t>
            </a:r>
            <a:r>
              <a:rPr lang="en-US" sz="2400" dirty="0" err="1" smtClean="0"/>
              <a:t>servlet</a:t>
            </a:r>
            <a:r>
              <a:rPr lang="en-US" sz="2400" dirty="0" smtClean="0"/>
              <a:t> instantiation and to pass information to the </a:t>
            </a:r>
            <a:r>
              <a:rPr lang="en-US" sz="2400" dirty="0" err="1" smtClean="0"/>
              <a:t>servlet</a:t>
            </a:r>
            <a:r>
              <a:rPr lang="en-US" sz="2400" dirty="0" smtClean="0"/>
              <a:t> during initialization.</a:t>
            </a:r>
            <a:endParaRPr lang="en-US" sz="2400" b="1"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a:t>
            </a:r>
            <a:r>
              <a:rPr lang="en-US" sz="2400" b="1" dirty="0" smtClean="0"/>
              <a:t>: </a:t>
            </a:r>
            <a:r>
              <a:rPr lang="fr-FR" sz="2400" b="1" dirty="0" smtClean="0"/>
              <a:t>Interfaces </a:t>
            </a:r>
            <a:r>
              <a:rPr lang="fr-FR" sz="2400" b="1" dirty="0" err="1" smtClean="0"/>
              <a:t>available</a:t>
            </a:r>
            <a:r>
              <a:rPr lang="fr-FR" sz="2400" b="1" dirty="0" smtClean="0"/>
              <a:t> in </a:t>
            </a:r>
            <a:r>
              <a:rPr lang="fr-FR" sz="2400" b="1" dirty="0" err="1" smtClean="0"/>
              <a:t>javax.servlet</a:t>
            </a:r>
            <a:r>
              <a:rPr lang="fr-FR" sz="2400" b="1" dirty="0" smtClean="0"/>
              <a:t> package: </a:t>
            </a:r>
          </a:p>
          <a:p>
            <a:pPr marL="457200" indent="-457200" algn="just" fontAlgn="base">
              <a:buFont typeface="+mj-lt"/>
              <a:buAutoNum type="arabicPeriod" startAt="7"/>
            </a:pPr>
            <a:r>
              <a:rPr lang="en-US" sz="2400" b="1" dirty="0" err="1" smtClean="0"/>
              <a:t>ServletContext</a:t>
            </a:r>
            <a:r>
              <a:rPr lang="en-US" sz="2400" b="1" dirty="0" smtClean="0"/>
              <a:t>: </a:t>
            </a:r>
            <a:r>
              <a:rPr lang="en-US" sz="2400" dirty="0" smtClean="0"/>
              <a:t>It defines a set of methods that a </a:t>
            </a:r>
            <a:r>
              <a:rPr lang="en-US" sz="2400" dirty="0" err="1" smtClean="0"/>
              <a:t>servlet</a:t>
            </a:r>
            <a:r>
              <a:rPr lang="en-US" sz="2400" dirty="0" smtClean="0"/>
              <a:t> uses to communicate with its </a:t>
            </a:r>
            <a:r>
              <a:rPr lang="en-US" sz="2400" dirty="0" err="1" smtClean="0"/>
              <a:t>servlet</a:t>
            </a:r>
            <a:r>
              <a:rPr lang="en-US" sz="2400" dirty="0" smtClean="0"/>
              <a:t> container. The information related to the web application available in web.xml file is stored in </a:t>
            </a:r>
            <a:r>
              <a:rPr lang="en-US" sz="2400" dirty="0" err="1" smtClean="0"/>
              <a:t>ServletContext</a:t>
            </a:r>
            <a:r>
              <a:rPr lang="en-US" sz="2400" dirty="0" smtClean="0"/>
              <a:t> object created by container.</a:t>
            </a:r>
          </a:p>
          <a:p>
            <a:pPr marL="457200" indent="-457200" algn="just" fontAlgn="base">
              <a:buFont typeface="+mj-lt"/>
              <a:buAutoNum type="arabicPeriod" startAt="7"/>
            </a:pPr>
            <a:r>
              <a:rPr lang="en-US" sz="2400" b="1" dirty="0" err="1" smtClean="0"/>
              <a:t>ServletContextAttributeListener</a:t>
            </a:r>
            <a:r>
              <a:rPr lang="en-US" sz="2400" b="1" dirty="0" smtClean="0"/>
              <a:t>: </a:t>
            </a:r>
            <a:r>
              <a:rPr lang="en-US" sz="2400" dirty="0" smtClean="0"/>
              <a:t>The classes that implement this interface receive notifications of changes to the attribute list on the </a:t>
            </a:r>
            <a:r>
              <a:rPr lang="en-US" sz="2400" dirty="0" err="1" smtClean="0"/>
              <a:t>servlet</a:t>
            </a:r>
            <a:r>
              <a:rPr lang="en-US" sz="2400" dirty="0" smtClean="0"/>
              <a:t> context of a web application.</a:t>
            </a:r>
          </a:p>
          <a:p>
            <a:pPr marL="457200" indent="-457200" algn="just" fontAlgn="base"/>
            <a:endParaRPr lang="en-US" sz="2400" b="1"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a:t>
            </a:r>
            <a:r>
              <a:rPr lang="en-US" sz="2400" b="1" dirty="0" smtClean="0"/>
              <a:t>: </a:t>
            </a:r>
            <a:r>
              <a:rPr lang="fr-FR" sz="2400" b="1" dirty="0" smtClean="0"/>
              <a:t>Interfaces </a:t>
            </a:r>
            <a:r>
              <a:rPr lang="fr-FR" sz="2400" b="1" dirty="0" err="1" smtClean="0"/>
              <a:t>available</a:t>
            </a:r>
            <a:r>
              <a:rPr lang="fr-FR" sz="2400" b="1" dirty="0" smtClean="0"/>
              <a:t> in </a:t>
            </a:r>
            <a:r>
              <a:rPr lang="fr-FR" sz="2400" b="1" dirty="0" err="1" smtClean="0"/>
              <a:t>javax.servlet</a:t>
            </a:r>
            <a:r>
              <a:rPr lang="fr-FR" sz="2400" b="1" dirty="0" smtClean="0"/>
              <a:t> package: </a:t>
            </a:r>
          </a:p>
          <a:p>
            <a:pPr marL="457200" indent="-457200" algn="just" fontAlgn="base">
              <a:buFont typeface="+mj-lt"/>
              <a:buAutoNum type="arabicPeriod" startAt="9"/>
            </a:pPr>
            <a:r>
              <a:rPr lang="en-US" sz="2400" b="1" dirty="0" err="1" smtClean="0"/>
              <a:t>ServletRequest</a:t>
            </a:r>
            <a:r>
              <a:rPr lang="en-US" sz="2400" b="1" dirty="0" smtClean="0"/>
              <a:t>: </a:t>
            </a:r>
            <a:r>
              <a:rPr lang="en-US" sz="2400" dirty="0" smtClean="0"/>
              <a:t>It defines an object that is created by </a:t>
            </a:r>
            <a:r>
              <a:rPr lang="en-US" sz="2400" dirty="0" err="1" smtClean="0"/>
              <a:t>servlet</a:t>
            </a:r>
            <a:r>
              <a:rPr lang="en-US" sz="2400" dirty="0" smtClean="0"/>
              <a:t> container to pass client request information to a </a:t>
            </a:r>
            <a:r>
              <a:rPr lang="en-US" sz="2400" dirty="0" err="1" smtClean="0"/>
              <a:t>servlet</a:t>
            </a:r>
            <a:r>
              <a:rPr lang="en-US" sz="2400" dirty="0" smtClean="0"/>
              <a:t>.</a:t>
            </a:r>
            <a:endParaRPr lang="en-US" sz="2400" b="1" dirty="0" smtClean="0"/>
          </a:p>
          <a:p>
            <a:pPr marL="457200" indent="-457200" algn="just" fontAlgn="base">
              <a:buFont typeface="+mj-lt"/>
              <a:buAutoNum type="arabicPeriod" startAt="9"/>
            </a:pPr>
            <a:r>
              <a:rPr lang="en-US" sz="2400" b="1" dirty="0" err="1" smtClean="0"/>
              <a:t>ServletRequestAttributeListener</a:t>
            </a:r>
            <a:r>
              <a:rPr lang="en-US" sz="2400" b="1" dirty="0" smtClean="0"/>
              <a:t>: </a:t>
            </a:r>
            <a:r>
              <a:rPr lang="en-US" sz="2400" dirty="0" smtClean="0"/>
              <a:t>To generate the notifications of request attribute changes while the request is within the scope of the web application in which the listener is registered.</a:t>
            </a:r>
          </a:p>
          <a:p>
            <a:pPr marL="457200" indent="-457200" algn="just" fontAlgn="base">
              <a:buFont typeface="+mj-lt"/>
              <a:buAutoNum type="arabicPeriod" startAt="9"/>
            </a:pPr>
            <a:r>
              <a:rPr lang="en-US" sz="2400" b="1" dirty="0" err="1" smtClean="0"/>
              <a:t>ServletRequestListener</a:t>
            </a:r>
            <a:r>
              <a:rPr lang="en-US" sz="2400" b="1" dirty="0" smtClean="0"/>
              <a:t>: </a:t>
            </a:r>
            <a:r>
              <a:rPr lang="en-US" sz="2400" dirty="0" smtClean="0"/>
              <a:t>To generate the notifications of requests coming in and out of scope in a web component.</a:t>
            </a:r>
            <a:endParaRPr lang="en-US" sz="2400" b="1"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a:t>
            </a:r>
            <a:r>
              <a:rPr lang="en-US" sz="2400" b="1" dirty="0" smtClean="0"/>
              <a:t>: </a:t>
            </a:r>
            <a:r>
              <a:rPr lang="fr-FR" sz="2400" b="1" dirty="0" smtClean="0"/>
              <a:t>Interfaces </a:t>
            </a:r>
            <a:r>
              <a:rPr lang="fr-FR" sz="2400" b="1" dirty="0" err="1" smtClean="0"/>
              <a:t>available</a:t>
            </a:r>
            <a:r>
              <a:rPr lang="fr-FR" sz="2400" b="1" dirty="0" smtClean="0"/>
              <a:t> in </a:t>
            </a:r>
            <a:r>
              <a:rPr lang="fr-FR" sz="2400" b="1" dirty="0" err="1" smtClean="0"/>
              <a:t>javax.servlet</a:t>
            </a:r>
            <a:r>
              <a:rPr lang="fr-FR" sz="2400" b="1" dirty="0" smtClean="0"/>
              <a:t> package: </a:t>
            </a:r>
          </a:p>
          <a:p>
            <a:pPr fontAlgn="base"/>
            <a:endParaRPr lang="fr-FR" sz="2400" b="1" dirty="0" smtClean="0"/>
          </a:p>
          <a:p>
            <a:pPr marL="457200" indent="-457200" algn="just" fontAlgn="base">
              <a:buFont typeface="+mj-lt"/>
              <a:buAutoNum type="arabicPeriod" startAt="12"/>
            </a:pPr>
            <a:r>
              <a:rPr lang="en-US" sz="2400" b="1" dirty="0" err="1" smtClean="0"/>
              <a:t>ServletResponse</a:t>
            </a:r>
            <a:r>
              <a:rPr lang="en-US" sz="2400" b="1" dirty="0" smtClean="0"/>
              <a:t>: </a:t>
            </a:r>
            <a:r>
              <a:rPr lang="en-US" sz="2400" dirty="0" smtClean="0"/>
              <a:t>It defines an object created by </a:t>
            </a:r>
            <a:r>
              <a:rPr lang="en-US" sz="2400" dirty="0" err="1" smtClean="0"/>
              <a:t>servlet</a:t>
            </a:r>
            <a:r>
              <a:rPr lang="en-US" sz="2400" dirty="0" smtClean="0"/>
              <a:t> container to assist a </a:t>
            </a:r>
            <a:r>
              <a:rPr lang="en-US" sz="2400" dirty="0" err="1" smtClean="0"/>
              <a:t>servlet</a:t>
            </a:r>
            <a:r>
              <a:rPr lang="en-US" sz="2400" dirty="0" smtClean="0"/>
              <a:t> in sending a response to the client.</a:t>
            </a:r>
            <a:endParaRPr lang="en-US" sz="2400" b="1"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a:t>
            </a:r>
            <a:r>
              <a:rPr lang="en-US" sz="2400" b="1" dirty="0" smtClean="0"/>
              <a:t>: Exceptions in </a:t>
            </a:r>
            <a:r>
              <a:rPr lang="en-US" sz="2400" b="1" dirty="0" err="1" smtClean="0"/>
              <a:t>javax.servlet</a:t>
            </a:r>
            <a:r>
              <a:rPr lang="en-US" sz="2400" b="1" dirty="0" smtClean="0"/>
              <a:t> package: </a:t>
            </a:r>
            <a:endParaRPr lang="en-US" sz="2400" dirty="0" smtClean="0"/>
          </a:p>
          <a:p>
            <a:r>
              <a:rPr lang="en-US" sz="2400" dirty="0" smtClean="0"/>
              <a:t/>
            </a:r>
            <a:br>
              <a:rPr lang="en-US" sz="2400" dirty="0" smtClean="0"/>
            </a:br>
            <a:endParaRPr lang="en-US" sz="2400" b="1" dirty="0" smtClean="0"/>
          </a:p>
          <a:p>
            <a:pPr marL="457200" indent="-457200">
              <a:buFont typeface="+mj-lt"/>
              <a:buAutoNum type="arabicPeriod"/>
            </a:pPr>
            <a:r>
              <a:rPr lang="en-US" sz="2400" b="1" dirty="0" err="1" smtClean="0"/>
              <a:t>ServletException</a:t>
            </a:r>
            <a:r>
              <a:rPr lang="en-US" sz="2400" b="1" dirty="0" smtClean="0"/>
              <a:t>: </a:t>
            </a:r>
            <a:r>
              <a:rPr lang="en-US" sz="2400" dirty="0" smtClean="0"/>
              <a:t>A general exception thrown by a </a:t>
            </a:r>
            <a:r>
              <a:rPr lang="en-US" sz="2400" dirty="0" err="1" smtClean="0"/>
              <a:t>servlet</a:t>
            </a:r>
            <a:r>
              <a:rPr lang="en-US" sz="2400" dirty="0" smtClean="0"/>
              <a:t> when it encounters difficulty.</a:t>
            </a:r>
            <a:br>
              <a:rPr lang="en-US" sz="2400" dirty="0" smtClean="0"/>
            </a:br>
            <a:endParaRPr lang="en-US" sz="2400" b="1" dirty="0" smtClean="0"/>
          </a:p>
          <a:p>
            <a:pPr marL="457200" indent="-457200">
              <a:buFont typeface="+mj-lt"/>
              <a:buAutoNum type="arabicPeriod"/>
            </a:pPr>
            <a:r>
              <a:rPr lang="en-US" sz="2400" b="1" dirty="0" err="1" smtClean="0"/>
              <a:t>UnavailableException</a:t>
            </a:r>
            <a:r>
              <a:rPr lang="en-US" sz="2400" b="1" dirty="0" smtClean="0"/>
              <a:t>: </a:t>
            </a:r>
            <a:r>
              <a:rPr lang="en-US" sz="2400" dirty="0" smtClean="0"/>
              <a:t>Thrown by a </a:t>
            </a:r>
            <a:r>
              <a:rPr lang="en-US" sz="2400" dirty="0" err="1" smtClean="0"/>
              <a:t>servlet</a:t>
            </a:r>
            <a:r>
              <a:rPr lang="en-US" sz="2400" dirty="0" smtClean="0"/>
              <a:t> or filter to indicate that it is permanently or temporarily unavailable.</a:t>
            </a:r>
            <a:endParaRPr lang="en-US" sz="2400" b="1"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javax.servlet.http</a:t>
            </a:r>
            <a:endParaRPr lang="en-US" sz="2400" b="1" dirty="0" smtClean="0"/>
          </a:p>
          <a:p>
            <a:endParaRPr lang="en-US" sz="2400" dirty="0" smtClean="0"/>
          </a:p>
          <a:p>
            <a:pPr marL="355600" indent="-355600" algn="just" fontAlgn="base">
              <a:buFont typeface="Arial" pitchFamily="34" charset="0"/>
              <a:buChar char="•"/>
            </a:pPr>
            <a:r>
              <a:rPr lang="en-US" sz="2400" dirty="0" smtClean="0"/>
              <a:t>This package provides the number of interfaces and classes to support HTTP </a:t>
            </a:r>
            <a:r>
              <a:rPr lang="en-US" sz="2400" dirty="0" err="1" smtClean="0"/>
              <a:t>servlet</a:t>
            </a:r>
            <a:r>
              <a:rPr lang="en-US" sz="2400" dirty="0" smtClean="0"/>
              <a:t> which is HTTP protocol dependent.</a:t>
            </a:r>
          </a:p>
          <a:p>
            <a:pPr marL="355600" indent="-355600" algn="just" fontAlgn="base">
              <a:buFont typeface="Arial" pitchFamily="34" charset="0"/>
              <a:buChar char="•"/>
            </a:pPr>
            <a:r>
              <a:rPr lang="en-US" sz="2400" dirty="0" smtClean="0"/>
              <a:t>These interfaces and classes describe and define the contracts between a </a:t>
            </a:r>
            <a:r>
              <a:rPr lang="en-US" sz="2400" dirty="0" err="1" smtClean="0"/>
              <a:t>servlet</a:t>
            </a:r>
            <a:r>
              <a:rPr lang="en-US" sz="2400" dirty="0" smtClean="0"/>
              <a:t> class running under HTTP protocol and the runtime environment provided by a </a:t>
            </a:r>
            <a:r>
              <a:rPr lang="en-US" sz="2400" dirty="0" err="1" smtClean="0"/>
              <a:t>servlet</a:t>
            </a:r>
            <a:r>
              <a:rPr lang="en-US" sz="2400" dirty="0" smtClean="0"/>
              <a:t> container.</a:t>
            </a:r>
          </a:p>
          <a:p>
            <a:pPr marL="355600" indent="-355600" algn="just" fontAlgn="base"/>
            <a:r>
              <a:rPr lang="en-US" sz="2400" dirty="0" smtClean="0"/>
              <a:t/>
            </a:r>
            <a:br>
              <a:rPr lang="en-US" sz="2400" dirty="0" smtClean="0"/>
            </a:br>
            <a:endParaRPr lang="en-US" sz="2400" b="1"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javax.servlet.http</a:t>
            </a:r>
            <a:r>
              <a:rPr lang="en-US" sz="2400" b="1" dirty="0" smtClean="0"/>
              <a:t>: Classes available in </a:t>
            </a:r>
            <a:r>
              <a:rPr lang="en-US" sz="2400" b="1" dirty="0" err="1" smtClean="0"/>
              <a:t>javax.servlet.http</a:t>
            </a:r>
            <a:r>
              <a:rPr lang="en-US" sz="2400" b="1" dirty="0" smtClean="0"/>
              <a:t> package: </a:t>
            </a:r>
          </a:p>
          <a:p>
            <a:pPr fontAlgn="base"/>
            <a:endParaRPr lang="en-US" sz="2400" b="1" dirty="0" smtClean="0"/>
          </a:p>
          <a:p>
            <a:pPr marL="457200" indent="-457200" algn="just" fontAlgn="base">
              <a:buFont typeface="+mj-lt"/>
              <a:buAutoNum type="arabicPeriod"/>
            </a:pPr>
            <a:r>
              <a:rPr lang="en-US" sz="2400" b="1" dirty="0" smtClean="0"/>
              <a:t>Cookie: </a:t>
            </a:r>
            <a:r>
              <a:rPr lang="en-US" sz="2400" dirty="0" smtClean="0"/>
              <a:t>Creates a cookie object. It is a small amount of information sent by a </a:t>
            </a:r>
            <a:r>
              <a:rPr lang="en-US" sz="2400" dirty="0" err="1" smtClean="0"/>
              <a:t>servlet</a:t>
            </a:r>
            <a:r>
              <a:rPr lang="en-US" sz="2400" dirty="0" smtClean="0"/>
              <a:t> to a Web browser, saved by the browser, and later sent back to the server used for session management.</a:t>
            </a:r>
            <a:endParaRPr lang="en-US" sz="2400" b="1" dirty="0" smtClean="0"/>
          </a:p>
          <a:p>
            <a:pPr marL="457200" indent="-457200" algn="just" fontAlgn="base">
              <a:buFont typeface="+mj-lt"/>
              <a:buAutoNum type="arabicPeriod"/>
            </a:pPr>
            <a:r>
              <a:rPr lang="en-US" sz="2400" b="1" dirty="0" err="1" smtClean="0"/>
              <a:t>HttpServlet</a:t>
            </a:r>
            <a:r>
              <a:rPr lang="en-US" sz="2400" b="1" dirty="0" smtClean="0"/>
              <a:t>: </a:t>
            </a:r>
            <a:r>
              <a:rPr lang="en-US" sz="2400" dirty="0" smtClean="0"/>
              <a:t>Provides an abstract class that defines methods to create an HTTP suitable </a:t>
            </a:r>
            <a:r>
              <a:rPr lang="en-US" sz="2400" dirty="0" err="1" smtClean="0"/>
              <a:t>servlet</a:t>
            </a:r>
            <a:r>
              <a:rPr lang="en-US" sz="2400" dirty="0" smtClean="0"/>
              <a:t> for a web application.</a:t>
            </a:r>
            <a:endParaRPr lang="en-US" sz="2400" b="1" dirty="0" smtClean="0"/>
          </a:p>
          <a:p>
            <a:pPr marL="457200" indent="-457200" algn="just" fontAlgn="base">
              <a:buFont typeface="+mj-lt"/>
              <a:buAutoNum type="arabicPeriod"/>
            </a:pPr>
            <a:r>
              <a:rPr lang="en-US" sz="2400" b="1" dirty="0" err="1" smtClean="0"/>
              <a:t>HttpServletRequestWrapper</a:t>
            </a:r>
            <a:r>
              <a:rPr lang="en-US" sz="2400" b="1" dirty="0" smtClean="0"/>
              <a:t>: </a:t>
            </a:r>
            <a:r>
              <a:rPr lang="en-US" sz="2400" dirty="0" smtClean="0"/>
              <a:t>This class provides implementation of the </a:t>
            </a:r>
            <a:r>
              <a:rPr lang="en-US" sz="2400" dirty="0" err="1" smtClean="0"/>
              <a:t>HttpServletRequest</a:t>
            </a:r>
            <a:r>
              <a:rPr lang="en-US" sz="2400" dirty="0" smtClean="0"/>
              <a:t> interface that can be </a:t>
            </a:r>
            <a:r>
              <a:rPr lang="en-US" sz="2400" dirty="0" err="1" smtClean="0"/>
              <a:t>subclassed</a:t>
            </a:r>
            <a:r>
              <a:rPr lang="en-US" sz="2400" dirty="0" smtClean="0"/>
              <a:t> to adapt the request to a </a:t>
            </a:r>
            <a:r>
              <a:rPr lang="en-US" sz="2400" dirty="0" err="1" smtClean="0"/>
              <a:t>Servlet</a:t>
            </a:r>
            <a:r>
              <a:rPr lang="en-US" sz="2400" dirty="0" smtClean="0"/>
              <a:t>.</a:t>
            </a:r>
            <a:endParaRPr lang="en-US" sz="2400" b="1" dirty="0" smtClean="0"/>
          </a:p>
          <a:p>
            <a:endParaRPr lang="en-US" sz="2400" dirty="0" smtClean="0"/>
          </a:p>
          <a:p>
            <a:r>
              <a:rPr lang="en-US" sz="2400" dirty="0" smtClean="0"/>
              <a:t/>
            </a:r>
            <a:br>
              <a:rPr lang="en-US" sz="2400" dirty="0" smtClean="0"/>
            </a:br>
            <a:r>
              <a:rPr lang="en-US" sz="2400" dirty="0" smtClean="0"/>
              <a:t/>
            </a:r>
            <a:br>
              <a:rPr lang="en-US" sz="2400" dirty="0" smtClean="0"/>
            </a:br>
            <a:endParaRPr lang="en-US" sz="2400" b="1"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javax.servlet.http</a:t>
            </a:r>
            <a:r>
              <a:rPr lang="en-US" sz="2400" b="1" dirty="0" smtClean="0"/>
              <a:t>: Classes available in </a:t>
            </a:r>
            <a:r>
              <a:rPr lang="en-US" sz="2400" b="1" dirty="0" err="1" smtClean="0"/>
              <a:t>javax.servlet.http</a:t>
            </a:r>
            <a:r>
              <a:rPr lang="en-US" sz="2400" b="1" dirty="0" smtClean="0"/>
              <a:t> package: </a:t>
            </a:r>
          </a:p>
          <a:p>
            <a:pPr marL="457200" indent="-457200" algn="just" fontAlgn="base">
              <a:buFont typeface="+mj-lt"/>
              <a:buAutoNum type="arabicPeriod" startAt="4"/>
            </a:pPr>
            <a:r>
              <a:rPr lang="en-US" sz="2400" b="1" dirty="0" err="1" smtClean="0"/>
              <a:t>HttpServletResponseWrapper</a:t>
            </a:r>
            <a:r>
              <a:rPr lang="en-US" sz="2400" b="1" dirty="0" smtClean="0"/>
              <a:t>: </a:t>
            </a:r>
            <a:r>
              <a:rPr lang="en-US" sz="2400" dirty="0" smtClean="0"/>
              <a:t>This class provides implementation of the </a:t>
            </a:r>
            <a:r>
              <a:rPr lang="en-US" sz="2400" dirty="0" err="1" smtClean="0"/>
              <a:t>HttpServletResponse</a:t>
            </a:r>
            <a:r>
              <a:rPr lang="en-US" sz="2400" dirty="0" smtClean="0"/>
              <a:t> interface that can be </a:t>
            </a:r>
            <a:r>
              <a:rPr lang="en-US" sz="2400" dirty="0" err="1" smtClean="0"/>
              <a:t>subclassed</a:t>
            </a:r>
            <a:r>
              <a:rPr lang="en-US" sz="2400" dirty="0" smtClean="0"/>
              <a:t> to adapt the response from a </a:t>
            </a:r>
            <a:r>
              <a:rPr lang="en-US" sz="2400" dirty="0" err="1" smtClean="0"/>
              <a:t>Servlet</a:t>
            </a:r>
            <a:r>
              <a:rPr lang="en-US" sz="2400" dirty="0" smtClean="0"/>
              <a:t>.</a:t>
            </a:r>
            <a:endParaRPr lang="en-US" sz="2400" b="1" dirty="0" smtClean="0"/>
          </a:p>
          <a:p>
            <a:pPr marL="457200" indent="-457200" algn="just" fontAlgn="base">
              <a:buFont typeface="+mj-lt"/>
              <a:buAutoNum type="arabicPeriod" startAt="4"/>
            </a:pPr>
            <a:r>
              <a:rPr lang="en-US" sz="2400" b="1" dirty="0" err="1" smtClean="0"/>
              <a:t>HttpSessionBindingEvent</a:t>
            </a:r>
            <a:r>
              <a:rPr lang="en-US" sz="2400" b="1" dirty="0" smtClean="0"/>
              <a:t>: </a:t>
            </a:r>
            <a:r>
              <a:rPr lang="en-US" sz="2400" dirty="0" smtClean="0"/>
              <a:t>This events are either sent to an object that implements </a:t>
            </a:r>
            <a:r>
              <a:rPr lang="en-US" sz="2400" dirty="0" err="1" smtClean="0"/>
              <a:t>HttpSessionBindingListener</a:t>
            </a:r>
            <a:r>
              <a:rPr lang="en-US" sz="2400" dirty="0" smtClean="0"/>
              <a:t> when it is bound or unbound from a session, or to a </a:t>
            </a:r>
            <a:r>
              <a:rPr lang="en-US" sz="2400" dirty="0" err="1" smtClean="0"/>
              <a:t>HttpSessionAttributeListener</a:t>
            </a:r>
            <a:r>
              <a:rPr lang="en-US" sz="2400" dirty="0" smtClean="0"/>
              <a:t> that has been configured in the deployment descriptor when any attribute is bound, unbound or replaced in a session.</a:t>
            </a:r>
          </a:p>
          <a:p>
            <a:pPr algn="just"/>
            <a:r>
              <a:rPr lang="en-US" sz="2400" dirty="0" smtClean="0"/>
              <a:t/>
            </a:r>
            <a:br>
              <a:rPr lang="en-US" sz="2400" dirty="0" smtClean="0"/>
            </a:br>
            <a:r>
              <a:rPr lang="en-US" sz="2400" dirty="0" smtClean="0"/>
              <a:t/>
            </a:r>
            <a:br>
              <a:rPr lang="en-US" sz="2400" dirty="0" smtClean="0"/>
            </a:br>
            <a:endParaRPr lang="en-US" sz="2400" b="1"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javax.servlet.http</a:t>
            </a:r>
            <a:r>
              <a:rPr lang="en-US" sz="2400" b="1" dirty="0" smtClean="0"/>
              <a:t>: Classes available in </a:t>
            </a:r>
            <a:r>
              <a:rPr lang="en-US" sz="2400" b="1" dirty="0" err="1" smtClean="0"/>
              <a:t>javax.servlet.http</a:t>
            </a:r>
            <a:r>
              <a:rPr lang="en-US" sz="2400" b="1" dirty="0" smtClean="0"/>
              <a:t> package: </a:t>
            </a:r>
          </a:p>
          <a:p>
            <a:pPr marL="457200" indent="-457200" algn="just" fontAlgn="base">
              <a:buFont typeface="+mj-lt"/>
              <a:buAutoNum type="arabicPeriod" startAt="4"/>
            </a:pPr>
            <a:endParaRPr lang="en-US" sz="2400" b="1" dirty="0" smtClean="0"/>
          </a:p>
          <a:p>
            <a:pPr marL="457200" indent="-457200" algn="just" fontAlgn="base">
              <a:buFont typeface="+mj-lt"/>
              <a:buAutoNum type="arabicPeriod" startAt="6"/>
            </a:pPr>
            <a:r>
              <a:rPr lang="en-US" sz="2400" b="1" dirty="0" err="1" smtClean="0"/>
              <a:t>HttpSessionEvent</a:t>
            </a:r>
            <a:r>
              <a:rPr lang="en-US" sz="2400" b="1" dirty="0" smtClean="0"/>
              <a:t>: </a:t>
            </a:r>
            <a:r>
              <a:rPr lang="en-US" sz="2400" dirty="0" smtClean="0"/>
              <a:t>To represent event notifications for changes to sessions within a web application.</a:t>
            </a:r>
            <a:endParaRPr lang="en-US" sz="2400" b="1" dirty="0" smtClean="0"/>
          </a:p>
          <a:p>
            <a:pPr algn="just"/>
            <a:r>
              <a:rPr lang="en-US" sz="2400" dirty="0" smtClean="0"/>
              <a:t/>
            </a:r>
            <a:br>
              <a:rPr lang="en-US" sz="2400" dirty="0" smtClean="0"/>
            </a:br>
            <a:r>
              <a:rPr lang="en-US" sz="2400" dirty="0" smtClean="0"/>
              <a:t/>
            </a:r>
            <a:br>
              <a:rPr lang="en-US" sz="2400" dirty="0" smtClean="0"/>
            </a:br>
            <a:endParaRPr lang="en-US" sz="2400" b="1"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javax.servlet.http</a:t>
            </a:r>
            <a:r>
              <a:rPr lang="en-US" sz="2400" b="1" dirty="0" smtClean="0"/>
              <a:t>: Interfaces available in </a:t>
            </a:r>
            <a:r>
              <a:rPr lang="en-US" sz="2400" b="1" dirty="0" err="1" smtClean="0"/>
              <a:t>javax.servlet.http</a:t>
            </a:r>
            <a:r>
              <a:rPr lang="en-US" sz="2400" b="1" dirty="0" smtClean="0"/>
              <a:t> package: </a:t>
            </a:r>
          </a:p>
          <a:p>
            <a:pPr fontAlgn="base"/>
            <a:endParaRPr lang="en-US" sz="2400" dirty="0" smtClean="0"/>
          </a:p>
          <a:p>
            <a:pPr marL="457200" indent="-457200" algn="just" fontAlgn="base">
              <a:buFont typeface="+mj-lt"/>
              <a:buAutoNum type="arabicPeriod"/>
            </a:pPr>
            <a:r>
              <a:rPr lang="en-US" sz="2400" b="1" dirty="0" err="1" smtClean="0"/>
              <a:t>HttpServletRequest</a:t>
            </a:r>
            <a:r>
              <a:rPr lang="en-US" sz="2400" b="1" dirty="0" smtClean="0"/>
              <a:t>: </a:t>
            </a:r>
            <a:r>
              <a:rPr lang="en-US" sz="2400" dirty="0" smtClean="0"/>
              <a:t>To provide client HTTP request information for </a:t>
            </a:r>
            <a:r>
              <a:rPr lang="en-US" sz="2400" dirty="0" err="1" smtClean="0"/>
              <a:t>servlets</a:t>
            </a:r>
            <a:r>
              <a:rPr lang="en-US" sz="2400" dirty="0" smtClean="0"/>
              <a:t>. It extends the </a:t>
            </a:r>
            <a:r>
              <a:rPr lang="en-US" sz="2400" dirty="0" err="1" smtClean="0"/>
              <a:t>ServletRequest</a:t>
            </a:r>
            <a:r>
              <a:rPr lang="en-US" sz="2400" dirty="0" smtClean="0"/>
              <a:t> interface.</a:t>
            </a:r>
            <a:endParaRPr lang="en-US" sz="2400" b="1" dirty="0" smtClean="0"/>
          </a:p>
          <a:p>
            <a:pPr marL="457200" indent="-457200" algn="just" fontAlgn="base">
              <a:buFont typeface="+mj-lt"/>
              <a:buAutoNum type="arabicPeriod"/>
            </a:pPr>
            <a:r>
              <a:rPr lang="en-US" sz="2400" b="1" dirty="0" err="1" smtClean="0"/>
              <a:t>HttpServletResponse</a:t>
            </a:r>
            <a:r>
              <a:rPr lang="en-US" sz="2400" b="1" dirty="0" smtClean="0"/>
              <a:t>: </a:t>
            </a:r>
            <a:r>
              <a:rPr lang="en-US" sz="2400" dirty="0" smtClean="0"/>
              <a:t>To provide HTTP-specific functionality in sending a response to client. It extends the </a:t>
            </a:r>
            <a:r>
              <a:rPr lang="en-US" sz="2400" dirty="0" err="1" smtClean="0"/>
              <a:t>ServletResponse</a:t>
            </a:r>
            <a:r>
              <a:rPr lang="en-US" sz="2400" dirty="0" smtClean="0"/>
              <a:t> interface.</a:t>
            </a:r>
            <a:endParaRPr lang="en-US" sz="2400" b="1" dirty="0" smtClean="0"/>
          </a:p>
          <a:p>
            <a:pPr marL="457200" indent="-457200" algn="just" fontAlgn="base">
              <a:buFont typeface="+mj-lt"/>
              <a:buAutoNum type="arabicPeriod"/>
            </a:pPr>
            <a:r>
              <a:rPr lang="en-US" sz="2400" b="1" dirty="0" err="1" smtClean="0"/>
              <a:t>HttpSession</a:t>
            </a:r>
            <a:r>
              <a:rPr lang="en-US" sz="2400" b="1" dirty="0" smtClean="0"/>
              <a:t>: </a:t>
            </a:r>
            <a:r>
              <a:rPr lang="en-US" sz="2400" dirty="0" smtClean="0"/>
              <a:t>It provides a way to identify a user across web application/web site pages and to store information about that user.</a:t>
            </a:r>
            <a:endParaRPr lang="en-US" sz="2400" b="1" dirty="0" smtClean="0"/>
          </a:p>
          <a:p>
            <a:pPr algn="just" fontAlgn="base"/>
            <a:endParaRPr lang="en-US" sz="2400" b="1" dirty="0" smtClean="0"/>
          </a:p>
          <a:p>
            <a:pPr fontAlgn="base"/>
            <a:r>
              <a:rPr lang="en-US" sz="2400" dirty="0" smtClean="0"/>
              <a:t/>
            </a:r>
            <a:br>
              <a:rPr lang="en-US" sz="2400" dirty="0" smtClean="0"/>
            </a:br>
            <a:r>
              <a:rPr lang="en-US" sz="2400" dirty="0" smtClean="0"/>
              <a:t/>
            </a:r>
            <a:br>
              <a:rPr lang="en-US" sz="2400" dirty="0" smtClean="0"/>
            </a:br>
            <a:endParaRPr lang="en-US" sz="2400" b="1"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javax.servlet.http</a:t>
            </a:r>
            <a:r>
              <a:rPr lang="en-US" sz="2400" b="1" dirty="0" smtClean="0"/>
              <a:t>: Interfaces available in </a:t>
            </a:r>
            <a:r>
              <a:rPr lang="en-US" sz="2400" b="1" dirty="0" err="1" smtClean="0"/>
              <a:t>javax.servlet.http</a:t>
            </a:r>
            <a:r>
              <a:rPr lang="en-US" sz="2400" b="1" dirty="0" smtClean="0"/>
              <a:t> package: </a:t>
            </a:r>
          </a:p>
          <a:p>
            <a:pPr fontAlgn="base"/>
            <a:endParaRPr lang="en-US" sz="2400" dirty="0" smtClean="0"/>
          </a:p>
          <a:p>
            <a:pPr marL="457200" indent="-457200" algn="just" fontAlgn="base">
              <a:buFont typeface="+mj-lt"/>
              <a:buAutoNum type="arabicPeriod" startAt="4"/>
            </a:pPr>
            <a:r>
              <a:rPr lang="en-US" sz="2400" b="1" dirty="0" err="1" smtClean="0"/>
              <a:t>HttpSessionActivationListener</a:t>
            </a:r>
            <a:r>
              <a:rPr lang="en-US" sz="2400" b="1" dirty="0" smtClean="0"/>
              <a:t>: </a:t>
            </a:r>
            <a:r>
              <a:rPr lang="en-US" sz="2400" dirty="0" smtClean="0"/>
              <a:t>Container to notify all the objects that are bound to a session that sessions will be </a:t>
            </a:r>
            <a:r>
              <a:rPr lang="en-US" sz="2400" dirty="0" err="1" smtClean="0"/>
              <a:t>passivated</a:t>
            </a:r>
            <a:r>
              <a:rPr lang="en-US" sz="2400" dirty="0" smtClean="0"/>
              <a:t> and that session will be activated.</a:t>
            </a:r>
            <a:endParaRPr lang="en-US" sz="2400" b="1" dirty="0" smtClean="0"/>
          </a:p>
          <a:p>
            <a:pPr marL="457200" indent="-457200" algn="just" fontAlgn="base">
              <a:buFont typeface="+mj-lt"/>
              <a:buAutoNum type="arabicPeriod" startAt="4"/>
            </a:pPr>
            <a:r>
              <a:rPr lang="en-US" sz="2400" b="1" dirty="0" err="1" smtClean="0"/>
              <a:t>HttpSessionAttributeListener</a:t>
            </a:r>
            <a:r>
              <a:rPr lang="en-US" sz="2400" b="1" dirty="0" smtClean="0"/>
              <a:t>: </a:t>
            </a:r>
            <a:r>
              <a:rPr lang="en-US" sz="2400" dirty="0" smtClean="0"/>
              <a:t>To get notifications of changes to the attribute lists of sessions within this web application, this listener interface can be implemented.</a:t>
            </a:r>
            <a:endParaRPr lang="en-US" sz="2400" b="1" dirty="0" smtClean="0"/>
          </a:p>
          <a:p>
            <a:pPr marL="457200" indent="-457200" algn="just" fontAlgn="base">
              <a:buFont typeface="+mj-lt"/>
              <a:buAutoNum type="arabicPeriod" startAt="4"/>
            </a:pPr>
            <a:r>
              <a:rPr lang="en-US" sz="2400" b="1" dirty="0" err="1" smtClean="0"/>
              <a:t>HttpSessionBindingListener</a:t>
            </a:r>
            <a:r>
              <a:rPr lang="en-US" sz="2400" b="1" dirty="0" smtClean="0"/>
              <a:t>: </a:t>
            </a:r>
            <a:r>
              <a:rPr lang="en-US" sz="2400" dirty="0" smtClean="0"/>
              <a:t>It causes an object to be notified by an </a:t>
            </a:r>
            <a:r>
              <a:rPr lang="en-US" sz="2400" dirty="0" err="1" smtClean="0"/>
              <a:t>HttpSessionBindingEvent</a:t>
            </a:r>
            <a:r>
              <a:rPr lang="en-US" sz="2400" dirty="0" smtClean="0"/>
              <a:t> object, when it is bound to or unbound from a session.</a:t>
            </a:r>
            <a:endParaRPr lang="en-US" sz="2400" b="1" dirty="0" smtClean="0"/>
          </a:p>
          <a:p>
            <a:pPr fontAlgn="base"/>
            <a:endParaRPr lang="en-US" sz="2400" b="1" dirty="0" smtClean="0"/>
          </a:p>
          <a:p>
            <a:pPr fontAlgn="base"/>
            <a:r>
              <a:rPr lang="en-US" sz="2400" dirty="0" smtClean="0"/>
              <a:t/>
            </a:r>
            <a:br>
              <a:rPr lang="en-US" sz="2400" dirty="0" smtClean="0"/>
            </a:br>
            <a:r>
              <a:rPr lang="en-US" sz="2400" dirty="0" smtClean="0"/>
              <a:t/>
            </a:r>
            <a:br>
              <a:rPr lang="en-US" sz="2400" dirty="0" smtClean="0"/>
            </a:br>
            <a:endParaRPr lang="en-US" sz="2400" b="1" dirty="0" smtClean="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javax.servlet.http</a:t>
            </a:r>
            <a:r>
              <a:rPr lang="en-US" sz="2400" b="1" dirty="0" smtClean="0"/>
              <a:t>: Interfaces available in </a:t>
            </a:r>
            <a:r>
              <a:rPr lang="en-US" sz="2400" b="1" dirty="0" err="1" smtClean="0"/>
              <a:t>javax.servlet.http</a:t>
            </a:r>
            <a:r>
              <a:rPr lang="en-US" sz="2400" b="1" dirty="0" smtClean="0"/>
              <a:t> package: </a:t>
            </a:r>
          </a:p>
          <a:p>
            <a:pPr fontAlgn="base"/>
            <a:endParaRPr lang="en-US" sz="2400" dirty="0" smtClean="0"/>
          </a:p>
          <a:p>
            <a:pPr marL="457200" indent="-457200" algn="just" fontAlgn="base">
              <a:buFont typeface="+mj-lt"/>
              <a:buAutoNum type="arabicPeriod" startAt="7"/>
            </a:pPr>
            <a:r>
              <a:rPr lang="en-US" sz="2400" b="1" dirty="0" err="1" smtClean="0"/>
              <a:t>HttpSessionListener</a:t>
            </a:r>
            <a:r>
              <a:rPr lang="en-US" sz="2400" b="1" dirty="0" smtClean="0"/>
              <a:t>: </a:t>
            </a:r>
            <a:r>
              <a:rPr lang="en-US" sz="2400" dirty="0" smtClean="0"/>
              <a:t>To receive notification events related to the changes to the list of active sessions in a web application.</a:t>
            </a:r>
            <a:endParaRPr lang="en-US" sz="2400" b="1" dirty="0" smtClean="0"/>
          </a:p>
          <a:p>
            <a:pPr algn="just" fontAlgn="base"/>
            <a:endParaRPr lang="en-US" sz="2400" b="1" dirty="0" smtClean="0"/>
          </a:p>
          <a:p>
            <a:pPr algn="just" fontAlgn="base"/>
            <a:r>
              <a:rPr lang="en-US" sz="2400" dirty="0" smtClean="0"/>
              <a:t/>
            </a:r>
            <a:br>
              <a:rPr lang="en-US" sz="2400" dirty="0" smtClean="0"/>
            </a:br>
            <a:r>
              <a:rPr lang="en-US" sz="2400" dirty="0" smtClean="0"/>
              <a:t/>
            </a:r>
            <a:br>
              <a:rPr lang="en-US" sz="2400" dirty="0" smtClean="0"/>
            </a:br>
            <a:endParaRPr lang="en-US" sz="2400" b="1"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GenericServlet</a:t>
            </a:r>
            <a:r>
              <a:rPr lang="en-US" sz="2400" b="1" dirty="0" smtClean="0"/>
              <a:t> Class</a:t>
            </a:r>
          </a:p>
          <a:p>
            <a:pPr fontAlgn="base"/>
            <a:r>
              <a:rPr lang="en-US" sz="2400" dirty="0" smtClean="0"/>
              <a:t/>
            </a:r>
            <a:br>
              <a:rPr lang="en-US" sz="2400" dirty="0" smtClean="0"/>
            </a:br>
            <a:r>
              <a:rPr lang="en-US" sz="2400" dirty="0" err="1" smtClean="0"/>
              <a:t>Servlet</a:t>
            </a:r>
            <a:r>
              <a:rPr lang="en-US" sz="2400" dirty="0" smtClean="0"/>
              <a:t> API provide </a:t>
            </a:r>
            <a:r>
              <a:rPr lang="en-US" sz="2400" b="1" i="1" dirty="0" err="1" smtClean="0"/>
              <a:t>GenericServlet</a:t>
            </a:r>
            <a:r>
              <a:rPr lang="en-US" sz="2400" dirty="0" smtClean="0"/>
              <a:t> class in </a:t>
            </a:r>
            <a:r>
              <a:rPr lang="en-US" sz="2400" dirty="0" err="1" smtClean="0"/>
              <a:t>javax.servlet</a:t>
            </a:r>
            <a:r>
              <a:rPr lang="en-US" sz="2400" dirty="0" smtClean="0"/>
              <a:t> package.</a:t>
            </a:r>
          </a:p>
          <a:p>
            <a:r>
              <a:rPr lang="en-US" sz="2400" dirty="0" smtClean="0"/>
              <a:t/>
            </a:r>
            <a:br>
              <a:rPr lang="en-US" sz="2400" dirty="0" smtClean="0"/>
            </a:br>
            <a:r>
              <a:rPr lang="en-US" sz="2400" i="1" dirty="0" smtClean="0"/>
              <a:t>public abstract class </a:t>
            </a:r>
            <a:r>
              <a:rPr lang="en-US" sz="2400" i="1" dirty="0" err="1" smtClean="0"/>
              <a:t>GenericServlet</a:t>
            </a:r>
            <a:endParaRPr lang="en-US" sz="2400" i="1" dirty="0" smtClean="0"/>
          </a:p>
          <a:p>
            <a:r>
              <a:rPr lang="en-US" sz="2400" i="1" dirty="0" smtClean="0"/>
              <a:t>extends </a:t>
            </a:r>
            <a:r>
              <a:rPr lang="en-US" sz="2400" i="1" dirty="0" err="1" smtClean="0"/>
              <a:t>java.lang.Object</a:t>
            </a:r>
            <a:endParaRPr lang="en-US" sz="2400" i="1" dirty="0" smtClean="0"/>
          </a:p>
          <a:p>
            <a:r>
              <a:rPr lang="en-US" sz="2400" i="1" dirty="0" smtClean="0"/>
              <a:t>implements </a:t>
            </a:r>
            <a:r>
              <a:rPr lang="en-US" sz="2400" i="1" dirty="0" err="1" smtClean="0"/>
              <a:t>Servlet</a:t>
            </a:r>
            <a:r>
              <a:rPr lang="en-US" sz="2400" i="1" dirty="0" smtClean="0"/>
              <a:t>, </a:t>
            </a:r>
            <a:r>
              <a:rPr lang="en-US" sz="2400" i="1" dirty="0" err="1" smtClean="0"/>
              <a:t>ServletConfig</a:t>
            </a:r>
            <a:r>
              <a:rPr lang="en-US" sz="2400" i="1" dirty="0" smtClean="0"/>
              <a:t>, </a:t>
            </a:r>
            <a:r>
              <a:rPr lang="en-US" sz="2400" i="1" dirty="0" err="1" smtClean="0"/>
              <a:t>java.io.Serializable</a:t>
            </a:r>
            <a:endParaRPr lang="en-US" sz="2400" i="1" dirty="0" smtClean="0"/>
          </a:p>
          <a:p>
            <a:endParaRPr lang="en-US" sz="2400" i="1" dirty="0" smtClean="0"/>
          </a:p>
          <a:p>
            <a:pPr fontAlgn="base"/>
            <a:r>
              <a:rPr lang="en-US" sz="2400" dirty="0" smtClean="0"/>
              <a:t>.</a:t>
            </a:r>
          </a:p>
          <a:p>
            <a:r>
              <a:rPr lang="en-US" sz="2400" i="1" dirty="0" smtClean="0"/>
              <a:t/>
            </a:r>
            <a:br>
              <a:rPr lang="en-US" sz="2400" i="1" dirty="0" smtClean="0"/>
            </a:br>
            <a:r>
              <a:rPr lang="en-US" sz="2400" i="1" dirty="0" smtClean="0"/>
              <a:t/>
            </a:r>
            <a:br>
              <a:rPr lang="en-US" sz="2400" i="1" dirty="0" smtClean="0"/>
            </a:br>
            <a:endParaRPr lang="en-US" sz="2400" b="1" i="1" dirty="0"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GenericServlet</a:t>
            </a:r>
            <a:r>
              <a:rPr lang="en-US" sz="2400" b="1" dirty="0" smtClean="0"/>
              <a:t> Class</a:t>
            </a:r>
          </a:p>
          <a:p>
            <a:pPr fontAlgn="base"/>
            <a:endParaRPr lang="en-US" sz="2400" b="1" dirty="0" smtClean="0"/>
          </a:p>
          <a:p>
            <a:pPr marL="355600" indent="-355600" algn="just" fontAlgn="base">
              <a:buFont typeface="Arial" pitchFamily="34" charset="0"/>
              <a:buChar char="•"/>
            </a:pPr>
            <a:r>
              <a:rPr lang="en-US" sz="2400" dirty="0" smtClean="0"/>
              <a:t>An abstract class that implements most of the </a:t>
            </a:r>
            <a:r>
              <a:rPr lang="en-US" sz="2400" dirty="0" err="1" smtClean="0"/>
              <a:t>servlet</a:t>
            </a:r>
            <a:r>
              <a:rPr lang="en-US" sz="2400" dirty="0" smtClean="0"/>
              <a:t> basic methods.</a:t>
            </a:r>
          </a:p>
          <a:p>
            <a:pPr marL="355600" indent="-355600" algn="just" fontAlgn="base">
              <a:buFont typeface="Arial" pitchFamily="34" charset="0"/>
              <a:buChar char="•"/>
            </a:pPr>
            <a:r>
              <a:rPr lang="en-US" sz="2400" dirty="0" smtClean="0"/>
              <a:t>Implements the </a:t>
            </a:r>
            <a:r>
              <a:rPr lang="en-US" sz="2400" dirty="0" err="1" smtClean="0"/>
              <a:t>Servlet</a:t>
            </a:r>
            <a:r>
              <a:rPr lang="en-US" sz="2400" dirty="0" smtClean="0"/>
              <a:t>, </a:t>
            </a:r>
            <a:r>
              <a:rPr lang="en-US" sz="2400" dirty="0" err="1" smtClean="0"/>
              <a:t>ServletConfig</a:t>
            </a:r>
            <a:r>
              <a:rPr lang="en-US" sz="2400" dirty="0" smtClean="0"/>
              <a:t>, and </a:t>
            </a:r>
            <a:r>
              <a:rPr lang="en-US" sz="2400" dirty="0" err="1" smtClean="0"/>
              <a:t>Serializable</a:t>
            </a:r>
            <a:r>
              <a:rPr lang="en-US" sz="2400" dirty="0" smtClean="0"/>
              <a:t> interfaces.</a:t>
            </a:r>
          </a:p>
          <a:p>
            <a:pPr marL="355600" indent="-355600" algn="just" fontAlgn="base">
              <a:buFont typeface="Arial" pitchFamily="34" charset="0"/>
              <a:buChar char="•"/>
            </a:pPr>
            <a:r>
              <a:rPr lang="en-US" sz="2400" dirty="0" smtClean="0"/>
              <a:t>Protocol-independent </a:t>
            </a:r>
            <a:r>
              <a:rPr lang="en-US" sz="2400" dirty="0" err="1" smtClean="0"/>
              <a:t>servlet</a:t>
            </a:r>
            <a:r>
              <a:rPr lang="en-US" sz="2400" dirty="0" smtClean="0"/>
              <a:t>.</a:t>
            </a:r>
          </a:p>
          <a:p>
            <a:pPr marL="355600" indent="-355600" algn="just" fontAlgn="base">
              <a:buFont typeface="Arial" pitchFamily="34" charset="0"/>
              <a:buChar char="•"/>
            </a:pPr>
            <a:r>
              <a:rPr lang="en-US" sz="2400" dirty="0" smtClean="0"/>
              <a:t>Makes writing </a:t>
            </a:r>
            <a:r>
              <a:rPr lang="en-US" sz="2400" dirty="0" err="1" smtClean="0"/>
              <a:t>servlets</a:t>
            </a:r>
            <a:r>
              <a:rPr lang="en-US" sz="2400" dirty="0" smtClean="0"/>
              <a:t> easier by providing simple versions of the lifecycle methods init() and destroy().</a:t>
            </a:r>
          </a:p>
          <a:p>
            <a:pPr marL="355600" indent="-355600" algn="just" fontAlgn="base">
              <a:buFont typeface="Arial" pitchFamily="34" charset="0"/>
              <a:buChar char="•"/>
            </a:pPr>
            <a:r>
              <a:rPr lang="en-US" sz="2400" dirty="0" smtClean="0"/>
              <a:t>To write a generic </a:t>
            </a:r>
            <a:r>
              <a:rPr lang="en-US" sz="2400" dirty="0" err="1" smtClean="0"/>
              <a:t>servlet</a:t>
            </a:r>
            <a:r>
              <a:rPr lang="en-US" sz="2400" dirty="0" smtClean="0"/>
              <a:t>, you need to extend </a:t>
            </a:r>
            <a:r>
              <a:rPr lang="en-US" sz="2400" b="1" i="1" dirty="0" err="1" smtClean="0"/>
              <a:t>javax.servlet.GenericServlet</a:t>
            </a:r>
            <a:r>
              <a:rPr lang="en-US" sz="2400" dirty="0" smtClean="0"/>
              <a:t> class and need to override the abstract service() method.</a:t>
            </a:r>
          </a:p>
          <a:p>
            <a:r>
              <a:rPr lang="en-US" sz="2400" i="1" dirty="0" smtClean="0"/>
              <a:t/>
            </a:r>
            <a:br>
              <a:rPr lang="en-US" sz="2400" i="1" dirty="0" smtClean="0"/>
            </a:br>
            <a:r>
              <a:rPr lang="en-US" sz="2400" i="1" dirty="0" smtClean="0"/>
              <a:t/>
            </a:r>
            <a:br>
              <a:rPr lang="en-US" sz="2400" i="1" dirty="0" smtClean="0"/>
            </a:br>
            <a:endParaRPr lang="en-US" sz="2400" b="1" i="1"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GenericServlet</a:t>
            </a:r>
            <a:r>
              <a:rPr lang="en-US" sz="2400" b="1" dirty="0" smtClean="0"/>
              <a:t> Class</a:t>
            </a:r>
          </a:p>
          <a:p>
            <a:r>
              <a:rPr lang="en-US" sz="2400" i="1" dirty="0" smtClean="0"/>
              <a:t/>
            </a:r>
            <a:br>
              <a:rPr lang="en-US" sz="2400" i="1" dirty="0" smtClean="0"/>
            </a:br>
            <a:r>
              <a:rPr lang="en-US" sz="2400" i="1" dirty="0" smtClean="0"/>
              <a:t/>
            </a:r>
            <a:br>
              <a:rPr lang="en-US" sz="2400" i="1" dirty="0" smtClean="0"/>
            </a:br>
            <a:endParaRPr lang="en-US" sz="2400" b="1" i="1" dirty="0" smtClean="0"/>
          </a:p>
        </p:txBody>
      </p:sp>
      <p:pic>
        <p:nvPicPr>
          <p:cNvPr id="1026" name="Picture 2"/>
          <p:cNvPicPr>
            <a:picLocks noChangeAspect="1" noChangeArrowheads="1"/>
          </p:cNvPicPr>
          <p:nvPr/>
        </p:nvPicPr>
        <p:blipFill>
          <a:blip r:embed="rId3"/>
          <a:srcRect/>
          <a:stretch>
            <a:fillRect/>
          </a:stretch>
        </p:blipFill>
        <p:spPr bwMode="auto">
          <a:xfrm>
            <a:off x="1289384" y="1790298"/>
            <a:ext cx="7239000" cy="4251358"/>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HttpServlet</a:t>
            </a:r>
            <a:r>
              <a:rPr lang="en-US" sz="2400" b="1" dirty="0" smtClean="0"/>
              <a:t> Class</a:t>
            </a:r>
          </a:p>
          <a:p>
            <a:endParaRPr lang="en-US" sz="2400" b="1" dirty="0" smtClean="0"/>
          </a:p>
          <a:p>
            <a:pPr fontAlgn="base"/>
            <a:r>
              <a:rPr lang="en-US" sz="2400" dirty="0" err="1" smtClean="0"/>
              <a:t>Servlet</a:t>
            </a:r>
            <a:r>
              <a:rPr lang="en-US" sz="2400" dirty="0" smtClean="0"/>
              <a:t> API provides </a:t>
            </a:r>
            <a:r>
              <a:rPr lang="en-US" sz="2400" b="1" i="1" dirty="0" err="1" smtClean="0"/>
              <a:t>HttpServlet</a:t>
            </a:r>
            <a:r>
              <a:rPr lang="en-US" sz="2400" dirty="0" smtClean="0"/>
              <a:t> class in </a:t>
            </a:r>
            <a:r>
              <a:rPr lang="en-US" sz="2400" dirty="0" err="1" smtClean="0"/>
              <a:t>javax.servlet.http</a:t>
            </a:r>
            <a:r>
              <a:rPr lang="en-US" sz="2400" dirty="0" smtClean="0"/>
              <a:t> package.</a:t>
            </a:r>
          </a:p>
          <a:p>
            <a:r>
              <a:rPr lang="en-US" sz="2400" i="1" dirty="0" smtClean="0"/>
              <a:t/>
            </a:r>
            <a:br>
              <a:rPr lang="en-US" sz="2400" i="1" dirty="0" smtClean="0"/>
            </a:br>
            <a:r>
              <a:rPr lang="en-US" sz="2400" i="1" dirty="0" smtClean="0"/>
              <a:t>public abstract class </a:t>
            </a:r>
            <a:r>
              <a:rPr lang="en-US" sz="2400" i="1" dirty="0" err="1" smtClean="0"/>
              <a:t>HttpServlet</a:t>
            </a:r>
            <a:endParaRPr lang="en-US" sz="2400" i="1" dirty="0" smtClean="0"/>
          </a:p>
          <a:p>
            <a:r>
              <a:rPr lang="en-US" sz="2400" i="1" dirty="0" smtClean="0"/>
              <a:t>extends </a:t>
            </a:r>
            <a:r>
              <a:rPr lang="en-US" sz="2400" i="1" dirty="0" err="1" smtClean="0"/>
              <a:t>GenericServlet</a:t>
            </a:r>
            <a:endParaRPr lang="en-US" sz="2400" i="1" dirty="0" smtClean="0"/>
          </a:p>
          <a:p>
            <a:r>
              <a:rPr lang="en-US" sz="2400" i="1" dirty="0" smtClean="0"/>
              <a:t>implements </a:t>
            </a:r>
            <a:r>
              <a:rPr lang="en-US" sz="2400" i="1" dirty="0" err="1" smtClean="0"/>
              <a:t>java.io.Serializable</a:t>
            </a:r>
            <a:r>
              <a:rPr lang="en-US" sz="2400" i="1" dirty="0" smtClean="0"/>
              <a:t/>
            </a:r>
            <a:br>
              <a:rPr lang="en-US" sz="2400" i="1" dirty="0" smtClean="0"/>
            </a:br>
            <a:endParaRPr lang="en-US" sz="2400" b="1" i="1"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HttpServlet</a:t>
            </a:r>
            <a:r>
              <a:rPr lang="en-US" sz="2400" b="1" dirty="0" smtClean="0"/>
              <a:t> Class</a:t>
            </a:r>
          </a:p>
          <a:p>
            <a:endParaRPr lang="en-US" sz="2400" b="1" dirty="0" smtClean="0"/>
          </a:p>
          <a:p>
            <a:pPr marL="355600" indent="-355600" algn="just" fontAlgn="base">
              <a:buFont typeface="Arial" pitchFamily="34" charset="0"/>
              <a:buChar char="•"/>
            </a:pPr>
            <a:r>
              <a:rPr lang="en-US" sz="2400" dirty="0" smtClean="0"/>
              <a:t>An abstract class to be </a:t>
            </a:r>
            <a:r>
              <a:rPr lang="en-US" sz="2400" dirty="0" err="1" smtClean="0"/>
              <a:t>subclassed</a:t>
            </a:r>
            <a:r>
              <a:rPr lang="en-US" sz="2400" dirty="0" smtClean="0"/>
              <a:t> to create an HTTP-specific </a:t>
            </a:r>
            <a:r>
              <a:rPr lang="en-US" sz="2400" dirty="0" err="1" smtClean="0"/>
              <a:t>servlet</a:t>
            </a:r>
            <a:r>
              <a:rPr lang="en-US" sz="2400" dirty="0" smtClean="0"/>
              <a:t> that is suitable for a Web site/Web application.</a:t>
            </a:r>
          </a:p>
          <a:p>
            <a:pPr marL="355600" indent="-355600" algn="just" fontAlgn="base">
              <a:buFont typeface="Arial" pitchFamily="34" charset="0"/>
              <a:buChar char="•"/>
            </a:pPr>
            <a:r>
              <a:rPr lang="en-US" sz="2400" dirty="0" smtClean="0"/>
              <a:t>Extends Generic </a:t>
            </a:r>
            <a:r>
              <a:rPr lang="en-US" sz="2400" dirty="0" err="1" smtClean="0"/>
              <a:t>Servlet</a:t>
            </a:r>
            <a:r>
              <a:rPr lang="en-US" sz="2400" dirty="0" smtClean="0"/>
              <a:t> class and implements </a:t>
            </a:r>
            <a:r>
              <a:rPr lang="en-US" sz="2400" dirty="0" err="1" smtClean="0"/>
              <a:t>Serializable</a:t>
            </a:r>
            <a:r>
              <a:rPr lang="en-US" sz="2400" dirty="0" smtClean="0"/>
              <a:t> interface.</a:t>
            </a:r>
          </a:p>
          <a:p>
            <a:pPr marL="355600" indent="-355600" algn="just" fontAlgn="base">
              <a:buFont typeface="Arial" pitchFamily="34" charset="0"/>
              <a:buChar char="•"/>
            </a:pPr>
            <a:r>
              <a:rPr lang="en-US" sz="2400" dirty="0" smtClean="0"/>
              <a:t>HTTP Protocol-dependent </a:t>
            </a:r>
            <a:r>
              <a:rPr lang="en-US" sz="2400" dirty="0" err="1" smtClean="0"/>
              <a:t>servlet</a:t>
            </a:r>
            <a:r>
              <a:rPr lang="en-US" sz="2400" dirty="0" smtClean="0"/>
              <a:t>.</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HttpServlet</a:t>
            </a:r>
            <a:r>
              <a:rPr lang="en-US" sz="2400" b="1" dirty="0" smtClean="0"/>
              <a:t> Class</a:t>
            </a:r>
          </a:p>
          <a:p>
            <a:endParaRPr lang="en-US" sz="2400" b="1" dirty="0" smtClean="0"/>
          </a:p>
        </p:txBody>
      </p:sp>
      <p:pic>
        <p:nvPicPr>
          <p:cNvPr id="2050" name="Picture 2"/>
          <p:cNvPicPr>
            <a:picLocks noChangeAspect="1" noChangeArrowheads="1"/>
          </p:cNvPicPr>
          <p:nvPr/>
        </p:nvPicPr>
        <p:blipFill>
          <a:blip r:embed="rId3"/>
          <a:srcRect/>
          <a:stretch>
            <a:fillRect/>
          </a:stretch>
        </p:blipFill>
        <p:spPr bwMode="auto">
          <a:xfrm>
            <a:off x="1495475" y="1944304"/>
            <a:ext cx="7077075" cy="4136156"/>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HttpServlet</a:t>
            </a:r>
            <a:r>
              <a:rPr lang="en-US" sz="2400" b="1" dirty="0" smtClean="0"/>
              <a:t> Class</a:t>
            </a:r>
          </a:p>
          <a:p>
            <a:pPr algn="just"/>
            <a:endParaRPr lang="en-US" sz="2400" b="1" dirty="0" smtClean="0"/>
          </a:p>
          <a:p>
            <a:pPr algn="just" fontAlgn="base"/>
            <a:r>
              <a:rPr lang="en-US" sz="2400" dirty="0" smtClean="0"/>
              <a:t>To write a Http </a:t>
            </a:r>
            <a:r>
              <a:rPr lang="en-US" sz="2400" dirty="0" err="1" smtClean="0"/>
              <a:t>servlet</a:t>
            </a:r>
            <a:r>
              <a:rPr lang="en-US" sz="2400" dirty="0" smtClean="0"/>
              <a:t>, you need to extend </a:t>
            </a:r>
            <a:r>
              <a:rPr lang="en-US" sz="2400" b="1" i="1" dirty="0" err="1" smtClean="0"/>
              <a:t>javax.servlet.http.HttpServlet</a:t>
            </a:r>
            <a:r>
              <a:rPr lang="en-US" sz="2400" dirty="0" smtClean="0"/>
              <a:t> class and must override at least one of the below methods,</a:t>
            </a:r>
          </a:p>
          <a:p>
            <a:pPr algn="just" fontAlgn="base"/>
            <a:endParaRPr lang="en-US" sz="2400" dirty="0" smtClean="0"/>
          </a:p>
          <a:p>
            <a:pPr algn="just" fontAlgn="base"/>
            <a:r>
              <a:rPr lang="en-US" sz="2400" b="1" dirty="0" err="1" smtClean="0"/>
              <a:t>doGet</a:t>
            </a:r>
            <a:r>
              <a:rPr lang="en-US" sz="2400" b="1" dirty="0" smtClean="0"/>
              <a:t>() –</a:t>
            </a:r>
            <a:r>
              <a:rPr lang="en-US" sz="2400" dirty="0" smtClean="0"/>
              <a:t> to support HTTP GET requests by the </a:t>
            </a:r>
            <a:r>
              <a:rPr lang="en-US" sz="2400" dirty="0" err="1" smtClean="0"/>
              <a:t>servlet</a:t>
            </a:r>
            <a:r>
              <a:rPr lang="en-US" sz="2400" dirty="0" smtClean="0"/>
              <a:t>.</a:t>
            </a:r>
          </a:p>
          <a:p>
            <a:pPr algn="just" fontAlgn="base"/>
            <a:r>
              <a:rPr lang="en-US" sz="2400" b="1" dirty="0" err="1" smtClean="0"/>
              <a:t>doPost</a:t>
            </a:r>
            <a:r>
              <a:rPr lang="en-US" sz="2400" b="1" dirty="0" smtClean="0"/>
              <a:t>() –</a:t>
            </a:r>
            <a:r>
              <a:rPr lang="en-US" sz="2400" dirty="0" smtClean="0"/>
              <a:t> to support HTTP POST requests by the </a:t>
            </a:r>
            <a:r>
              <a:rPr lang="en-US" sz="2400" dirty="0" err="1" smtClean="0"/>
              <a:t>servlet</a:t>
            </a:r>
            <a:r>
              <a:rPr lang="en-US" sz="2400" dirty="0" smtClean="0"/>
              <a:t>.</a:t>
            </a:r>
          </a:p>
          <a:p>
            <a:pPr algn="just" fontAlgn="base"/>
            <a:r>
              <a:rPr lang="en-US" sz="2400" b="1" dirty="0" err="1" smtClean="0"/>
              <a:t>doPut</a:t>
            </a:r>
            <a:r>
              <a:rPr lang="en-US" sz="2400" b="1" dirty="0" smtClean="0"/>
              <a:t>() – </a:t>
            </a:r>
            <a:r>
              <a:rPr lang="en-US" sz="2400" dirty="0" smtClean="0"/>
              <a:t>to support HTTP PUT requests by the </a:t>
            </a:r>
            <a:r>
              <a:rPr lang="en-US" sz="2400" dirty="0" err="1" smtClean="0"/>
              <a:t>servlet</a:t>
            </a:r>
            <a:r>
              <a:rPr lang="en-US" sz="2400" dirty="0" smtClean="0"/>
              <a:t>.</a:t>
            </a:r>
          </a:p>
          <a:p>
            <a:pPr algn="just" fontAlgn="base"/>
            <a:r>
              <a:rPr lang="en-US" sz="2400" b="1" dirty="0" err="1" smtClean="0"/>
              <a:t>doDelete</a:t>
            </a:r>
            <a:r>
              <a:rPr lang="en-US" sz="2400" b="1" dirty="0" smtClean="0"/>
              <a:t>() – </a:t>
            </a:r>
            <a:r>
              <a:rPr lang="en-US" sz="2400" dirty="0" smtClean="0"/>
              <a:t>to support HTTP DELETE requests by the </a:t>
            </a:r>
            <a:r>
              <a:rPr lang="en-US" sz="2400" dirty="0" err="1" smtClean="0"/>
              <a:t>servlet</a:t>
            </a:r>
            <a:r>
              <a:rPr lang="en-US" sz="2400" dirty="0" smtClean="0"/>
              <a:t>.</a:t>
            </a:r>
          </a:p>
          <a:p>
            <a:pPr algn="just" fontAlgn="base"/>
            <a:r>
              <a:rPr lang="en-US" sz="2400" b="1" dirty="0" smtClean="0"/>
              <a:t>init() and destroy() –</a:t>
            </a:r>
            <a:r>
              <a:rPr lang="en-US" sz="2400" dirty="0" smtClean="0"/>
              <a:t> to manage resources held in the life of the </a:t>
            </a:r>
            <a:r>
              <a:rPr lang="en-US" sz="2400" dirty="0" err="1" smtClean="0"/>
              <a:t>servlet</a:t>
            </a:r>
            <a:r>
              <a:rPr lang="en-US" sz="2400" dirty="0" smtClean="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8349784" cy="4960196"/>
          </a:xfrm>
          <a:prstGeom prst="rect">
            <a:avLst/>
          </a:prstGeom>
          <a:noFill/>
          <a:ln>
            <a:noFill/>
          </a:ln>
        </p:spPr>
        <p:txBody>
          <a:bodyPr spcFirstLastPara="1" wrap="square" lIns="91425" tIns="45700" rIns="91425" bIns="45700" anchor="t" anchorCtr="0">
            <a:noAutofit/>
          </a:bodyPr>
          <a:lstStyle/>
          <a:p>
            <a:pPr algn="just" fontAlgn="base"/>
            <a:r>
              <a:rPr lang="en-US" sz="2400" b="1" dirty="0" err="1" smtClean="0"/>
              <a:t>HttpServlet</a:t>
            </a:r>
            <a:r>
              <a:rPr lang="en-US" sz="2400" b="1" dirty="0" smtClean="0"/>
              <a:t> Class</a:t>
            </a:r>
          </a:p>
          <a:p>
            <a:pPr algn="just"/>
            <a:endParaRPr lang="en-US" sz="2400" b="1" dirty="0" smtClean="0"/>
          </a:p>
          <a:p>
            <a:pPr algn="just" fontAlgn="base"/>
            <a:r>
              <a:rPr lang="en-US" sz="2400" b="1" dirty="0" err="1" smtClean="0"/>
              <a:t>getServletInfo</a:t>
            </a:r>
            <a:r>
              <a:rPr lang="en-US" sz="2400" b="1" dirty="0" smtClean="0"/>
              <a:t>() – </a:t>
            </a:r>
            <a:r>
              <a:rPr lang="en-US" sz="2400" dirty="0" smtClean="0"/>
              <a:t>To provide information about the </a:t>
            </a:r>
            <a:r>
              <a:rPr lang="en-US" sz="2400" dirty="0" err="1" smtClean="0"/>
              <a:t>servlet</a:t>
            </a:r>
            <a:r>
              <a:rPr lang="en-US" sz="2400" dirty="0" smtClean="0"/>
              <a:t> itself like the author of </a:t>
            </a:r>
            <a:r>
              <a:rPr lang="en-US" sz="2400" dirty="0" err="1" smtClean="0"/>
              <a:t>servlet</a:t>
            </a:r>
            <a:r>
              <a:rPr lang="en-US" sz="2400" dirty="0" smtClean="0"/>
              <a:t> or version of it etc.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36948"/>
            <a:ext cx="6906900" cy="584700"/>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smtClean="0">
                <a:solidFill>
                  <a:schemeClr val="dk2"/>
                </a:solidFill>
                <a:latin typeface="Calibri"/>
                <a:cs typeface="Calibri"/>
                <a:sym typeface="Calibri"/>
              </a:rPr>
              <a:t>Servlet</a:t>
            </a:r>
            <a:r>
              <a:rPr lang="en-US" sz="2400" b="1" dirty="0" smtClean="0">
                <a:solidFill>
                  <a:schemeClr val="dk2"/>
                </a:solidFill>
                <a:latin typeface="Calibri"/>
                <a:cs typeface="Calibri"/>
                <a:sym typeface="Calibri"/>
              </a:rPr>
              <a:t> API</a:t>
            </a: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62702" y="1424598"/>
            <a:ext cx="4690561" cy="4960196"/>
          </a:xfrm>
          <a:prstGeom prst="rect">
            <a:avLst/>
          </a:prstGeom>
          <a:noFill/>
          <a:ln>
            <a:noFill/>
          </a:ln>
        </p:spPr>
        <p:txBody>
          <a:bodyPr spcFirstLastPara="1" wrap="square" lIns="91425" tIns="45700" rIns="91425" bIns="45700" anchor="t" anchorCtr="0">
            <a:noAutofit/>
          </a:bodyPr>
          <a:lstStyle/>
          <a:p>
            <a:pPr fontAlgn="base"/>
            <a:r>
              <a:rPr lang="en-US" sz="2400" b="1" dirty="0" err="1" smtClean="0"/>
              <a:t>Servlet</a:t>
            </a:r>
            <a:r>
              <a:rPr lang="en-US" sz="2400" b="1" dirty="0" smtClean="0"/>
              <a:t> API Package Hierarchy</a:t>
            </a:r>
          </a:p>
          <a:p>
            <a:pPr fontAlgn="base"/>
            <a:endParaRPr lang="en-US" sz="2400" b="1" dirty="0" smtClean="0"/>
          </a:p>
          <a:p>
            <a:pPr marL="355600" indent="-355600" algn="just" fontAlgn="base">
              <a:buFont typeface="Arial" pitchFamily="34" charset="0"/>
              <a:buChar char="•"/>
            </a:pPr>
            <a:r>
              <a:rPr lang="en-US" sz="2400" dirty="0" err="1" smtClean="0"/>
              <a:t>Servlet</a:t>
            </a:r>
            <a:r>
              <a:rPr lang="en-US" sz="2400" dirty="0" smtClean="0"/>
              <a:t> API provides all the required interfaces, classes, and methods to develop a web application. </a:t>
            </a:r>
          </a:p>
          <a:p>
            <a:pPr marL="355600" indent="-355600" algn="just" fontAlgn="base">
              <a:buFont typeface="Arial" pitchFamily="34" charset="0"/>
              <a:buChar char="•"/>
            </a:pPr>
            <a:r>
              <a:rPr lang="en-US" sz="2400" dirty="0" smtClean="0"/>
              <a:t>we need to add the </a:t>
            </a:r>
            <a:r>
              <a:rPr lang="en-US" sz="2400" b="1" i="1" dirty="0" smtClean="0"/>
              <a:t>servlet-api.jar</a:t>
            </a:r>
            <a:r>
              <a:rPr lang="en-US" sz="2400" dirty="0" smtClean="0"/>
              <a:t> file in our web application to use the </a:t>
            </a:r>
            <a:r>
              <a:rPr lang="en-US" sz="2400" dirty="0" err="1" smtClean="0"/>
              <a:t>servlet</a:t>
            </a:r>
            <a:r>
              <a:rPr lang="en-US" sz="2400" dirty="0" smtClean="0"/>
              <a:t> functionality. </a:t>
            </a:r>
          </a:p>
          <a:p>
            <a:pPr marL="355600" indent="-355600" algn="just" fontAlgn="base">
              <a:buFont typeface="Arial" pitchFamily="34" charset="0"/>
              <a:buChar char="•"/>
            </a:pPr>
            <a:r>
              <a:rPr lang="en-US" sz="2400" dirty="0" smtClean="0"/>
              <a:t>We can download this jar file from Maven Repository.</a:t>
            </a:r>
          </a:p>
          <a:p>
            <a:r>
              <a:rPr lang="en-US" sz="2400" dirty="0" smtClean="0"/>
              <a:t/>
            </a:r>
            <a:br>
              <a:rPr lang="en-US" sz="2400" dirty="0" smtClean="0"/>
            </a:br>
            <a:endParaRPr lang="en-US" sz="2400" b="1" dirty="0" smtClean="0"/>
          </a:p>
          <a:p>
            <a:r>
              <a:rPr lang="en-US" sz="2400" dirty="0" smtClean="0"/>
              <a:t/>
            </a:r>
            <a:br>
              <a:rPr lang="en-US" sz="2400" dirty="0" smtClean="0"/>
            </a:br>
            <a:endParaRPr lang="en-US" sz="2400" dirty="0" smtClean="0"/>
          </a:p>
        </p:txBody>
      </p:sp>
      <p:pic>
        <p:nvPicPr>
          <p:cNvPr id="3074" name="Picture 2"/>
          <p:cNvPicPr>
            <a:picLocks noChangeAspect="1" noChangeArrowheads="1"/>
          </p:cNvPicPr>
          <p:nvPr/>
        </p:nvPicPr>
        <p:blipFill>
          <a:blip r:embed="rId3"/>
          <a:srcRect/>
          <a:stretch>
            <a:fillRect/>
          </a:stretch>
        </p:blipFill>
        <p:spPr bwMode="auto">
          <a:xfrm>
            <a:off x="5091764" y="847022"/>
            <a:ext cx="3736457" cy="5552273"/>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1260</Words>
  <Application>Microsoft Office PowerPoint</Application>
  <PresentationFormat>On-screen Show (4:3)</PresentationFormat>
  <Paragraphs>351</Paragraphs>
  <Slides>54</Slides>
  <Notes>54</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75</cp:revision>
  <dcterms:created xsi:type="dcterms:W3CDTF">2024-12-13T07:18:04Z</dcterms:created>
  <dcterms:modified xsi:type="dcterms:W3CDTF">2025-05-17T05:24:24Z</dcterms:modified>
</cp:coreProperties>
</file>